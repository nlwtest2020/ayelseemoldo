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2: “Dashboard It &amp; Tell It”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SWBAT: Use VLOOKUP, INDEX-MATCH, and conditional…</a:t>
            </a:r>
          </a:p>
          <a:p>
            <a:pPr/>
            <a:r>
              <a:t>SWBAT: Build an interactive dashboard in…</a:t>
            </a:r>
          </a:p>
          <a:p>
            <a:pPr/>
            <a:r>
              <a:t>SWBAT: Tell a data story using…</a:t>
            </a:r>
          </a:p>
          <a:p>
            <a:pPr/>
            <a:r>
              <a:t>SWBAT: Write a 1-page data-driven memo…</a:t>
            </a:r>
          </a:p>
          <a:p>
            <a:pPr/>
            <a:r>
              <a:t>SWBAT: Identify 5 common data fallacies…</a:t>
            </a:r>
          </a:p>
          <a:p>
            <a:pPr/>
            <a:r>
              <a:t>SWBAT: Explain basic GDPR principles relevant…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Challenge (Retrieval)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  <a:p>
            <a:pPr lvl="1"/>
            <a:r>
              <a:t>Delivery: Unfamiliar mini-dataset</a:t>
            </a:r>
          </a:p>
          <a:p>
            <a:pPr lvl="1"/>
            <a:r>
              <a:t>Build a pivot table + chart…</a:t>
            </a:r>
          </a:p>
          <a:p>
            <a:pPr lvl="1"/>
            <a:r>
              <a:t>No notes</a:t>
            </a:r>
          </a:p>
          <a:p>
            <a:pPr lvl="1"/>
            <a:r>
              <a:t>This is the hardest retrieval exercise…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Advanced Spreadsheet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35 min</a:t>
            </a:r>
          </a:p>
          <a:p>
            <a:r>
              <a:t>Format: Whole Class</a:t>
            </a:r>
          </a:p>
          <a:p>
            <a:pPr lvl="1"/>
            <a:r>
              <a:t>Format: Hands-on, follow-along</a:t>
            </a:r>
          </a:p>
          <a:p>
            <a:pPr lvl="1"/>
            <a:r>
              <a:t>Bloom’s: Apply Delivery: VLOOKUP, INDEX-MATCH, conditional…</a:t>
            </a:r>
          </a:p>
          <a:p>
            <a:pPr lvl="1"/>
            <a:r>
              <a:t>Each taught by answering a business…</a:t>
            </a:r>
          </a:p>
          <a:p>
            <a:pPr lvl="1"/>
            <a:r>
              <a:t>VLOOKUP is notoriously confusing—teach it slowly…</a:t>
            </a:r>
          </a:p>
          <a:p>
            <a:pPr lvl="1"/>
            <a:r>
              <a:t>INDEX-MATCH presented as the “upgrade” for…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From Spreadsheet to Dashboard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Format: Instructor-led demo + guided follow-along</a:t>
            </a:r>
          </a:p>
          <a:p>
            <a:pPr lvl="1"/>
            <a:r>
              <a:t>Bloom’s: Apply Delivery: Part 1 (12…</a:t>
            </a:r>
          </a:p>
          <a:p>
            <a:pPr lvl="1"/>
            <a:r>
              <a:t>Everyone opens Looker Studio</a:t>
            </a:r>
          </a:p>
          <a:p>
            <a:pPr lvl="1"/>
            <a:r>
              <a:t>Tour the interface: data sources panel,…</a:t>
            </a:r>
          </a:p>
          <a:p>
            <a:pPr lvl="1"/>
            <a:r>
              <a:t>This is pure orientation—no building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Dashboard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25 min</a:t>
            </a:r>
          </a:p>
          <a:p>
            <a:r>
              <a:t>Format: Whole Class</a:t>
            </a:r>
          </a:p>
          <a:p>
            <a:pPr lvl="1"/>
            <a:r>
              <a:t>Format: Interactive lecture</a:t>
            </a:r>
          </a:p>
          <a:p>
            <a:pPr lvl="1"/>
            <a:r>
              <a:t>Bloom’s: Understand + Evaluate Delivery: The…</a:t>
            </a:r>
          </a:p>
          <a:p>
            <a:pPr lvl="1"/>
            <a:r>
              <a:t>Operational dashboards (daily monitoring) vs</a:t>
            </a:r>
          </a:p>
          <a:p>
            <a:pPr lvl="1"/>
            <a:r>
              <a:t>strategic dashboards (quarterly insight)</a:t>
            </a:r>
          </a:p>
          <a:p>
            <a:pPr lvl="1"/>
            <a:r>
              <a:t>Insert interaction at midpoint: students look…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Build Your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Format: Individual, hands-on</a:t>
            </a:r>
          </a:p>
          <a:p>
            <a:pPr lvl="1"/>
            <a:r>
              <a:t>Bloom’s: Create Delivery: Complete dashboard from…</a:t>
            </a:r>
          </a:p>
          <a:p>
            <a:pPr lvl="1"/>
            <a:r>
              <a:t>Minimum 4 visualizations, 1 filter, clear…</a:t>
            </a:r>
          </a:p>
          <a:p>
            <a:pPr lvl="1"/>
            <a:r>
              <a:t>Focus: clarity over complexity</a:t>
            </a:r>
          </a:p>
          <a:p>
            <a:pPr lvl="1"/>
            <a:r>
              <a:t>A simple dashboard answering a real…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Dashboard Gallery Walk + 5-Second Test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60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Storytelling: The Narrative 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Interactive lecture + individual outlining</a:t>
            </a:r>
          </a:p>
          <a:p>
            <a:pPr lvl="1"/>
            <a:r>
              <a:t>Bloom’s: Analyze + Create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“Explain It Like I’m the CEO”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Pairs, role-play</a:t>
            </a:r>
          </a:p>
          <a:p>
            <a:pPr lvl="1"/>
            <a:r>
              <a:t>Bloom’s: Apply + Evaluate Delivery: Present…</a:t>
            </a:r>
          </a:p>
          <a:p>
            <a:pPr lvl="1"/>
            <a:r>
              <a:t>” Adapt: cut detail, lead with…</a:t>
            </a:r>
          </a:p>
          <a:p>
            <a:pPr lvl="1"/>
            <a:r>
              <a:t>Switch roles</a:t>
            </a:r>
          </a:p>
          <a:p>
            <a:pPr lvl="1"/>
            <a:r>
              <a:t>Debrief: What got cut? What survived?…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The Data-Driven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Format: Mini-lecture + individual writing</a:t>
            </a:r>
          </a:p>
          <a:p>
            <a:pPr lvl="1"/>
            <a:r>
              <a:t>Bloom’s: Create Delivery: One-line recommendation at…</a:t>
            </a:r>
          </a:p>
          <a:p>
            <a:pPr lvl="1"/>
            <a:r>
              <a:t>3–4 supporting data points with charts</a:t>
            </a:r>
          </a:p>
          <a:p>
            <a:pPr lvl="1"/>
            <a:r>
              <a:t>Risks and limitations</a:t>
            </a:r>
          </a:p>
          <a:p>
            <a:pPr lvl="1"/>
            <a:r>
              <a:t>Next steps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Fallacy Spotter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  <a:p>
            <a:pPr lvl="1"/>
            <a:r>
              <a:t>Format: Full group, rapid exercise</a:t>
            </a:r>
          </a:p>
          <a:p>
            <a:pPr lvl="1"/>
            <a:r>
              <a:t>Bloom’s: Evaluate Delivery: Beyond correlation/causation: survivorship…</a:t>
            </a:r>
          </a:p>
          <a:p>
            <a:pPr lvl="1"/>
            <a:r>
              <a:t>5 examples, students identify the fallacy</a:t>
            </a:r>
          </a:p>
          <a:p>
            <a:pPr lvl="1"/>
            <a:r>
              <a:t>Fast-paced</a:t>
            </a:r>
          </a:p>
          <a:p>
            <a:pPr lvl="1"/>
            <a:r>
              <a:t>The critical thinking that separates data…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Correlation vs. Causation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Group exercise</a:t>
            </a:r>
          </a:p>
          <a:p>
            <a:pPr lvl="1"/>
            <a:r>
              <a:t>Bloom’s: Evaluate Delivery: 5 spurious correlations…</a:t>
            </a:r>
          </a:p>
          <a:p>
            <a:pPr lvl="1"/>
            <a:r>
              <a:t>Students analyze 3 claims from their…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GDPR &amp; Data Privacy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20 min</a:t>
            </a:r>
          </a:p>
          <a:p>
            <a:r>
              <a:t>Format: Whole Class</a:t>
            </a:r>
          </a:p>
          <a:p>
            <a:pPr lvl="1"/>
            <a:r>
              <a:t>Format: Interactive lecture</a:t>
            </a:r>
          </a:p>
          <a:p>
            <a:pPr lvl="1"/>
            <a:r>
              <a:t>Bloom’s: Understand Delivery: What GDPR means…</a:t>
            </a:r>
          </a:p>
          <a:p>
            <a:pPr lvl="1"/>
            <a:r>
              <a:t>What can you share? What must…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Day 2 Wrap + Mid-Week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for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Technique: Think-Pair-Share</a:t>
            </a:r>
          </a:p>
          <a:p>
            <a:r>
              <a:t>Can you demonstrate: Use VLOOKUP, INDEX-MATCH, and conditional formatting for analytical questions (LO #2)?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key takeaways</a:t>
            </a:r>
          </a:p>
          <a:p>
            <a:pPr/>
            <a:r>
              <a:t>Complete exit ticket</a:t>
            </a:r>
          </a:p>
          <a:p>
            <a:pPr/>
            <a:r>
              <a:t>Preview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