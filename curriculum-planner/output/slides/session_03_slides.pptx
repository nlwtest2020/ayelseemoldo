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Session 3: “Advanced Analysis &amp; Persuasive Presentation”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Learning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SWBAT: Session 3 Contribution</a:t>
            </a:r>
          </a:p>
          <a:p>
            <a:pPr/>
            <a:r>
              <a:t>SWBAT: By the end of Session…</a:t>
            </a:r>
          </a:p>
          <a:p>
            <a:pPr/>
            <a:r>
              <a:t>SWBAT: Add context to data using…</a:t>
            </a:r>
          </a:p>
          <a:p>
            <a:pPr/>
            <a:r>
              <a:t>SWBAT: Build a 6-month forecast using…</a:t>
            </a:r>
          </a:p>
          <a:p>
            <a:pPr/>
            <a:r>
              <a:t>SWBAT: Define actionable KPIs that distinguish…</a:t>
            </a:r>
          </a:p>
          <a:p>
            <a:pPr/>
            <a:r>
              <a:t>SWBAT: Present data findings under adversarial…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Activity: Data Challenge (Retrieval)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Duration: 15 min</a:t>
            </a:r>
          </a:p>
          <a:p>
            <a:r>
              <a:t>Format: Whole Class</a:t>
            </a:r>
          </a:p>
          <a:p>
            <a:pPr lvl="1"/>
            <a:r>
              <a:t>Delivery: New unfamiliar dataset</a:t>
            </a:r>
          </a:p>
          <a:p>
            <a:pPr lvl="1"/>
            <a:r>
              <a:t>Pivot table + chart + English…</a:t>
            </a:r>
          </a:p>
          <a:p>
            <a:pPr lvl="1"/>
            <a:r>
              <a:t>Compare to Session 2 challenge: speed…</a:t>
            </a:r>
          </a:p>
          <a:p>
            <a:pPr lvl="1"/>
            <a:r>
              <a:t>The week gap makes this retrieval…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Activity: “In the Wild” Debrief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Duration: 35 min</a:t>
            </a:r>
          </a:p>
          <a:p>
            <a:r>
              <a:t>Format: Whole Class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Activity: Format: Full group,each.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Duration: 2 min</a:t>
            </a:r>
          </a:p>
          <a:p>
            <a:r>
              <a:t>Format: Group Work</a:t>
            </a:r>
          </a:p>
          <a:p>
            <a:pPr lvl="1"/>
            <a:r>
              <a:t>Bloom’s: Analyze + Evaluate Delivery: Students…</a:t>
            </a:r>
          </a:p>
          <a:p>
            <a:pPr lvl="1"/>
            <a:r>
              <a:t>What data did you find? What…</a:t>
            </a:r>
          </a:p>
          <a:p>
            <a:pPr lvl="1"/>
            <a:r>
              <a:t>35 min WORKS for this cohort…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Activity: Pacing: 15–18 students ×= 30–. Instructor commentary on patterns = 2–. Keep a visible timer. Students who go overare cut.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Duration: 2 min</a:t>
            </a:r>
          </a:p>
          <a:p>
            <a:r>
              <a:t>Format: Whole Class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Activity: Benchmarking &amp; Context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Duration: 30 min</a:t>
            </a:r>
          </a:p>
          <a:p>
            <a:r>
              <a:t>Format: Whole Class</a:t>
            </a:r>
          </a:p>
          <a:p>
            <a:pPr lvl="1"/>
            <a:r>
              <a:t>Delivery: A number means nothing without…</a:t>
            </a:r>
          </a:p>
          <a:p>
            <a:pPr lvl="1"/>
            <a:r>
              <a:t>Benchmarking (vs</a:t>
            </a:r>
          </a:p>
          <a:p>
            <a:pPr lvl="1"/>
            <a:r>
              <a:t>industry/historical averages), trending (getting better or…</a:t>
            </a:r>
          </a:p>
          <a:p>
            <a:pPr lvl="1"/>
            <a:r>
              <a:t>Students add context to their mid-week…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Activity: Forecasting for Non-Statisticians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Duration: 30 min</a:t>
            </a:r>
          </a:p>
          <a:p>
            <a:r>
              <a:t>Format: Whole Class</a:t>
            </a:r>
          </a:p>
          <a:p>
            <a:pPr lvl="1"/>
            <a:r>
              <a:t>Format: Hands-on</a:t>
            </a:r>
          </a:p>
          <a:p>
            <a:pPr lvl="1"/>
            <a:r>
              <a:t>Bloom’s: Apply + Analyze Delivery: 3…</a:t>
            </a:r>
          </a:p>
          <a:p>
            <a:pPr lvl="1"/>
            <a:r>
              <a:t>Students build a 6-month forecast in…</a:t>
            </a:r>
          </a:p>
          <a:p>
            <a:pPr lvl="1"/>
            <a:r>
              <a:t>Provide a template with formulas pre-built…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Activity: Pacing: Teach 3 methods =. Guided build using template (trend extrapolation) =. Independent build (scenario modeling) =. Transition =.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Duration: 10 min</a:t>
            </a:r>
          </a:p>
          <a:p>
            <a:r>
              <a:t>Format: Whole Class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Activity: Break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Duration: 15 min</a:t>
            </a:r>
          </a:p>
          <a:p>
            <a:r>
              <a:t>Format: Whole Class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Activity: KPI Workshop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Duration: 30 min</a:t>
            </a:r>
          </a:p>
          <a:p>
            <a:r>
              <a:t>Format: Whole Class</a:t>
            </a:r>
          </a:p>
          <a:p>
            <a:pPr lvl="1"/>
            <a:r>
              <a:t>Delivery: Vanity metrics vs</a:t>
            </a:r>
          </a:p>
          <a:p>
            <a:pPr lvl="1"/>
            <a:r>
              <a:t>actionable metrics</a:t>
            </a:r>
          </a:p>
          <a:p>
            <a:pPr lvl="1"/>
            <a:r>
              <a:t>A good KPI: specific, measurable, matters…</a:t>
            </a:r>
          </a:p>
          <a:p>
            <a:pPr lvl="1"/>
            <a:r>
              <a:t>Students define 3 KPIs for a…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Activity: Mock Stakeholder Panel — Round 1  |✆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Duration: 30 min</a:t>
            </a:r>
          </a:p>
          <a:p>
            <a:r>
              <a:t>Format: Whole Class</a:t>
            </a:r>
          </a:p>
          <a:p>
            <a:pPr lvl="1"/>
            <a:r>
              <a:t>Format: Presentations + adversarial Q&amp;A</a:t>
            </a:r>
          </a:p>
          <a:p>
            <a:pPr lvl="1"/>
            <a:r>
              <a:t>Bloom’s: Create + Evaluate Delivery: 2-minute…</a:t>
            </a:r>
          </a:p>
          <a:p>
            <a:pPr lvl="1"/>
            <a:r>
              <a:t>Panel challenges: “Where did you get…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Activity: Pacing: 8–9 students × 3.pitch +Q&amp;A + 30 sec transition) = 28–31..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Duration: 5 min</a:t>
            </a:r>
          </a:p>
          <a:p>
            <a:r>
              <a:t>Format: Whole Class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Activity: Lunch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Duration: 55 min</a:t>
            </a:r>
          </a:p>
          <a:p>
            <a:r>
              <a:t>Format: Whole Class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Activity: Presentation Autopsy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Duration: 25 min</a:t>
            </a:r>
          </a:p>
          <a:p>
            <a:r>
              <a:t>Format: Whole Class</a:t>
            </a:r>
          </a:p>
          <a:p>
            <a:pPr lvl="1"/>
            <a:r>
              <a:t>Delivery: Group analyzes Round 1</a:t>
            </a:r>
          </a:p>
          <a:p>
            <a:pPr lvl="1"/>
            <a:r>
              <a:t>Common mistakes: too much data, not…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Activity: Mock Stakeholder Panel — Round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Duration: 40 min</a:t>
            </a:r>
          </a:p>
          <a:p>
            <a:r>
              <a:t>Format: Whole Class</a:t>
            </a:r>
          </a:p>
          <a:p>
            <a:pPr lvl="1"/>
            <a:r>
              <a:t>Format: Same format</a:t>
            </a:r>
          </a:p>
          <a:p>
            <a:pPr lvl="1"/>
            <a:r>
              <a:t>Remaining 9–10 students</a:t>
            </a:r>
          </a:p>
          <a:p>
            <a:pPr lvl="1"/>
            <a:r>
              <a:t>Bloom’s: Create + Evaluate Delivery: Same…</a:t>
            </a:r>
          </a:p>
          <a:p>
            <a:pPr lvl="1"/>
            <a:r>
              <a:t>Every student has now presented and…</a:t>
            </a:r>
          </a:p>
          <a:p>
            <a:pPr lvl="1"/>
            <a:r>
              <a:t>Round 2 benefits from the Presentation…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Activity: Pacing: 9–10 students × 3.= 31.5–. Buffer = 5–.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Duration: 5 min</a:t>
            </a:r>
          </a:p>
          <a:p>
            <a:r>
              <a:t>Format: Whole Class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Activity: Break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Duration: 15 min</a:t>
            </a:r>
          </a:p>
          <a:p>
            <a:r>
              <a:t>Format: Whole Class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Activity: SQL Taster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Duration: 30 min</a:t>
            </a:r>
          </a:p>
          <a:p>
            <a:r>
              <a:t>Format: Whole Class</a:t>
            </a:r>
          </a:p>
          <a:p>
            <a:pPr lvl="1"/>
            <a:r>
              <a:t>Delivery: 30 minutes in a browser-based…</a:t>
            </a:r>
          </a:p>
          <a:p>
            <a:pPr lvl="1"/>
            <a:r>
              <a:t>Not proficiency—demystification</a:t>
            </a:r>
          </a:p>
          <a:p>
            <a:pPr lvl="1"/>
            <a:r>
              <a:t>Students run 3 basic queries: SELECT,…</a:t>
            </a:r>
          </a:p>
          <a:p>
            <a:pPr lvl="1"/>
            <a:r>
              <a:t>They now understand what SQL does,…</a:t>
            </a:r>
          </a:p>
          <a:p>
            <a:pPr lvl="1"/>
            <a:r>
              <a:t>They can communicate with technical colleagues…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Activity: EU/International Reporting Frameworks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Duration: 30 min</a:t>
            </a:r>
          </a:p>
          <a:p>
            <a:r>
              <a:t>Format: Whole Class</a:t>
            </a:r>
          </a:p>
          <a:p>
            <a:pPr lvl="1"/>
            <a:r>
              <a:t>Delivery: How EU-funded projects report impact…</a:t>
            </a:r>
          </a:p>
          <a:p>
            <a:pPr lvl="1"/>
            <a:r>
              <a:t>Logical framework matrix</a:t>
            </a:r>
          </a:p>
          <a:p>
            <a:pPr lvl="1"/>
            <a:r>
              <a:t>Writing SMART indicators that international evaluators…</a:t>
            </a:r>
          </a:p>
          <a:p>
            <a:pPr lvl="1"/>
            <a:r>
              <a:t>Students write 3 indicators for a…</a:t>
            </a:r>
          </a:p>
          <a:p>
            <a:pPr lvl="1"/>
            <a:r>
              <a:t>Differentiator no other data bootcamp offers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Activity: AI + Data Literacy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Duration: 25 min</a:t>
            </a:r>
          </a:p>
          <a:p>
            <a:r>
              <a:t>Format: Whole Class</a:t>
            </a:r>
          </a:p>
          <a:p>
            <a:pPr lvl="1"/>
            <a:r>
              <a:t>Delivery: How AI changes what “data…</a:t>
            </a:r>
          </a:p>
          <a:p>
            <a:pPr lvl="1"/>
            <a:r>
              <a:t>Students who can prompt AI to…</a:t>
            </a:r>
          </a:p>
          <a:p>
            <a:pPr lvl="1"/>
            <a:r>
              <a:t>Quick exercise: same dataset, AI analysis…</a:t>
            </a:r>
          </a:p>
          <a:p>
            <a:pPr lvl="1"/>
            <a:r>
              <a:t>manual</a:t>
            </a:r>
          </a:p>
          <a:p>
            <a:pPr lvl="1"/>
            <a:r>
              <a:t>Where do they diverge?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Activity: Capstone Kickoff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Duration: 30 min</a:t>
            </a:r>
          </a:p>
          <a:p>
            <a:r>
              <a:t>Format: Whole Class</a:t>
            </a:r>
          </a:p>
          <a:p>
            <a:pPr lvl="1"/>
            <a:r>
              <a:t>Delivery: Present 4 capstone options</a:t>
            </a:r>
          </a:p>
          <a:p>
            <a:pPr lvl="1"/>
            <a:r>
              <a:t>Students choose, form teams of 2–3…</a:t>
            </a:r>
          </a:p>
          <a:p>
            <a:pPr lvl="1"/>
            <a:r>
              <a:t>Provide a capstone planning template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Activity: Revised Dashboard Sprint  |✆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Duration: 15 min</a:t>
            </a:r>
          </a:p>
          <a:p>
            <a:r>
              <a:t>Format: Whole Class</a:t>
            </a:r>
          </a:p>
          <a:p>
            <a:pPr lvl="1"/>
            <a:r>
              <a:t>TIMING ADJUSTMENT: Reduced from 20 to…</a:t>
            </a:r>
          </a:p>
          <a:p>
            <a:pPr lvl="1"/>
            <a:r>
              <a:t>15 min is sufficient for focused…</a:t>
            </a:r>
          </a:p>
          <a:p>
            <a:pPr lvl="1"/>
            <a:r>
              <a:t>Students know Looker Studio well by…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Activity: Day 3 Wrap  |✆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Duration: 15 min</a:t>
            </a:r>
          </a:p>
          <a:p>
            <a:r>
              <a:t>Format: Whole Class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Check for Understanding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Technique: Think-Pair-Share</a:t>
            </a:r>
          </a:p>
          <a:p>
            <a:r>
              <a:t>Can you demonstrate: Session 3 Contribution?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 &amp; Closing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Review key takeaways</a:t>
            </a:r>
          </a:p>
          <a:p>
            <a:pPr/>
            <a:r>
              <a:t>Complete exit ticket</a:t>
            </a:r>
          </a:p>
          <a:p>
            <a:pPr/>
            <a:r>
              <a:t>Preview next session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