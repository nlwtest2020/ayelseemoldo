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1: “See It &amp; Question It”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SWBAT: Session 1 Contribution</a:t>
            </a:r>
          </a:p>
          <a:p>
            <a:pPr/>
            <a:r>
              <a:t>SWBAT: By the end of Session…</a:t>
            </a:r>
          </a:p>
          <a:p>
            <a:pPr/>
            <a:r>
              <a:t>SWBAT: Identify misleading charts and explain…</a:t>
            </a:r>
          </a:p>
          <a:p>
            <a:pPr/>
            <a:r>
              <a:t>SWBAT: Use 4 spreadsheet functions (SORT,…</a:t>
            </a:r>
          </a:p>
          <a:p>
            <a:pPr/>
            <a:r>
              <a:t>SWBAT: Clean a messy dataset by…</a:t>
            </a:r>
          </a:p>
          <a:p>
            <a:pPr/>
            <a:r>
              <a:t>SWBAT: Build 5 pivot tables answering…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Welcome + “You Already Use Data”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20 min</a:t>
            </a:r>
          </a:p>
          <a:p>
            <a:r>
              <a:t>Format: Whole Class</a:t>
            </a:r>
          </a:p>
          <a:p>
            <a:pPr lvl="1"/>
            <a:r>
              <a:t>Format: Full group, interactive</a:t>
            </a:r>
          </a:p>
          <a:p>
            <a:pPr lvl="1"/>
            <a:r>
              <a:t>Bloom’s: Hook Delivery: Exchange rates, price…</a:t>
            </a:r>
          </a:p>
          <a:p>
            <a:pPr lvl="1"/>
            <a:r>
              <a:t>Poll: “Who’s been asked to ‘look…</a:t>
            </a:r>
          </a:p>
          <a:p>
            <a:pPr lvl="1"/>
            <a:r>
              <a:t>Reframe: “This bootcamp formalizes something you…</a:t>
            </a:r>
          </a:p>
          <a:p>
            <a:pPr lvl="1"/>
            <a:r>
              <a:t>” The goal is to disarm…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Pacing: Examples + discussion =. Poll + responses =. Reframe + bootcamp overview =. Logistics =.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8 min</a:t>
            </a:r>
          </a:p>
          <a:p>
            <a:r>
              <a:t>Format: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“What’s Wrong with This Chart?”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Full group, interactive voting</a:t>
            </a:r>
          </a:p>
          <a:p>
            <a:pPr lvl="1"/>
            <a:r>
              <a:t>Bloom’s: Evaluate Delivery: 8 real-world visualizations—half…</a:t>
            </a:r>
          </a:p>
          <a:p>
            <a:pPr lvl="1"/>
            <a:r>
              <a:t>Students vote: trustworthy or misleading? Deconstruct…</a:t>
            </a:r>
          </a:p>
          <a:p>
            <a:pPr lvl="1"/>
            <a:r>
              <a:t>This teaches the critical eye before…</a:t>
            </a:r>
          </a:p>
          <a:p>
            <a:pPr lvl="1"/>
            <a:r>
              <a:t>Key message: the ability to spot…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Pacing: 8 charts ×each (show, vote, deconstruct) =. Setup + intro =. Wrap-up key principles =.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Literacy Framework + Five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25 min</a:t>
            </a:r>
          </a:p>
          <a:p>
            <a:r>
              <a:t>Format: Whole Class</a:t>
            </a:r>
          </a:p>
          <a:p>
            <a:pPr lvl="1"/>
            <a:r>
              <a:t>Format: Interactive lecture + exercise</a:t>
            </a:r>
          </a:p>
          <a:p>
            <a:pPr lvl="1"/>
            <a:r>
              <a:t>Bloom’s: Understand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 Cleaning — The Ugly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Hands-on, guided</a:t>
            </a:r>
          </a:p>
          <a:p>
            <a:pPr lvl="1"/>
            <a:r>
              <a:t>Bloom’s: Apply Delivery: Duplicates, blanks, inconsistent…</a:t>
            </a:r>
          </a:p>
          <a:p>
            <a:pPr lvl="1"/>
            <a:r>
              <a:t>Students clean a deliberately messy version…</a:t>
            </a:r>
          </a:p>
          <a:p>
            <a:pPr lvl="1"/>
            <a:r>
              <a:t>Teach each cleaning technique by encountering…</a:t>
            </a:r>
          </a:p>
          <a:p>
            <a:pPr lvl="1"/>
            <a:r>
              <a:t>” This is the work nobody…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Pacing: Intro to common problems =. Guided cleaning walkthrough =. Students clean their own dataset =. Verification check =.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Pivot Table Mastery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Visualization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40 min</a:t>
            </a:r>
          </a:p>
          <a:p>
            <a:r>
              <a:t>Format: Whole Class</a:t>
            </a:r>
          </a:p>
          <a:p>
            <a:pPr lvl="1"/>
            <a:r>
              <a:t>Format: Hands-on + peer review</a:t>
            </a:r>
          </a:p>
          <a:p>
            <a:pPr lvl="1"/>
            <a:r>
              <a:t>Bloom’s: Apply + Evaluate Delivery: When…</a:t>
            </a:r>
          </a:p>
          <a:p>
            <a:pPr lvl="1"/>
            <a:r>
              <a:t>line vs</a:t>
            </a:r>
          </a:p>
          <a:p>
            <a:pPr lvl="1"/>
            <a:r>
              <a:t>scatter (rule: almost never use a…</a:t>
            </a:r>
          </a:p>
          <a:p>
            <a:pPr lvl="1"/>
            <a:r>
              <a:t>Design principles: label axes, no 3D,…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Pacing: Teach principles + chart type selection =. Students create 3 charts =. Peer comparison (swap screens, rate 1–5 on clarity) =. Transition =.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12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AI-Assisted Pattern Spotting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  <a:p>
            <a:pPr lvl="1"/>
            <a:r>
              <a:t>Format: Hands-on, individual</a:t>
            </a:r>
          </a:p>
          <a:p>
            <a:pPr lvl="1"/>
            <a:r>
              <a:t>Bloom’s: Analyze + Evaluate Delivery: Upload…</a:t>
            </a:r>
          </a:p>
          <a:p>
            <a:pPr lvl="1"/>
            <a:r>
              <a:t>Ask: “What are the 3 most…</a:t>
            </a:r>
          </a:p>
          <a:p>
            <a:pPr lvl="1"/>
            <a:r>
              <a:t>Where was AI helpful? Where was…</a:t>
            </a:r>
          </a:p>
          <a:p>
            <a:pPr lvl="1"/>
            <a:r>
              <a:t>Critical skill: knowing when to trust…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Pacing: Upload + first prompt =. Compare AI vs. own findings =. Document discrepancies =. 2–3 students share a discrepancy =.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5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Day 1 Data Brief  |✆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20 min</a:t>
            </a:r>
          </a:p>
          <a:p>
            <a:r>
              <a:t>Format: Whole Class</a:t>
            </a:r>
          </a:p>
          <a:p>
            <a:pPr lvl="1"/>
            <a:r>
              <a:t>Format: Individual writing + pair delivery</a:t>
            </a:r>
          </a:p>
          <a:p>
            <a:pPr lvl="1"/>
            <a:r>
              <a:t>Bloom’s: Create Delivery: 3-sentence summary of…</a:t>
            </a:r>
          </a:p>
          <a:p>
            <a:pPr lvl="1"/>
            <a:r>
              <a:t>This matters because [why]</a:t>
            </a:r>
          </a:p>
          <a:p>
            <a:pPr lvl="1"/>
            <a:r>
              <a:t>I recommend [what to do next]</a:t>
            </a:r>
          </a:p>
          <a:p>
            <a:pPr lvl="1"/>
            <a:r>
              <a:t>” Read aloud to partner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Pacing: Write 3-sentence brief =. Read aloud to partner + feedback =. Start Playbook (10 terms) =. Transition =.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7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30 min</a:t>
            </a:r>
          </a:p>
          <a:p>
            <a:r>
              <a:t>Format: Whole Class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for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Technique: Think-Pair-Share</a:t>
            </a:r>
          </a:p>
          <a:p>
            <a:r>
              <a:t>Can you demonstrate: Session 1 Contribution?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key takeaways</a:t>
            </a:r>
          </a:p>
          <a:p>
            <a:pPr/>
            <a:r>
              <a:t>Complete exit ticket</a:t>
            </a:r>
          </a:p>
          <a:p>
            <a:pPr/>
            <a:r>
              <a:t>Preview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