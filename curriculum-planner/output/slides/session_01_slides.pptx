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Session 1: “See It &amp; Question It”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SWBAT: Identify misleading charts and explain…</a:t>
            </a:r>
          </a:p>
          <a:p>
            <a:pPr/>
            <a:r>
              <a:t>SWBAT: Use 4 spreadsheet functions (SORT,…</a:t>
            </a:r>
          </a:p>
          <a:p>
            <a:pPr/>
            <a:r>
              <a:t>SWBAT: Clean a messy dataset by…</a:t>
            </a:r>
          </a:p>
          <a:p>
            <a:pPr/>
            <a:r>
              <a:t>SWBAT: Build 5 pivot tables answering…</a:t>
            </a:r>
          </a:p>
          <a:p>
            <a:pPr/>
            <a:r>
              <a:t>SWBAT: Create 3 appropriate chart types…</a:t>
            </a:r>
          </a:p>
          <a:p>
            <a:pPr/>
            <a:r>
              <a:t>SWBAT: Write a 3-sentence data brief…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Welcome + “You Already Use Data”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20 min</a:t>
            </a:r>
          </a:p>
          <a:p>
            <a:r>
              <a:t>Format: Whole Class</a:t>
            </a:r>
          </a:p>
          <a:p>
            <a:pPr lvl="1"/>
            <a:r>
              <a:t>Format: Full group, interactive</a:t>
            </a:r>
          </a:p>
          <a:p>
            <a:pPr lvl="1"/>
            <a:r>
              <a:t>Bloom’s: Hook Delivery: Exchange rates, price…</a:t>
            </a:r>
          </a:p>
          <a:p>
            <a:pPr lvl="1"/>
            <a:r>
              <a:t>Poll: “Who’s been asked to ‘look…</a:t>
            </a:r>
          </a:p>
          <a:p>
            <a:pPr lvl="1"/>
            <a:r>
              <a:t>Reframe: “This bootcamp formalizes something you…</a:t>
            </a:r>
          </a:p>
          <a:p>
            <a:pPr lvl="1"/>
            <a:r>
              <a:t>” The goal is to disarm…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“What’s Wrong with This Chart?”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Format: Full group, interactive voting</a:t>
            </a:r>
          </a:p>
          <a:p>
            <a:pPr lvl="1"/>
            <a:r>
              <a:t>Bloom’s: Evaluate Delivery: 8 real-world visualizations—half…</a:t>
            </a:r>
          </a:p>
          <a:p>
            <a:pPr lvl="1"/>
            <a:r>
              <a:t>Students vote: trustworthy or misleading? Deconstruct…</a:t>
            </a:r>
          </a:p>
          <a:p>
            <a:pPr lvl="1"/>
            <a:r>
              <a:t>This teaches the critical eye before…</a:t>
            </a:r>
          </a:p>
          <a:p>
            <a:pPr lvl="1"/>
            <a:r>
              <a:t>Key message: the ability to spot…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Data Literacy Framework + Five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25 min</a:t>
            </a:r>
          </a:p>
          <a:p>
            <a:r>
              <a:t>Format: Whole Class</a:t>
            </a:r>
          </a:p>
          <a:p>
            <a:pPr lvl="1"/>
            <a:r>
              <a:t>Format: Interactive lecture + exercise</a:t>
            </a:r>
          </a:p>
          <a:p>
            <a:pPr lvl="1"/>
            <a:r>
              <a:t>Bloom’s: Understand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Real Data, Real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35 min</a:t>
            </a:r>
          </a:p>
          <a:p>
            <a:r>
              <a:t>Format: Whole Class</a:t>
            </a:r>
          </a:p>
          <a:p>
            <a:pPr lvl="1"/>
            <a:r>
              <a:t>Format: Small groups (4–5 students)</a:t>
            </a:r>
          </a:p>
          <a:p>
            <a:pPr lvl="1"/>
            <a:r>
              <a:t>Bloom’s: Analyze Delivery: Distribute 3 region-specific…</a:t>
            </a:r>
          </a:p>
          <a:p>
            <a:pPr lvl="1"/>
            <a:r>
              <a:t>Groups spend 20 minutes with raw…</a:t>
            </a:r>
          </a:p>
          <a:p>
            <a:pPr lvl="1"/>
            <a:r>
              <a:t>Don’t analyze yet—just look</a:t>
            </a:r>
          </a:p>
          <a:p>
            <a:pPr lvl="1"/>
            <a:r>
              <a:t>What do you notice? What questions…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Spreadsheet Power-Up (4 Functions)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40 min</a:t>
            </a:r>
          </a:p>
          <a:p>
            <a:r>
              <a:t>Format: Whole Class</a:t>
            </a:r>
          </a:p>
          <a:p>
            <a:pPr lvl="1"/>
            <a:r>
              <a:t>Format: Hands-on, follow-along</a:t>
            </a:r>
          </a:p>
          <a:p>
            <a:pPr lvl="1"/>
            <a:r>
              <a:t>Bloom’s: Apply Delivery: SORT, FILTER, SUMIF/COUNTIF</a:t>
            </a:r>
          </a:p>
          <a:p>
            <a:pPr lvl="1"/>
            <a:r>
              <a:t>Each taught by answering a real…</a:t>
            </a:r>
          </a:p>
          <a:p>
            <a:pPr lvl="1"/>
            <a:r>
              <a:t>VLOOKUP is deliberately saved for Session…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Lunch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60 min</a:t>
            </a:r>
          </a:p>
          <a:p>
            <a:r>
              <a:t>Format: Whole Class</a:t>
            </a:r>
          </a:p>
          <a:p>
            <a:pPr lvl="1"/>
            <a:r>
              <a:t>Delivery: Data confidence self-assessment (1–5 across…</a:t>
            </a:r>
          </a:p>
          <a:p>
            <a:pPr lvl="1"/>
            <a:r>
              <a:t>This is the baseline</a:t>
            </a:r>
          </a:p>
          <a:p>
            <a:pPr lvl="1"/>
            <a:r>
              <a:t>Mid-week assignment preview: walk through the…</a:t>
            </a:r>
          </a:p>
          <a:p>
            <a:pPr lvl="1"/>
            <a:r>
              <a:t>Emphasize: you must use real professional…</a:t>
            </a:r>
          </a:p>
          <a:p>
            <a:pPr lvl="1"/>
            <a:r>
              <a:t>Show the documentation template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Data Cleaning — The Ugly Truth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Format: Hands-on, guided</a:t>
            </a:r>
          </a:p>
          <a:p>
            <a:pPr lvl="1"/>
            <a:r>
              <a:t>Bloom’s: Apply Delivery: Duplicates, blanks, inconsistent…</a:t>
            </a:r>
          </a:p>
          <a:p>
            <a:pPr lvl="1"/>
            <a:r>
              <a:t>Students clean a deliberately messy version…</a:t>
            </a:r>
          </a:p>
          <a:p>
            <a:pPr lvl="1"/>
            <a:r>
              <a:t>Teach each cleaning technique by encountering…</a:t>
            </a:r>
          </a:p>
          <a:p>
            <a:pPr lvl="1"/>
            <a:r>
              <a:t>” This is the work nobody…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Pivot Table Mastery  |✆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45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Visualization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40 min</a:t>
            </a:r>
          </a:p>
          <a:p>
            <a:r>
              <a:t>Format: Whole Class</a:t>
            </a:r>
          </a:p>
          <a:p>
            <a:pPr lvl="1"/>
            <a:r>
              <a:t>Format: Hands-on + peer review</a:t>
            </a:r>
          </a:p>
          <a:p>
            <a:pPr lvl="1"/>
            <a:r>
              <a:t>Bloom’s: Apply + Evaluate Delivery: When…</a:t>
            </a:r>
          </a:p>
          <a:p>
            <a:pPr lvl="1"/>
            <a:r>
              <a:t>line vs</a:t>
            </a:r>
          </a:p>
          <a:p>
            <a:pPr lvl="1"/>
            <a:r>
              <a:t>scatter (rule: almost never use a…</a:t>
            </a:r>
          </a:p>
          <a:p>
            <a:pPr lvl="1"/>
            <a:r>
              <a:t>Design principles: label axes, no 3D,…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AI-Assisted Pattern Spotting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Format: Hands-on, individual</a:t>
            </a:r>
          </a:p>
          <a:p>
            <a:pPr lvl="1"/>
            <a:r>
              <a:t>Bloom’s: Analyze + Evaluate Delivery: Upload…</a:t>
            </a:r>
          </a:p>
          <a:p>
            <a:pPr lvl="1"/>
            <a:r>
              <a:t>Ask: “What are the 3 most…</a:t>
            </a:r>
          </a:p>
          <a:p>
            <a:pPr lvl="1"/>
            <a:r>
              <a:t>Where was AI helpful? Where was…</a:t>
            </a:r>
          </a:p>
          <a:p>
            <a:pPr lvl="1"/>
            <a:r>
              <a:t>Critical skill: knowing when to trust…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Day 1 Data Brief  |✆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20 min</a:t>
            </a:r>
          </a:p>
          <a:p>
            <a:r>
              <a:t>Format: Whole Class</a:t>
            </a:r>
          </a:p>
          <a:p>
            <a:pPr lvl="1"/>
            <a:r>
              <a:t>Format: Individual writing + pair delivery</a:t>
            </a:r>
          </a:p>
          <a:p>
            <a:pPr lvl="1"/>
            <a:r>
              <a:t>Bloom’s: Create Delivery: 3-sentence summary of…</a:t>
            </a:r>
          </a:p>
          <a:p>
            <a:pPr lvl="1"/>
            <a:r>
              <a:t>This matters because [why]</a:t>
            </a:r>
          </a:p>
          <a:p>
            <a:pPr lvl="1"/>
            <a:r>
              <a:t>I recommend [what to do next]</a:t>
            </a:r>
          </a:p>
          <a:p>
            <a:pPr lvl="1"/>
            <a:r>
              <a:t>” Read aloud to partner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Buffer / Overflow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Evidence the instructor looks for: Students…</a:t>
            </a:r>
          </a:p>
          <a:p>
            <a:pPr lvl="1"/>
            <a:r>
              <a:t>Chart peer reviews identify specific design…</a:t>
            </a:r>
          </a:p>
          <a:p>
            <a:pPr lvl="1"/>
            <a:r>
              <a:t>Data briefs lead with the finding,…</a:t>
            </a:r>
          </a:p>
          <a:p>
            <a:pPr lvl="1"/>
            <a:r>
              <a:t>AI comparison documents identify at least…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Check for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Technique: Think-Pair-Share</a:t>
            </a:r>
          </a:p>
          <a:p>
            <a:r>
              <a:t>Can you demonstrate: Identify misleading charts and explain what makes a visualization trustworthy vs. deceptive (LO #1, #5)?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&amp; 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Review key takeaways</a:t>
            </a:r>
          </a:p>
          <a:p>
            <a:pPr/>
            <a:r>
              <a:t>Complete exit ticket</a:t>
            </a:r>
          </a:p>
          <a:p>
            <a:pPr/>
            <a:r>
              <a:t>Preview next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