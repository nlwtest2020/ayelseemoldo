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43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"/>
          <p:cNvSpPr/>
          <p:nvPr/>
        </p:nvSpPr>
        <p:spPr>
          <a:xfrm>
            <a:off x="-787400" y="1891980"/>
            <a:ext cx="9890760" cy="32970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55" fill="norm" stroke="1" extrusionOk="0">
                <a:moveTo>
                  <a:pt x="0" y="21335"/>
                </a:moveTo>
                <a:lnTo>
                  <a:pt x="4588" y="21355"/>
                </a:lnTo>
                <a:cubicBezTo>
                  <a:pt x="6886" y="16099"/>
                  <a:pt x="9456" y="11518"/>
                  <a:pt x="12239" y="7716"/>
                </a:cubicBezTo>
                <a:cubicBezTo>
                  <a:pt x="13679" y="5748"/>
                  <a:pt x="15173" y="3997"/>
                  <a:pt x="16753" y="2773"/>
                </a:cubicBezTo>
                <a:cubicBezTo>
                  <a:pt x="18315" y="1563"/>
                  <a:pt x="19948" y="881"/>
                  <a:pt x="21600" y="752"/>
                </a:cubicBezTo>
                <a:cubicBezTo>
                  <a:pt x="19679" y="-172"/>
                  <a:pt x="17699" y="-245"/>
                  <a:pt x="15766" y="536"/>
                </a:cubicBezTo>
                <a:cubicBezTo>
                  <a:pt x="12681" y="1782"/>
                  <a:pt x="9885" y="5061"/>
                  <a:pt x="7276" y="8797"/>
                </a:cubicBezTo>
                <a:cubicBezTo>
                  <a:pt x="4722" y="12456"/>
                  <a:pt x="2286" y="16641"/>
                  <a:pt x="0" y="21335"/>
                </a:cubicBezTo>
                <a:close/>
              </a:path>
            </a:pathLst>
          </a:custGeom>
          <a:solidFill>
            <a:srgbClr val="92222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2438338">
              <a:lnSpc>
                <a:spcPct val="90000"/>
              </a:lnSpc>
              <a:spcBef>
                <a:spcPts val="4500"/>
              </a:spcBef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21" name="Text 1"/>
          <p:cNvSpPr txBox="1"/>
          <p:nvPr/>
        </p:nvSpPr>
        <p:spPr>
          <a:xfrm>
            <a:off x="254000" y="2385060"/>
            <a:ext cx="5074599" cy="123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0000"/>
              </a:lnSpc>
              <a:defRPr b="1" sz="3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AI &amp; Digital Workflows</a:t>
            </a:r>
          </a:p>
          <a:p>
            <a:pPr>
              <a:lnSpc>
                <a:spcPct val="110000"/>
              </a:lnSpc>
              <a:defRPr b="1" sz="3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Bootcamp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254000" y="3831589"/>
            <a:ext cx="722376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2: “Research, Write, Create”  |  7 Contact Hours</a:t>
            </a:r>
          </a:p>
        </p:txBody>
      </p:sp>
      <p:sp>
        <p:nvSpPr>
          <p:cNvPr id="23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685800" y="4850129"/>
            <a:ext cx="72237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300"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AMERICAN LANGUAGE CENTERS</a:t>
            </a:r>
          </a:p>
        </p:txBody>
      </p:sp>
      <p:pic>
        <p:nvPicPr>
          <p:cNvPr id="25" name="ALC logo.png" descr="ALC logo.png"/>
          <p:cNvPicPr>
            <a:picLocks noChangeAspect="1"/>
          </p:cNvPicPr>
          <p:nvPr/>
        </p:nvPicPr>
        <p:blipFill>
          <a:blip r:embed="rId2">
            <a:alphaModFix amt="23325"/>
            <a:extLst/>
          </a:blip>
          <a:stretch>
            <a:fillRect/>
          </a:stretch>
        </p:blipFill>
        <p:spPr>
          <a:xfrm>
            <a:off x="-107129" y="385925"/>
            <a:ext cx="3913429" cy="26089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852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 txBox="1"/>
          <p:nvPr/>
        </p:nvSpPr>
        <p:spPr>
          <a:xfrm>
            <a:off x="673100" y="621030"/>
            <a:ext cx="448056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400" sz="14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02</a:t>
            </a:r>
          </a:p>
        </p:txBody>
      </p:sp>
      <p:sp>
        <p:nvSpPr>
          <p:cNvPr id="28" name="Text 2"/>
          <p:cNvSpPr txBox="1"/>
          <p:nvPr/>
        </p:nvSpPr>
        <p:spPr>
          <a:xfrm>
            <a:off x="673100" y="3136900"/>
            <a:ext cx="44805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Sunday, Weekend 1  |  10:00 AM – 5:45 PM</a:t>
            </a:r>
          </a:p>
        </p:txBody>
      </p:sp>
      <p:grpSp>
        <p:nvGrpSpPr>
          <p:cNvPr id="32" name="Group"/>
          <p:cNvGrpSpPr/>
          <p:nvPr/>
        </p:nvGrpSpPr>
        <p:grpSpPr>
          <a:xfrm>
            <a:off x="4318000" y="517388"/>
            <a:ext cx="4893608" cy="4108724"/>
            <a:chOff x="0" y="0"/>
            <a:chExt cx="4893607" cy="4108722"/>
          </a:xfrm>
        </p:grpSpPr>
        <p:sp>
          <p:nvSpPr>
            <p:cNvPr id="29" name="Shape"/>
            <p:cNvSpPr/>
            <p:nvPr/>
          </p:nvSpPr>
          <p:spPr>
            <a:xfrm>
              <a:off x="2917162" y="2278530"/>
              <a:ext cx="1681224" cy="18301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4152"/>
                  </a:moveTo>
                  <a:lnTo>
                    <a:pt x="8118" y="21600"/>
                  </a:lnTo>
                  <a:lnTo>
                    <a:pt x="21600" y="21354"/>
                  </a:lnTo>
                  <a:lnTo>
                    <a:pt x="10990" y="0"/>
                  </a:lnTo>
                  <a:cubicBezTo>
                    <a:pt x="9106" y="161"/>
                    <a:pt x="7257" y="563"/>
                    <a:pt x="5495" y="1195"/>
                  </a:cubicBezTo>
                  <a:cubicBezTo>
                    <a:pt x="3505" y="1908"/>
                    <a:pt x="1650" y="2907"/>
                    <a:pt x="0" y="4152"/>
                  </a:cubicBezTo>
                  <a:close/>
                </a:path>
              </a:pathLst>
            </a:custGeom>
            <a:solidFill>
              <a:srgbClr val="212E49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438338">
                <a:lnSpc>
                  <a:spcPct val="90000"/>
                </a:lnSpc>
                <a:spcBef>
                  <a:spcPts val="4500"/>
                </a:spcBef>
                <a:defRPr sz="48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0" name="Shape"/>
            <p:cNvSpPr/>
            <p:nvPr/>
          </p:nvSpPr>
          <p:spPr>
            <a:xfrm>
              <a:off x="125900" y="0"/>
              <a:ext cx="3480352" cy="3800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458" y="20419"/>
                    <a:pt x="2979" y="19305"/>
                    <a:pt x="4557" y="18262"/>
                  </a:cubicBezTo>
                  <a:cubicBezTo>
                    <a:pt x="6038" y="17283"/>
                    <a:pt x="7568" y="16368"/>
                    <a:pt x="9142" y="15519"/>
                  </a:cubicBezTo>
                  <a:lnTo>
                    <a:pt x="13288" y="6462"/>
                  </a:lnTo>
                  <a:lnTo>
                    <a:pt x="16064" y="12325"/>
                  </a:lnTo>
                  <a:cubicBezTo>
                    <a:pt x="16934" y="11896"/>
                    <a:pt x="17852" y="11555"/>
                    <a:pt x="18803" y="11308"/>
                  </a:cubicBezTo>
                  <a:cubicBezTo>
                    <a:pt x="19716" y="11072"/>
                    <a:pt x="20653" y="10923"/>
                    <a:pt x="21600" y="10865"/>
                  </a:cubicBezTo>
                  <a:lnTo>
                    <a:pt x="16471" y="154"/>
                  </a:lnTo>
                  <a:lnTo>
                    <a:pt x="10278" y="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12E49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438338">
                <a:lnSpc>
                  <a:spcPct val="90000"/>
                </a:lnSpc>
                <a:spcBef>
                  <a:spcPts val="4500"/>
                </a:spcBef>
                <a:defRPr sz="48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31" name="Shape"/>
            <p:cNvSpPr/>
            <p:nvPr/>
          </p:nvSpPr>
          <p:spPr>
            <a:xfrm>
              <a:off x="0" y="2001950"/>
              <a:ext cx="4893608" cy="2092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55" fill="norm" stroke="1" extrusionOk="0">
                  <a:moveTo>
                    <a:pt x="0" y="21335"/>
                  </a:moveTo>
                  <a:lnTo>
                    <a:pt x="4588" y="21355"/>
                  </a:lnTo>
                  <a:cubicBezTo>
                    <a:pt x="6886" y="16099"/>
                    <a:pt x="9456" y="11518"/>
                    <a:pt x="12239" y="7716"/>
                  </a:cubicBezTo>
                  <a:cubicBezTo>
                    <a:pt x="13679" y="5748"/>
                    <a:pt x="15173" y="3997"/>
                    <a:pt x="16753" y="2773"/>
                  </a:cubicBezTo>
                  <a:cubicBezTo>
                    <a:pt x="18315" y="1563"/>
                    <a:pt x="19948" y="881"/>
                    <a:pt x="21600" y="752"/>
                  </a:cubicBezTo>
                  <a:cubicBezTo>
                    <a:pt x="19679" y="-172"/>
                    <a:pt x="17699" y="-245"/>
                    <a:pt x="15766" y="536"/>
                  </a:cubicBezTo>
                  <a:cubicBezTo>
                    <a:pt x="12681" y="1782"/>
                    <a:pt x="9885" y="5061"/>
                    <a:pt x="7276" y="8797"/>
                  </a:cubicBezTo>
                  <a:cubicBezTo>
                    <a:pt x="4722" y="12456"/>
                    <a:pt x="2286" y="16641"/>
                    <a:pt x="0" y="21335"/>
                  </a:cubicBezTo>
                  <a:close/>
                </a:path>
              </a:pathLst>
            </a:custGeom>
            <a:solidFill>
              <a:srgbClr val="212E49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2438338">
                <a:lnSpc>
                  <a:spcPct val="90000"/>
                </a:lnSpc>
                <a:spcBef>
                  <a:spcPts val="4500"/>
                </a:spcBef>
                <a:defRPr sz="48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33" name="Text 1"/>
          <p:cNvSpPr txBox="1"/>
          <p:nvPr/>
        </p:nvSpPr>
        <p:spPr>
          <a:xfrm>
            <a:off x="673100" y="1160144"/>
            <a:ext cx="5394960" cy="151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90000"/>
              </a:lnSpc>
              <a:defRPr b="1" sz="4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“RESEARCH, WRITE, CREATE”</a:t>
            </a:r>
          </a:p>
        </p:txBody>
      </p:sp>
      <p:sp>
        <p:nvSpPr>
          <p:cNvPr id="34" name="Rectangle"/>
          <p:cNvSpPr/>
          <p:nvPr/>
        </p:nvSpPr>
        <p:spPr>
          <a:xfrm>
            <a:off x="698500" y="2831018"/>
            <a:ext cx="3653929" cy="150119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1"/>
          <p:cNvSpPr txBox="1"/>
          <p:nvPr/>
        </p:nvSpPr>
        <p:spPr>
          <a:xfrm>
            <a:off x="685800" y="226060"/>
            <a:ext cx="7223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LEARNING OBJECTIVES</a:t>
            </a:r>
          </a:p>
        </p:txBody>
      </p:sp>
      <p:sp>
        <p:nvSpPr>
          <p:cNvPr id="38" name="Text 2"/>
          <p:cNvSpPr txBox="1"/>
          <p:nvPr/>
        </p:nvSpPr>
        <p:spPr>
          <a:xfrm>
            <a:off x="640080" y="1188719"/>
            <a:ext cx="3657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852B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▸</a:t>
            </a:r>
          </a:p>
        </p:txBody>
      </p:sp>
      <p:sp>
        <p:nvSpPr>
          <p:cNvPr id="39" name="Text 3"/>
          <p:cNvSpPr txBox="1"/>
          <p:nvPr/>
        </p:nvSpPr>
        <p:spPr>
          <a:xfrm>
            <a:off x="1097280" y="1188719"/>
            <a:ext cx="722376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Detect hallucinations in AI-generated research and fact-check claims systematically</a:t>
            </a:r>
          </a:p>
        </p:txBody>
      </p:sp>
      <p:sp>
        <p:nvSpPr>
          <p:cNvPr id="40" name="Text 4"/>
          <p:cNvSpPr txBox="1"/>
          <p:nvPr/>
        </p:nvSpPr>
        <p:spPr>
          <a:xfrm>
            <a:off x="640080" y="2057400"/>
            <a:ext cx="365761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852B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▸</a:t>
            </a:r>
          </a:p>
        </p:txBody>
      </p:sp>
      <p:sp>
        <p:nvSpPr>
          <p:cNvPr id="41" name="Text 5"/>
          <p:cNvSpPr txBox="1"/>
          <p:nvPr/>
        </p:nvSpPr>
        <p:spPr>
          <a:xfrm>
            <a:off x="1097280" y="2057400"/>
            <a:ext cx="7223760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Use research tools (NotebookLM, Perplexity) to interrogate sources and triangulate information</a:t>
            </a:r>
          </a:p>
        </p:txBody>
      </p:sp>
      <p:sp>
        <p:nvSpPr>
          <p:cNvPr id="42" name="Text 6"/>
          <p:cNvSpPr txBox="1"/>
          <p:nvPr/>
        </p:nvSpPr>
        <p:spPr>
          <a:xfrm>
            <a:off x="640080" y="2926079"/>
            <a:ext cx="3657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852B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▸</a:t>
            </a:r>
          </a:p>
        </p:txBody>
      </p:sp>
      <p:sp>
        <p:nvSpPr>
          <p:cNvPr id="43" name="Text 7"/>
          <p:cNvSpPr txBox="1"/>
          <p:nvPr/>
        </p:nvSpPr>
        <p:spPr>
          <a:xfrm>
            <a:off x="1097280" y="2926079"/>
            <a:ext cx="722376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Collaborate with AI on writing while preserving their own voice and judgment</a:t>
            </a:r>
          </a:p>
        </p:txBody>
      </p:sp>
      <p:sp>
        <p:nvSpPr>
          <p:cNvPr id="44" name="Text 8"/>
          <p:cNvSpPr txBox="1"/>
          <p:nvPr/>
        </p:nvSpPr>
        <p:spPr>
          <a:xfrm>
            <a:off x="640080" y="3794759"/>
            <a:ext cx="3657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852B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▸</a:t>
            </a:r>
          </a:p>
        </p:txBody>
      </p:sp>
      <p:sp>
        <p:nvSpPr>
          <p:cNvPr id="45" name="Text 9"/>
          <p:cNvSpPr txBox="1"/>
          <p:nvPr/>
        </p:nvSpPr>
        <p:spPr>
          <a:xfrm>
            <a:off x="1097280" y="3794759"/>
            <a:ext cx="722376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Analyze a dataset using AI and produce a presentable summary of insights</a:t>
            </a:r>
          </a:p>
        </p:txBody>
      </p:sp>
      <p:sp>
        <p:nvSpPr>
          <p:cNvPr id="46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2: “Research, Write, Create”</a:t>
            </a:r>
          </a:p>
        </p:txBody>
      </p:sp>
      <p:sp>
        <p:nvSpPr>
          <p:cNvPr id="48" name="Text 1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1"/>
          <p:cNvSpPr txBox="1"/>
          <p:nvPr/>
        </p:nvSpPr>
        <p:spPr>
          <a:xfrm>
            <a:off x="685800" y="226060"/>
            <a:ext cx="7223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KEY VOCABULARY</a:t>
            </a:r>
          </a:p>
        </p:txBody>
      </p:sp>
      <p:sp>
        <p:nvSpPr>
          <p:cNvPr id="52" name="Text 2"/>
          <p:cNvSpPr txBox="1"/>
          <p:nvPr/>
        </p:nvSpPr>
        <p:spPr>
          <a:xfrm>
            <a:off x="685800" y="1083310"/>
            <a:ext cx="35661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100">
                <a:solidFill>
                  <a:srgbClr val="367875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TERMS</a:t>
            </a:r>
          </a:p>
        </p:txBody>
      </p:sp>
      <p:sp>
        <p:nvSpPr>
          <p:cNvPr id="53" name="Text 3"/>
          <p:cNvSpPr txBox="1"/>
          <p:nvPr/>
        </p:nvSpPr>
        <p:spPr>
          <a:xfrm>
            <a:off x="685800" y="1463039"/>
            <a:ext cx="3566160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243554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hallucination</a:t>
            </a:r>
          </a:p>
          <a:p>
            <a: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AI generates plausible but fabricated info</a:t>
            </a:r>
          </a:p>
        </p:txBody>
      </p:sp>
      <p:sp>
        <p:nvSpPr>
          <p:cNvPr id="54" name="Text 4"/>
          <p:cNvSpPr txBox="1"/>
          <p:nvPr/>
        </p:nvSpPr>
        <p:spPr>
          <a:xfrm>
            <a:off x="685800" y="2240279"/>
            <a:ext cx="3566160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243554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source triangulation</a:t>
            </a:r>
          </a:p>
          <a:p>
            <a: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Verifying across multiple tools/sources</a:t>
            </a:r>
          </a:p>
        </p:txBody>
      </p:sp>
      <p:sp>
        <p:nvSpPr>
          <p:cNvPr id="55" name="Text 5"/>
          <p:cNvSpPr txBox="1"/>
          <p:nvPr/>
        </p:nvSpPr>
        <p:spPr>
          <a:xfrm>
            <a:off x="685800" y="3017520"/>
            <a:ext cx="3566160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243554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AI collaboration</a:t>
            </a:r>
          </a:p>
          <a:p>
            <a: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Using AI at specific stages, not full replacement</a:t>
            </a:r>
          </a:p>
        </p:txBody>
      </p:sp>
      <p:sp>
        <p:nvSpPr>
          <p:cNvPr id="56" name="Text 6"/>
          <p:cNvSpPr txBox="1"/>
          <p:nvPr/>
        </p:nvSpPr>
        <p:spPr>
          <a:xfrm>
            <a:off x="685800" y="3794759"/>
            <a:ext cx="3566160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243554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trust rubric</a:t>
            </a:r>
          </a:p>
          <a:p>
            <a: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Checklist for evaluating AI output reliability</a:t>
            </a:r>
          </a:p>
        </p:txBody>
      </p:sp>
      <p:sp>
        <p:nvSpPr>
          <p:cNvPr id="57" name="Shape 7"/>
          <p:cNvSpPr/>
          <p:nvPr/>
        </p:nvSpPr>
        <p:spPr>
          <a:xfrm flipH="1">
            <a:off x="4663440" y="1051560"/>
            <a:ext cx="1" cy="3474721"/>
          </a:xfrm>
          <a:prstGeom prst="line">
            <a:avLst/>
          </a:prstGeom>
          <a:ln w="12700">
            <a:solidFill>
              <a:srgbClr val="6E8D9A"/>
            </a:solidFill>
          </a:ln>
        </p:spPr>
        <p:txBody>
          <a:bodyPr lIns="45719" rIns="45719"/>
          <a:lstStyle/>
          <a:p>
            <a:r>
              <a:t>"Always fact-check — AI confidently cites fake sources."</a:t>
            </a:r>
          </a:p>
        </p:txBody>
      </p:sp>
      <p:sp>
        <p:nvSpPr>
          <p:cNvPr id="58" name="Text 8"/>
          <p:cNvSpPr txBox="1"/>
          <p:nvPr/>
        </p:nvSpPr>
        <p:spPr>
          <a:xfrm>
            <a:off x="5074920" y="1083310"/>
            <a:ext cx="35661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100">
                <a:solidFill>
                  <a:srgbClr val="367875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 CONTEXT</a:t>
            </a:r>
          </a:p>
        </p:txBody>
      </p:sp>
      <p:sp>
        <p:nvSpPr>
          <p:cNvPr id="59" name="Text 9"/>
          <p:cNvSpPr txBox="1"/>
          <p:nvPr/>
        </p:nvSpPr>
        <p:spPr>
          <a:xfrm>
            <a:off x="5074920" y="1463039"/>
            <a:ext cx="356616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"Same question through Claude, Perplexity, and NotebookLM."</a:t>
            </a:r>
          </a:p>
        </p:txBody>
      </p:sp>
      <p:sp>
        <p:nvSpPr>
          <p:cNvPr id="60" name="Text 10"/>
          <p:cNvSpPr txBox="1"/>
          <p:nvPr/>
        </p:nvSpPr>
        <p:spPr>
          <a:xfrm>
            <a:off x="5074920" y="2240279"/>
            <a:ext cx="356616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"Best as brainstormer, outliner, or editor — not ghostwriter."</a:t>
            </a:r>
          </a:p>
        </p:txBody>
      </p:sp>
      <p:sp>
        <p:nvSpPr>
          <p:cNvPr id="61" name="Text 11"/>
          <p:cNvSpPr txBox="1"/>
          <p:nvPr/>
        </p:nvSpPr>
        <p:spPr>
          <a:xfrm>
            <a:off x="5074920" y="3017520"/>
            <a:ext cx="3566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"Cites sources? Verifiable? Holds up across tools?"</a:t>
            </a:r>
          </a:p>
        </p:txBody>
      </p:sp>
      <p:sp>
        <p:nvSpPr>
          <p:cNvPr id="62" name="Text 12"/>
          <p:cNvSpPr txBox="1"/>
          <p:nvPr/>
        </p:nvSpPr>
        <p:spPr>
          <a:xfrm>
            <a:off x="5074920" y="3794759"/>
            <a:ext cx="356616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63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14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2: “Research, Write, Create”</a:t>
            </a:r>
          </a:p>
        </p:txBody>
      </p:sp>
      <p:sp>
        <p:nvSpPr>
          <p:cNvPr id="65" name="Text 15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685800" y="226060"/>
            <a:ext cx="35661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4617720" y="264160"/>
            <a:ext cx="40233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Pairs, research + fact-check  •  40 min</a:t>
            </a:r>
          </a:p>
        </p:txBody>
      </p:sp>
      <p:sp>
        <p:nvSpPr>
          <p:cNvPr id="70" name="Shape 3"/>
          <p:cNvSpPr/>
          <p:nvPr/>
        </p:nvSpPr>
        <p:spPr>
          <a:xfrm>
            <a:off x="640079" y="1097280"/>
            <a:ext cx="7863842" cy="1005840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4"/>
          <p:cNvSpPr txBox="1"/>
          <p:nvPr/>
        </p:nvSpPr>
        <p:spPr>
          <a:xfrm>
            <a:off x="960119" y="1160779"/>
            <a:ext cx="7223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The Hallucination Hunt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960119" y="1658619"/>
            <a:ext cx="7223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Ask AI to write a 200-word research summary on a regional topic (Armenian history, Moldovan wine industry, Georgian...</a:t>
            </a:r>
          </a:p>
        </p:txBody>
      </p:sp>
      <p:sp>
        <p:nvSpPr>
          <p:cNvPr id="73" name="Shape 6"/>
          <p:cNvSpPr/>
          <p:nvPr/>
        </p:nvSpPr>
        <p:spPr>
          <a:xfrm>
            <a:off x="640080" y="2423160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685800" y="2441194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1143000" y="2449575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Ask AI to write a 200-word research summary on a regional topic (Armenian history, Moldovan wine industry, Georgian architecture—assign by student’s country).</a:t>
            </a:r>
          </a:p>
        </p:txBody>
      </p:sp>
      <p:sp>
        <p:nvSpPr>
          <p:cNvPr id="76" name="Shape 9"/>
          <p:cNvSpPr/>
          <p:nvPr/>
        </p:nvSpPr>
        <p:spPr>
          <a:xfrm>
            <a:off x="640080" y="2898648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0"/>
          <p:cNvSpPr txBox="1"/>
          <p:nvPr/>
        </p:nvSpPr>
        <p:spPr>
          <a:xfrm>
            <a:off x="685800" y="2916682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1143000" y="2925063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Students fact-check every specific claim.</a:t>
            </a:r>
          </a:p>
        </p:txBody>
      </p:sp>
      <p:sp>
        <p:nvSpPr>
          <p:cNvPr id="79" name="Shape 12"/>
          <p:cNvSpPr/>
          <p:nvPr/>
        </p:nvSpPr>
        <p:spPr>
          <a:xfrm>
            <a:off x="640080" y="3374135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685800" y="3392169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1143000" y="3400551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Pre-prepare a cheat sheet of common fabrications for each topic so the instructor can confirm findings quickly.</a:t>
            </a:r>
          </a:p>
        </p:txBody>
      </p:sp>
      <p:sp>
        <p:nvSpPr>
          <p:cNvPr id="82" name="Shape 15"/>
          <p:cNvSpPr/>
          <p:nvPr/>
        </p:nvSpPr>
        <p:spPr>
          <a:xfrm>
            <a:off x="640080" y="3849623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685800" y="3867657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1143000" y="3876039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85" name="Shape 18"/>
          <p:cNvSpPr/>
          <p:nvPr/>
        </p:nvSpPr>
        <p:spPr>
          <a:xfrm>
            <a:off x="640079" y="4434840"/>
            <a:ext cx="7863842" cy="365761"/>
          </a:xfrm>
          <a:prstGeom prst="rect">
            <a:avLst/>
          </a:prstGeom>
          <a:solidFill>
            <a:srgbClr val="F0F4F5"/>
          </a:solidFill>
          <a:ln w="12700">
            <a:miter lim="400000"/>
          </a:ln>
        </p:spPr>
        <p:txBody>
          <a:bodyPr lIns="45719" rIns="45719"/>
          <a:lstStyle/>
          <a:p>
            <a:r>
              <a:t>💡 Teacher tip: Generate AI summary = 5 min. Fact-check claims using web search = 20 min. Pairs compile a “hallucination scorecard” (# of claims, # verified, # fabric</a:t>
            </a:r>
          </a:p>
        </p:txBody>
      </p:sp>
      <p:sp>
        <p:nvSpPr>
          <p:cNvPr id="86" name="Text 19"/>
          <p:cNvSpPr txBox="1"/>
          <p:nvPr/>
        </p:nvSpPr>
        <p:spPr>
          <a:xfrm>
            <a:off x="960119" y="4464050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💡 Teacher tip: Generate AI summary = 5 min. Fact-check claims using web search = 20 min. Pairs compile a “hallucination scorecard” (# of claims, # verified, # fabric</a:t>
            </a:r>
          </a:p>
        </p:txBody>
      </p:sp>
      <p:sp>
        <p:nvSpPr>
          <p:cNvPr id="8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r>
              <a:t>Session 2: “Research, Write, Create”</a:t>
            </a:r>
          </a:p>
        </p:txBody>
      </p:sp>
      <p:sp>
        <p:nvSpPr>
          <p:cNvPr id="88" name="Text 2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2: “Research, Write, Create”</a:t>
            </a:r>
          </a:p>
        </p:txBody>
      </p:sp>
      <p:sp>
        <p:nvSpPr>
          <p:cNvPr id="89" name="Text 2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1"/>
          <p:cNvSpPr txBox="1"/>
          <p:nvPr/>
        </p:nvSpPr>
        <p:spPr>
          <a:xfrm>
            <a:off x="685800" y="226060"/>
            <a:ext cx="7223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ASSESSMENT CRITERIA</a:t>
            </a:r>
          </a:p>
        </p:txBody>
      </p:sp>
      <p:graphicFrame>
        <p:nvGraphicFramePr>
          <p:cNvPr id="93" name="Table 0"/>
          <p:cNvGraphicFramePr/>
          <p:nvPr/>
        </p:nvGraphicFramePr>
        <p:xfrm>
          <a:off x="640080" y="1097280"/>
          <a:ext cx="7863841" cy="278892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Criterion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243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Developing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243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Competent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243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Proficient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24355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Fact-checking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Accepts AI claims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Spots obvious errors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Systematic verification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Research skills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Single-tool use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Uses multiple tools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Triangulates 3+ sources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Writing voice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Full AI replacement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Some personal voice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Clear human-AI collaboration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Data analysis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Raw AI output only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Summarizes findings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2F2F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Insights w/ supporting evidence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6E8D9A"/>
                      </a:solidFill>
                    </a:lnL>
                    <a:lnR w="6350">
                      <a:solidFill>
                        <a:srgbClr val="6E8D9A"/>
                      </a:solidFill>
                    </a:lnR>
                    <a:lnT w="6350">
                      <a:solidFill>
                        <a:srgbClr val="6E8D9A"/>
                      </a:solidFill>
                    </a:lnT>
                    <a:lnB w="6350">
                      <a:solidFill>
                        <a:srgbClr val="6E8D9A"/>
                      </a:solidFill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9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3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2: “Research, Write, Create”</a:t>
            </a:r>
          </a:p>
        </p:txBody>
      </p:sp>
      <p:sp>
        <p:nvSpPr>
          <p:cNvPr id="96" name="Text 4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43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1"/>
          <p:cNvSpPr txBox="1"/>
          <p:nvPr/>
        </p:nvSpPr>
        <p:spPr>
          <a:xfrm>
            <a:off x="960119" y="1912620"/>
            <a:ext cx="7223761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6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99" name="Text 2"/>
          <p:cNvSpPr txBox="1"/>
          <p:nvPr/>
        </p:nvSpPr>
        <p:spPr>
          <a:xfrm>
            <a:off x="1038279" y="3022183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3: Automate &amp; Strategize</a:t>
            </a:r>
          </a:p>
        </p:txBody>
      </p:sp>
      <p:sp>
        <p:nvSpPr>
          <p:cNvPr id="100" name="Shape 3"/>
          <p:cNvSpPr/>
          <p:nvPr/>
        </p:nvSpPr>
        <p:spPr>
          <a:xfrm>
            <a:off x="-38150" y="3859113"/>
            <a:ext cx="9182150" cy="12843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439" y="16394"/>
                </a:lnTo>
                <a:lnTo>
                  <a:pt x="21600" y="21600"/>
                </a:lnTo>
                <a:lnTo>
                  <a:pt x="9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4"/>
          <p:cNvSpPr txBox="1"/>
          <p:nvPr/>
        </p:nvSpPr>
        <p:spPr>
          <a:xfrm>
            <a:off x="685800" y="4850129"/>
            <a:ext cx="72237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b="1" spc="300"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AMERICAN LANGUAGE CENTERS</a:t>
            </a:r>
          </a:p>
        </p:txBody>
      </p:sp>
      <p:pic>
        <p:nvPicPr>
          <p:cNvPr id="102" name="ALC logo.png" descr="ALC logo.png"/>
          <p:cNvPicPr>
            <a:picLocks noChangeAspect="1"/>
          </p:cNvPicPr>
          <p:nvPr/>
        </p:nvPicPr>
        <p:blipFill>
          <a:blip r:embed="rId2">
            <a:alphaModFix amt="23325"/>
            <a:extLst/>
          </a:blip>
          <a:stretch>
            <a:fillRect/>
          </a:stretch>
        </p:blipFill>
        <p:spPr>
          <a:xfrm>
            <a:off x="2615285" y="-116359"/>
            <a:ext cx="3913430" cy="2608953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Shape 3"/>
          <p:cNvSpPr/>
          <p:nvPr/>
        </p:nvSpPr>
        <p:spPr>
          <a:xfrm flipH="1">
            <a:off x="137244" y="3859113"/>
            <a:ext cx="9025831" cy="15467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3516" y="3918"/>
                  <a:pt x="7044" y="7467"/>
                  <a:pt x="10583" y="10644"/>
                </a:cubicBezTo>
                <a:cubicBezTo>
                  <a:pt x="14217" y="13907"/>
                  <a:pt x="17862" y="16778"/>
                  <a:pt x="21515" y="19255"/>
                </a:cubicBezTo>
                <a:lnTo>
                  <a:pt x="21600" y="21600"/>
                </a:lnTo>
                <a:lnTo>
                  <a:pt x="91" y="17936"/>
                </a:lnTo>
                <a:lnTo>
                  <a:pt x="0" y="0"/>
                </a:lnTo>
                <a:close/>
              </a:path>
            </a:pathLst>
          </a:custGeom>
          <a:solidFill>
            <a:srgbClr val="852B2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685800" y="226060"/>
            <a:ext cx="35661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4617720" y="264160"/>
            <a:ext cx="40233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Instructor demo  •  45 min</a:t>
            </a:r>
          </a:p>
        </p:txBody>
      </p:sp>
      <p:sp>
        <p:nvSpPr>
          <p:cNvPr id="70" name="Shape 3"/>
          <p:cNvSpPr/>
          <p:nvPr/>
        </p:nvSpPr>
        <p:spPr>
          <a:xfrm>
            <a:off x="640079" y="1097280"/>
            <a:ext cx="7863842" cy="1005840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4"/>
          <p:cNvSpPr txBox="1"/>
          <p:nvPr/>
        </p:nvSpPr>
        <p:spPr>
          <a:xfrm>
            <a:off x="960119" y="1160779"/>
            <a:ext cx="7223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Research Tools Deep-Dive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960119" y="1658619"/>
            <a:ext cx="7223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Part 1: NotebookLM (20 min). Instructor demos uploading a source document, asking questions, getting cited answers....</a:t>
            </a:r>
          </a:p>
        </p:txBody>
      </p:sp>
      <p:sp>
        <p:nvSpPr>
          <p:cNvPr id="73" name="Shape 6"/>
          <p:cNvSpPr/>
          <p:nvPr/>
        </p:nvSpPr>
        <p:spPr>
          <a:xfrm>
            <a:off x="640080" y="2423160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685800" y="2441194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1143000" y="2449575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Part 1: NotebookLM (20 min).</a:t>
            </a:r>
          </a:p>
        </p:txBody>
      </p:sp>
      <p:sp>
        <p:nvSpPr>
          <p:cNvPr id="76" name="Shape 9"/>
          <p:cNvSpPr/>
          <p:nvPr/>
        </p:nvSpPr>
        <p:spPr>
          <a:xfrm>
            <a:off x="640080" y="2898648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0"/>
          <p:cNvSpPr txBox="1"/>
          <p:nvPr/>
        </p:nvSpPr>
        <p:spPr>
          <a:xfrm>
            <a:off x="685800" y="2916682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1143000" y="2925063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Instructor demos uploading a source document, asking questions, getting cited answers.</a:t>
            </a:r>
          </a:p>
        </p:txBody>
      </p:sp>
      <p:sp>
        <p:nvSpPr>
          <p:cNvPr id="79" name="Shape 12"/>
          <p:cNvSpPr/>
          <p:nvPr/>
        </p:nvSpPr>
        <p:spPr>
          <a:xfrm>
            <a:off x="640080" y="3374135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685800" y="3392169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1143000" y="3400551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Students follow along with their own source (provide a pre-loaded document for anyone who doesn’t have one).</a:t>
            </a:r>
          </a:p>
        </p:txBody>
      </p:sp>
      <p:sp>
        <p:nvSpPr>
          <p:cNvPr id="82" name="Shape 15"/>
          <p:cNvSpPr/>
          <p:nvPr/>
        </p:nvSpPr>
        <p:spPr>
          <a:xfrm>
            <a:off x="640080" y="3849623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685800" y="3867657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1143000" y="3876039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85" name="Shape 18"/>
          <p:cNvSpPr/>
          <p:nvPr/>
        </p:nvSpPr>
        <p:spPr>
          <a:xfrm>
            <a:off x="640079" y="4434840"/>
            <a:ext cx="7863842" cy="365761"/>
          </a:xfrm>
          <a:prstGeom prst="rect">
            <a:avLst/>
          </a:prstGeom>
          <a:solidFill>
            <a:srgbClr val="F0F4F5"/>
          </a:solidFill>
          <a:ln w="12700">
            <a:miter lim="400000"/>
          </a:ln>
        </p:spPr>
        <p:txBody>
          <a:bodyPr lIns="45719" rIns="45719"/>
          <a:lstStyle/>
          <a:p>
            <a:r>
              <a:t>💡 Teacher tip: NotebookLM demo + follow-along = 20 min. Perplexity demo + student try = 15 min. Whisper/Otter mention = 2 min. Documentation + comparison = 5 min. Tr</a:t>
            </a:r>
          </a:p>
        </p:txBody>
      </p:sp>
      <p:sp>
        <p:nvSpPr>
          <p:cNvPr id="86" name="Text 19"/>
          <p:cNvSpPr txBox="1"/>
          <p:nvPr/>
        </p:nvSpPr>
        <p:spPr>
          <a:xfrm>
            <a:off x="960119" y="4464050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💡 Teacher tip: NotebookLM demo + follow-along = 20 min. Perplexity demo + student try = 15 min. Whisper/Otter mention = 2 min. Documentation + comparison = 5 min. Tr</a:t>
            </a:r>
          </a:p>
        </p:txBody>
      </p:sp>
      <p:sp>
        <p:nvSpPr>
          <p:cNvPr id="8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r>
              <a:t>Session 2: “Research, Write, Create”</a:t>
            </a:r>
          </a:p>
        </p:txBody>
      </p:sp>
      <p:sp>
        <p:nvSpPr>
          <p:cNvPr id="88" name="Text 2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2: “Research, Write, Create”</a:t>
            </a:r>
          </a:p>
        </p:txBody>
      </p:sp>
      <p:sp>
        <p:nvSpPr>
          <p:cNvPr id="89" name="Text 2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685800" y="226060"/>
            <a:ext cx="35661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4617720" y="264160"/>
            <a:ext cx="40233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Individual writing  •  45 min</a:t>
            </a:r>
          </a:p>
        </p:txBody>
      </p:sp>
      <p:sp>
        <p:nvSpPr>
          <p:cNvPr id="70" name="Shape 3"/>
          <p:cNvSpPr/>
          <p:nvPr/>
        </p:nvSpPr>
        <p:spPr>
          <a:xfrm>
            <a:off x="640079" y="1097280"/>
            <a:ext cx="7863842" cy="1005840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4"/>
          <p:cNvSpPr txBox="1"/>
          <p:nvPr/>
        </p:nvSpPr>
        <p:spPr>
          <a:xfrm>
            <a:off x="960119" y="1160779"/>
            <a:ext cx="7223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Writing with AI (Combined Block)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960119" y="1658619"/>
            <a:ext cx="7223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Phase 1 (15 min): Students write 150–200 words on a topic of their choice (professional email, blog intro, LinkedIn...</a:t>
            </a:r>
          </a:p>
        </p:txBody>
      </p:sp>
      <p:sp>
        <p:nvSpPr>
          <p:cNvPr id="73" name="Shape 6"/>
          <p:cNvSpPr/>
          <p:nvPr/>
        </p:nvSpPr>
        <p:spPr>
          <a:xfrm>
            <a:off x="640080" y="2423160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685800" y="2441194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1143000" y="2449575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Phase 1 (15 min): Students write 150–200 words on a topic of their choice (professional email, blog intro, LinkedIn post, cover letter paragraph—anything they’d actually write at work).</a:t>
            </a:r>
          </a:p>
        </p:txBody>
      </p:sp>
      <p:sp>
        <p:nvSpPr>
          <p:cNvPr id="76" name="Shape 9"/>
          <p:cNvSpPr/>
          <p:nvPr/>
        </p:nvSpPr>
        <p:spPr>
          <a:xfrm>
            <a:off x="640080" y="2898648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0"/>
          <p:cNvSpPr txBox="1"/>
          <p:nvPr/>
        </p:nvSpPr>
        <p:spPr>
          <a:xfrm>
            <a:off x="685800" y="2916682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1143000" y="2925063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Phase 2 (10 min): Ask AI to “improve” their writing.</a:t>
            </a:r>
          </a:p>
        </p:txBody>
      </p:sp>
      <p:sp>
        <p:nvSpPr>
          <p:cNvPr id="79" name="Shape 12"/>
          <p:cNvSpPr/>
          <p:nvPr/>
        </p:nvSpPr>
        <p:spPr>
          <a:xfrm>
            <a:off x="640080" y="3374135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685800" y="3392169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1143000" y="3400551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Then ask AI to help at only one stage (brainstorm, outline, or edit—student picks).</a:t>
            </a:r>
          </a:p>
        </p:txBody>
      </p:sp>
      <p:sp>
        <p:nvSpPr>
          <p:cNvPr id="82" name="Shape 15"/>
          <p:cNvSpPr/>
          <p:nvPr/>
        </p:nvSpPr>
        <p:spPr>
          <a:xfrm>
            <a:off x="640080" y="3849623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685800" y="3867657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1143000" y="3876039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85" name="Shape 18"/>
          <p:cNvSpPr/>
          <p:nvPr/>
        </p:nvSpPr>
        <p:spPr>
          <a:xfrm>
            <a:off x="640079" y="4434840"/>
            <a:ext cx="7863842" cy="365761"/>
          </a:xfrm>
          <a:prstGeom prst="rect">
            <a:avLst/>
          </a:prstGeom>
          <a:solidFill>
            <a:srgbClr val="F0F4F5"/>
          </a:solidFill>
          <a:ln w="12700">
            <a:miter lim="400000"/>
          </a:ln>
        </p:spPr>
        <p:txBody>
          <a:bodyPr lIns="45719" rIns="45719"/>
          <a:lstStyle/>
          <a:p>
            <a:r>
              <a:t/>
            </a:r>
          </a:p>
        </p:txBody>
      </p:sp>
      <p:sp>
        <p:nvSpPr>
          <p:cNvPr id="86" name="Text 19"/>
          <p:cNvSpPr txBox="1"/>
          <p:nvPr/>
        </p:nvSpPr>
        <p:spPr>
          <a:xfrm>
            <a:off x="960119" y="4464050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8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r>
              <a:t>Session 2: “Research, Write, Create”</a:t>
            </a:r>
          </a:p>
        </p:txBody>
      </p:sp>
      <p:sp>
        <p:nvSpPr>
          <p:cNvPr id="88" name="Text 2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2: “Research, Write, Create”</a:t>
            </a:r>
          </a:p>
        </p:txBody>
      </p:sp>
      <p:sp>
        <p:nvSpPr>
          <p:cNvPr id="89" name="Text 2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685800" y="226060"/>
            <a:ext cx="35661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4617720" y="264160"/>
            <a:ext cx="40233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Individual, instructor-guided  •  40 min</a:t>
            </a:r>
          </a:p>
        </p:txBody>
      </p:sp>
      <p:sp>
        <p:nvSpPr>
          <p:cNvPr id="70" name="Shape 3"/>
          <p:cNvSpPr/>
          <p:nvPr/>
        </p:nvSpPr>
        <p:spPr>
          <a:xfrm>
            <a:off x="640079" y="1097280"/>
            <a:ext cx="7863842" cy="1005840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4"/>
          <p:cNvSpPr txBox="1"/>
          <p:nvPr/>
        </p:nvSpPr>
        <p:spPr>
          <a:xfrm>
            <a:off x="960119" y="1160779"/>
            <a:ext cx="7223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Data Analysis with AI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960119" y="1658619"/>
            <a:ext cx="7223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Each student receives a small CSV relevant to their country (pre-prepared: local business data, survey results, or...</a:t>
            </a:r>
          </a:p>
        </p:txBody>
      </p:sp>
      <p:sp>
        <p:nvSpPr>
          <p:cNvPr id="73" name="Shape 6"/>
          <p:cNvSpPr/>
          <p:nvPr/>
        </p:nvSpPr>
        <p:spPr>
          <a:xfrm>
            <a:off x="640080" y="2423160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685800" y="2441194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1143000" y="2449575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Each student receives a small CSV relevant to their country (pre-prepared: local business data, survey results, or economic indicators).</a:t>
            </a:r>
          </a:p>
        </p:txBody>
      </p:sp>
      <p:sp>
        <p:nvSpPr>
          <p:cNvPr id="76" name="Shape 9"/>
          <p:cNvSpPr/>
          <p:nvPr/>
        </p:nvSpPr>
        <p:spPr>
          <a:xfrm>
            <a:off x="640080" y="2898648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0"/>
          <p:cNvSpPr txBox="1"/>
          <p:nvPr/>
        </p:nvSpPr>
        <p:spPr>
          <a:xfrm>
            <a:off x="685800" y="2916682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1143000" y="2925063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Upload to Claude or ChatGPT.</a:t>
            </a:r>
          </a:p>
        </p:txBody>
      </p:sp>
      <p:sp>
        <p:nvSpPr>
          <p:cNvPr id="79" name="Shape 12"/>
          <p:cNvSpPr/>
          <p:nvPr/>
        </p:nvSpPr>
        <p:spPr>
          <a:xfrm>
            <a:off x="640080" y="3374135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685800" y="3392169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1143000" y="3400551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Prompt: “Analyze this data.</a:t>
            </a:r>
          </a:p>
        </p:txBody>
      </p:sp>
      <p:sp>
        <p:nvSpPr>
          <p:cNvPr id="82" name="Shape 15"/>
          <p:cNvSpPr/>
          <p:nvPr/>
        </p:nvSpPr>
        <p:spPr>
          <a:xfrm>
            <a:off x="640080" y="3849623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685800" y="3867657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1143000" y="3876039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85" name="Shape 18"/>
          <p:cNvSpPr/>
          <p:nvPr/>
        </p:nvSpPr>
        <p:spPr>
          <a:xfrm>
            <a:off x="640079" y="4434840"/>
            <a:ext cx="7863842" cy="365761"/>
          </a:xfrm>
          <a:prstGeom prst="rect">
            <a:avLst/>
          </a:prstGeom>
          <a:solidFill>
            <a:srgbClr val="F0F4F5"/>
          </a:solidFill>
          <a:ln w="12700">
            <a:miter lim="400000"/>
          </a:ln>
        </p:spPr>
        <p:txBody>
          <a:bodyPr lIns="45719" rIns="45719"/>
          <a:lstStyle/>
          <a:p>
            <a:r>
              <a:t>💡 Teacher tip: Pre-test all CSVs with both Claude and ChatGPT. Ensure they produce interesting results. Have a backup CSV ready in case a student’s file doesn’t upload correctly.</a:t>
            </a:r>
          </a:p>
        </p:txBody>
      </p:sp>
      <p:sp>
        <p:nvSpPr>
          <p:cNvPr id="86" name="Text 19"/>
          <p:cNvSpPr txBox="1"/>
          <p:nvPr/>
        </p:nvSpPr>
        <p:spPr>
          <a:xfrm>
            <a:off x="960119" y="4464050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💡 Teacher tip: Pre-test all CSVs with both Claude and ChatGPT. Ensure they produce interesting results. Have a backup CSV ready in case a student’s file doesn’t upload correctly.</a:t>
            </a:r>
          </a:p>
        </p:txBody>
      </p:sp>
      <p:sp>
        <p:nvSpPr>
          <p:cNvPr id="8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r>
              <a:t>Session 2: “Research, Write, Create”</a:t>
            </a:r>
          </a:p>
        </p:txBody>
      </p:sp>
      <p:sp>
        <p:nvSpPr>
          <p:cNvPr id="88" name="Text 2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2: “Research, Write, Create”</a:t>
            </a:r>
          </a:p>
        </p:txBody>
      </p:sp>
      <p:sp>
        <p:nvSpPr>
          <p:cNvPr id="89" name="Text 2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685800" y="226060"/>
            <a:ext cx="35661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4617720" y="264160"/>
            <a:ext cx="40233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Instructor demo  •  50 min</a:t>
            </a:r>
          </a:p>
        </p:txBody>
      </p:sp>
      <p:sp>
        <p:nvSpPr>
          <p:cNvPr id="70" name="Shape 3"/>
          <p:cNvSpPr/>
          <p:nvPr/>
        </p:nvSpPr>
        <p:spPr>
          <a:xfrm>
            <a:off x="640079" y="1097280"/>
            <a:ext cx="7863842" cy="1005840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4"/>
          <p:cNvSpPr txBox="1"/>
          <p:nvPr/>
        </p:nvSpPr>
        <p:spPr>
          <a:xfrm>
            <a:off x="960119" y="1160779"/>
            <a:ext cx="7223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Image Generation + Client Brief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960119" y="1658619"/>
            <a:ext cx="7223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Part 1 — DALL-E Introduction (15 min): Instructor demos prompting with precision: style keywords, composition...</a:t>
            </a:r>
          </a:p>
        </p:txBody>
      </p:sp>
      <p:sp>
        <p:nvSpPr>
          <p:cNvPr id="73" name="Shape 6"/>
          <p:cNvSpPr/>
          <p:nvPr/>
        </p:nvSpPr>
        <p:spPr>
          <a:xfrm>
            <a:off x="640080" y="2423160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685800" y="2441194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1143000" y="2449575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Part 1 — DALL-E Introduction (15 min): Instructor demos prompting with precision: style keywords, composition instructions, iteration.</a:t>
            </a:r>
          </a:p>
        </p:txBody>
      </p:sp>
      <p:sp>
        <p:nvSpPr>
          <p:cNvPr id="76" name="Shape 9"/>
          <p:cNvSpPr/>
          <p:nvPr/>
        </p:nvSpPr>
        <p:spPr>
          <a:xfrm>
            <a:off x="640080" y="2898648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0"/>
          <p:cNvSpPr txBox="1"/>
          <p:nvPr/>
        </p:nvSpPr>
        <p:spPr>
          <a:xfrm>
            <a:off x="685800" y="2916682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1143000" y="2925063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Show 2–3 examples of how specificity changes output.</a:t>
            </a:r>
          </a:p>
        </p:txBody>
      </p:sp>
      <p:sp>
        <p:nvSpPr>
          <p:cNvPr id="79" name="Shape 12"/>
          <p:cNvSpPr/>
          <p:nvPr/>
        </p:nvSpPr>
        <p:spPr>
          <a:xfrm>
            <a:off x="640080" y="3374135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685800" y="3392169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1143000" y="3400551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Students generate their first image.</a:t>
            </a:r>
          </a:p>
        </p:txBody>
      </p:sp>
      <p:sp>
        <p:nvSpPr>
          <p:cNvPr id="82" name="Shape 15"/>
          <p:cNvSpPr/>
          <p:nvPr/>
        </p:nvSpPr>
        <p:spPr>
          <a:xfrm>
            <a:off x="640080" y="3849623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685800" y="3867657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1143000" y="3876039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85" name="Shape 18"/>
          <p:cNvSpPr/>
          <p:nvPr/>
        </p:nvSpPr>
        <p:spPr>
          <a:xfrm>
            <a:off x="640079" y="4434840"/>
            <a:ext cx="7863842" cy="365761"/>
          </a:xfrm>
          <a:prstGeom prst="rect">
            <a:avLst/>
          </a:prstGeom>
          <a:solidFill>
            <a:srgbClr val="F0F4F5"/>
          </a:solidFill>
          <a:ln w="12700">
            <a:miter lim="400000"/>
          </a:ln>
        </p:spPr>
        <p:txBody>
          <a:bodyPr lIns="45719" rIns="45719"/>
          <a:lstStyle/>
          <a:p>
            <a:r>
              <a:t>💡 Teacher tip: DALL-E demo = 8 min. First student-generated image = 7 min. Client brief: read + plan = 5 min. Generate 3 options with iteration = 20 min. Write ratio</a:t>
            </a:r>
          </a:p>
        </p:txBody>
      </p:sp>
      <p:sp>
        <p:nvSpPr>
          <p:cNvPr id="86" name="Text 19"/>
          <p:cNvSpPr txBox="1"/>
          <p:nvPr/>
        </p:nvSpPr>
        <p:spPr>
          <a:xfrm>
            <a:off x="960119" y="4464050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💡 Teacher tip: DALL-E demo = 8 min. First student-generated image = 7 min. Client brief: read + plan = 5 min. Generate 3 options with iteration = 20 min. Write ratio</a:t>
            </a:r>
          </a:p>
        </p:txBody>
      </p:sp>
      <p:sp>
        <p:nvSpPr>
          <p:cNvPr id="8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r>
              <a:t>Session 2: “Research, Write, Create”</a:t>
            </a:r>
          </a:p>
        </p:txBody>
      </p:sp>
      <p:sp>
        <p:nvSpPr>
          <p:cNvPr id="88" name="Text 2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2: “Research, Write, Create”</a:t>
            </a:r>
          </a:p>
        </p:txBody>
      </p:sp>
      <p:sp>
        <p:nvSpPr>
          <p:cNvPr id="89" name="Text 2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685800" y="226060"/>
            <a:ext cx="35661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4617720" y="264160"/>
            <a:ext cx="40233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Hands-on, individual  •  30 min</a:t>
            </a:r>
          </a:p>
        </p:txBody>
      </p:sp>
      <p:sp>
        <p:nvSpPr>
          <p:cNvPr id="70" name="Shape 3"/>
          <p:cNvSpPr/>
          <p:nvPr/>
        </p:nvSpPr>
        <p:spPr>
          <a:xfrm>
            <a:off x="640079" y="1097280"/>
            <a:ext cx="7863842" cy="1005840"/>
          </a:xfrm>
          <a:prstGeom prst="rect">
            <a:avLst/>
          </a:prstGeom>
          <a:solidFill>
            <a:srgbClr val="2435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4"/>
          <p:cNvSpPr txBox="1"/>
          <p:nvPr/>
        </p:nvSpPr>
        <p:spPr>
          <a:xfrm>
            <a:off x="960119" y="1160779"/>
            <a:ext cx="7223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Presentation Builder</a:t>
            </a:r>
          </a:p>
        </p:txBody>
      </p:sp>
      <p:sp>
        <p:nvSpPr>
          <p:cNvPr id="72" name="Text 5"/>
          <p:cNvSpPr txBox="1"/>
          <p:nvPr/>
        </p:nvSpPr>
        <p:spPr>
          <a:xfrm>
            <a:off x="960119" y="1658619"/>
            <a:ext cx="7223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Build a 10-slide presentation in 30 minutes using Gamma. Topic: pitch your current employer or school on adopting one...</a:t>
            </a:r>
          </a:p>
        </p:txBody>
      </p:sp>
      <p:sp>
        <p:nvSpPr>
          <p:cNvPr id="73" name="Shape 6"/>
          <p:cNvSpPr/>
          <p:nvPr/>
        </p:nvSpPr>
        <p:spPr>
          <a:xfrm>
            <a:off x="640080" y="2423160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685800" y="2441194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 8"/>
          <p:cNvSpPr txBox="1"/>
          <p:nvPr/>
        </p:nvSpPr>
        <p:spPr>
          <a:xfrm>
            <a:off x="1143000" y="2449575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Build a 10-slide presentation in 30 minutes using Gamma.</a:t>
            </a:r>
          </a:p>
        </p:txBody>
      </p:sp>
      <p:sp>
        <p:nvSpPr>
          <p:cNvPr id="76" name="Shape 9"/>
          <p:cNvSpPr/>
          <p:nvPr/>
        </p:nvSpPr>
        <p:spPr>
          <a:xfrm>
            <a:off x="640080" y="2898648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0"/>
          <p:cNvSpPr txBox="1"/>
          <p:nvPr/>
        </p:nvSpPr>
        <p:spPr>
          <a:xfrm>
            <a:off x="685800" y="2916682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" name="Text 11"/>
          <p:cNvSpPr txBox="1"/>
          <p:nvPr/>
        </p:nvSpPr>
        <p:spPr>
          <a:xfrm>
            <a:off x="1143000" y="2925063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Topic: pitch your current employer or school on adopting one AI tool.</a:t>
            </a:r>
          </a:p>
        </p:txBody>
      </p:sp>
      <p:sp>
        <p:nvSpPr>
          <p:cNvPr id="79" name="Shape 12"/>
          <p:cNvSpPr/>
          <p:nvPr/>
        </p:nvSpPr>
        <p:spPr>
          <a:xfrm>
            <a:off x="640080" y="3374135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685800" y="3392169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1143000" y="3400551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Gamma’s AI-assisted generation makes 10 slides in 30 minutes feasible, but set expectations: the first draft is AI-generated, and students should spend at least 10 minutes customizing and improving it.</a:t>
            </a:r>
          </a:p>
        </p:txBody>
      </p:sp>
      <p:sp>
        <p:nvSpPr>
          <p:cNvPr id="82" name="Shape 15"/>
          <p:cNvSpPr/>
          <p:nvPr/>
        </p:nvSpPr>
        <p:spPr>
          <a:xfrm>
            <a:off x="640080" y="3849623"/>
            <a:ext cx="292609" cy="292609"/>
          </a:xfrm>
          <a:prstGeom prst="ellipse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685800" y="3867657"/>
            <a:ext cx="20116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1143000" y="3876039"/>
            <a:ext cx="72237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F2F2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/>
            </a:r>
          </a:p>
        </p:txBody>
      </p:sp>
      <p:sp>
        <p:nvSpPr>
          <p:cNvPr id="85" name="Shape 18"/>
          <p:cNvSpPr/>
          <p:nvPr/>
        </p:nvSpPr>
        <p:spPr>
          <a:xfrm>
            <a:off x="640079" y="4434840"/>
            <a:ext cx="7863842" cy="365761"/>
          </a:xfrm>
          <a:prstGeom prst="rect">
            <a:avLst/>
          </a:prstGeom>
          <a:solidFill>
            <a:srgbClr val="F0F4F5"/>
          </a:solidFill>
          <a:ln w="12700">
            <a:miter lim="400000"/>
          </a:ln>
        </p:spPr>
        <p:txBody>
          <a:bodyPr lIns="45719" rIns="45719"/>
          <a:lstStyle/>
          <a:p>
            <a:r>
              <a:t>💡 Teacher tip: Gamma orientation (for new users) = 5 min. Generate initial deck with AI = 5 min. Customize, edit, and improve = 15 min. Save and note what worked = 5</a:t>
            </a:r>
          </a:p>
        </p:txBody>
      </p:sp>
      <p:sp>
        <p:nvSpPr>
          <p:cNvPr id="86" name="Text 19"/>
          <p:cNvSpPr txBox="1"/>
          <p:nvPr/>
        </p:nvSpPr>
        <p:spPr>
          <a:xfrm>
            <a:off x="960119" y="4464050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6E8D9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💡 Teacher tip: Gamma orientation (for new users) = 5 min. Generate initial deck with AI = 5 min. Customize, edit, and improve = 15 min. Save and note what worked = 5</a:t>
            </a:r>
          </a:p>
        </p:txBody>
      </p:sp>
      <p:sp>
        <p:nvSpPr>
          <p:cNvPr id="8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67875"/>
          </a:solidFill>
          <a:ln w="12700">
            <a:miter lim="400000"/>
          </a:ln>
        </p:spPr>
        <p:txBody>
          <a:bodyPr lIns="45719" rIns="45719"/>
          <a:lstStyle/>
          <a:p>
            <a:r>
              <a:t>Session 2: “Research, Write, Create”</a:t>
            </a:r>
          </a:p>
        </p:txBody>
      </p:sp>
      <p:sp>
        <p:nvSpPr>
          <p:cNvPr id="88" name="Text 21"/>
          <p:cNvSpPr txBox="1"/>
          <p:nvPr/>
        </p:nvSpPr>
        <p:spPr>
          <a:xfrm>
            <a:off x="685800" y="4902199"/>
            <a:ext cx="53949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Session 2: “Research, Write, Create”</a:t>
            </a:r>
          </a:p>
        </p:txBody>
      </p:sp>
      <p:sp>
        <p:nvSpPr>
          <p:cNvPr id="89" name="Text 22"/>
          <p:cNvSpPr txBox="1"/>
          <p:nvPr/>
        </p:nvSpPr>
        <p:spPr>
          <a:xfrm>
            <a:off x="7360919" y="4902199"/>
            <a:ext cx="1280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ALC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