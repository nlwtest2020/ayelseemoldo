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43554"/>
        </a:solidFill>
      </p:bgPr>
    </p:bg>
    <p:spTree>
      <p:nvGrpSpPr>
        <p:cNvPr id="1" name=""/>
        <p:cNvGrpSpPr/>
        <p:nvPr/>
      </p:nvGrpSpPr>
      <p:grpSpPr>
        <a:xfrm>
          <a:off x="0" y="0"/>
          <a:ext cx="0" cy="0"/>
          <a:chOff x="0" y="0"/>
          <a:chExt cx="0" cy="0"/>
        </a:xfrm>
      </p:grpSpPr>
      <p:sp>
        <p:nvSpPr>
          <p:cNvPr id="20" name="Shape"/>
          <p:cNvSpPr/>
          <p:nvPr/>
        </p:nvSpPr>
        <p:spPr>
          <a:xfrm>
            <a:off x="-787400" y="1891980"/>
            <a:ext cx="9890760" cy="3297072"/>
          </a:xfrm>
          <a:custGeom>
            <a:avLst/>
            <a:gdLst/>
            <a:ahLst/>
            <a:cxnLst>
              <a:cxn ang="0">
                <a:pos x="wd2" y="hd2"/>
              </a:cxn>
              <a:cxn ang="5400000">
                <a:pos x="wd2" y="hd2"/>
              </a:cxn>
              <a:cxn ang="10800000">
                <a:pos x="wd2" y="hd2"/>
              </a:cxn>
              <a:cxn ang="16200000">
                <a:pos x="wd2" y="hd2"/>
              </a:cxn>
            </a:cxnLst>
            <a:rect l="0" t="0" r="r" b="b"/>
            <a:pathLst>
              <a:path w="21600" h="21355" fill="norm" stroke="1" extrusionOk="0">
                <a:moveTo>
                  <a:pt x="0" y="21335"/>
                </a:moveTo>
                <a:lnTo>
                  <a:pt x="4588" y="21355"/>
                </a:lnTo>
                <a:cubicBezTo>
                  <a:pt x="6886" y="16099"/>
                  <a:pt x="9456" y="11518"/>
                  <a:pt x="12239" y="7716"/>
                </a:cubicBezTo>
                <a:cubicBezTo>
                  <a:pt x="13679" y="5748"/>
                  <a:pt x="15173" y="3997"/>
                  <a:pt x="16753" y="2773"/>
                </a:cubicBezTo>
                <a:cubicBezTo>
                  <a:pt x="18315" y="1563"/>
                  <a:pt x="19948" y="881"/>
                  <a:pt x="21600" y="752"/>
                </a:cubicBezTo>
                <a:cubicBezTo>
                  <a:pt x="19679" y="-172"/>
                  <a:pt x="17699" y="-245"/>
                  <a:pt x="15766" y="536"/>
                </a:cubicBezTo>
                <a:cubicBezTo>
                  <a:pt x="12681" y="1782"/>
                  <a:pt x="9885" y="5061"/>
                  <a:pt x="7276" y="8797"/>
                </a:cubicBezTo>
                <a:cubicBezTo>
                  <a:pt x="4722" y="12456"/>
                  <a:pt x="2286" y="16641"/>
                  <a:pt x="0" y="21335"/>
                </a:cubicBezTo>
                <a:close/>
              </a:path>
            </a:pathLst>
          </a:custGeom>
          <a:solidFill>
            <a:srgbClr val="92222C"/>
          </a:solidFill>
          <a:ln w="12700">
            <a:miter lim="400000"/>
          </a:ln>
        </p:spPr>
        <p:txBody>
          <a:bodyPr lIns="50800" tIns="50800" rIns="50800" bIns="50800" anchor="ctr"/>
          <a:lstStyle/>
          <a:p>
            <a:pPr defTabSz="2438338">
              <a:lnSpc>
                <a:spcPct val="90000"/>
              </a:lnSpc>
              <a:spcBef>
                <a:spcPts val="4500"/>
              </a:spcBef>
              <a:defRPr sz="4800">
                <a:latin typeface="Helvetica Neue"/>
                <a:ea typeface="Helvetica Neue"/>
                <a:cs typeface="Helvetica Neue"/>
                <a:sym typeface="Helvetica Neue"/>
              </a:defRPr>
            </a:pPr>
          </a:p>
        </p:txBody>
      </p:sp>
      <p:sp>
        <p:nvSpPr>
          <p:cNvPr id="21" name="Text 1"/>
          <p:cNvSpPr txBox="1"/>
          <p:nvPr/>
        </p:nvSpPr>
        <p:spPr>
          <a:xfrm>
            <a:off x="254000" y="2385060"/>
            <a:ext cx="5074599" cy="123825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0000"/>
              </a:lnSpc>
              <a:defRPr b="1" sz="3600">
                <a:solidFill>
                  <a:srgbClr val="FFFFFF"/>
                </a:solidFill>
                <a:latin typeface="Outfit"/>
                <a:ea typeface="Outfit"/>
                <a:cs typeface="Outfit"/>
                <a:sym typeface="Outfit"/>
              </a:defRPr>
            </a:pPr>
            <a:r>
              <a:t>AI &amp; Digital Workflows</a:t>
            </a:r>
          </a:p>
          <a:p>
            <a:pPr>
              <a:lnSpc>
                <a:spcPct val="110000"/>
              </a:lnSpc>
              <a:defRPr b="1" sz="3600">
                <a:solidFill>
                  <a:srgbClr val="FFFFFF"/>
                </a:solidFill>
                <a:latin typeface="Outfit"/>
                <a:ea typeface="Outfit"/>
                <a:cs typeface="Outfit"/>
                <a:sym typeface="Outfit"/>
              </a:defRPr>
            </a:pPr>
            <a:r>
              <a:t>Bootcamp</a:t>
            </a:r>
          </a:p>
        </p:txBody>
      </p:sp>
      <p:sp>
        <p:nvSpPr>
          <p:cNvPr id="22" name="Text 2"/>
          <p:cNvSpPr txBox="1"/>
          <p:nvPr/>
        </p:nvSpPr>
        <p:spPr>
          <a:xfrm>
            <a:off x="254000" y="3831589"/>
            <a:ext cx="722376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400">
                <a:solidFill>
                  <a:srgbClr val="FFFFFF"/>
                </a:solidFill>
                <a:latin typeface="Outfit"/>
                <a:ea typeface="Outfit"/>
                <a:cs typeface="Outfit"/>
                <a:sym typeface="Outfit"/>
              </a:defRPr>
            </a:lvl1pPr>
          </a:lstStyle>
          <a:p>
            <a:pPr/>
            <a:r>
              <a:t>Session 3: “Automate &amp; Strategize”  |  7 Contact Hours</a:t>
            </a:r>
          </a:p>
        </p:txBody>
      </p:sp>
      <p:sp>
        <p:nvSpPr>
          <p:cNvPr id="23" name="Shape 3"/>
          <p:cNvSpPr/>
          <p:nvPr/>
        </p:nvSpPr>
        <p:spPr>
          <a:xfrm>
            <a:off x="0" y="4800600"/>
            <a:ext cx="9144000" cy="342900"/>
          </a:xfrm>
          <a:prstGeom prst="rect">
            <a:avLst/>
          </a:prstGeom>
          <a:solidFill>
            <a:srgbClr val="367875"/>
          </a:solidFill>
          <a:ln w="12700">
            <a:miter lim="400000"/>
          </a:ln>
        </p:spPr>
        <p:txBody>
          <a:bodyPr lIns="45719" rIns="45719"/>
          <a:lstStyle/>
          <a:p>
            <a:pPr/>
          </a:p>
        </p:txBody>
      </p:sp>
      <p:sp>
        <p:nvSpPr>
          <p:cNvPr id="24" name="Text 4"/>
          <p:cNvSpPr txBox="1"/>
          <p:nvPr/>
        </p:nvSpPr>
        <p:spPr>
          <a:xfrm>
            <a:off x="685800" y="4850129"/>
            <a:ext cx="7223760"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300" sz="1000">
                <a:solidFill>
                  <a:srgbClr val="FFFFFF"/>
                </a:solidFill>
                <a:latin typeface="Outfit"/>
                <a:ea typeface="Outfit"/>
                <a:cs typeface="Outfit"/>
                <a:sym typeface="Outfit"/>
              </a:defRPr>
            </a:lvl1pPr>
          </a:lstStyle>
          <a:p>
            <a:pPr/>
            <a:r>
              <a:t>AMERICAN LANGUAGE CENTERS</a:t>
            </a:r>
          </a:p>
        </p:txBody>
      </p:sp>
      <p:pic>
        <p:nvPicPr>
          <p:cNvPr id="25" name="ALC logo.png" descr="ALC logo.png"/>
          <p:cNvPicPr>
            <a:picLocks noChangeAspect="1"/>
          </p:cNvPicPr>
          <p:nvPr/>
        </p:nvPicPr>
        <p:blipFill>
          <a:blip r:embed="rId2">
            <a:alphaModFix amt="23325"/>
            <a:extLst/>
          </a:blip>
          <a:stretch>
            <a:fillRect/>
          </a:stretch>
        </p:blipFill>
        <p:spPr>
          <a:xfrm>
            <a:off x="-107129" y="385925"/>
            <a:ext cx="3913429" cy="2608953"/>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852B2F"/>
        </a:solidFill>
      </p:bgPr>
    </p:bg>
    <p:spTree>
      <p:nvGrpSpPr>
        <p:cNvPr id="1" name=""/>
        <p:cNvGrpSpPr/>
        <p:nvPr/>
      </p:nvGrpSpPr>
      <p:grpSpPr>
        <a:xfrm>
          <a:off x="0" y="0"/>
          <a:ext cx="0" cy="0"/>
          <a:chOff x="0" y="0"/>
          <a:chExt cx="0" cy="0"/>
        </a:xfrm>
      </p:grpSpPr>
      <p:sp>
        <p:nvSpPr>
          <p:cNvPr id="27" name="Text 0"/>
          <p:cNvSpPr txBox="1"/>
          <p:nvPr/>
        </p:nvSpPr>
        <p:spPr>
          <a:xfrm>
            <a:off x="673100" y="621030"/>
            <a:ext cx="448056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400" sz="1400">
                <a:solidFill>
                  <a:srgbClr val="FFFFFF"/>
                </a:solidFill>
                <a:latin typeface="Outfit"/>
                <a:ea typeface="Outfit"/>
                <a:cs typeface="Outfit"/>
                <a:sym typeface="Outfit"/>
              </a:defRPr>
            </a:lvl1pPr>
          </a:lstStyle>
          <a:p>
            <a:pPr/>
            <a:r>
              <a:t>SESSION 03</a:t>
            </a:r>
          </a:p>
        </p:txBody>
      </p:sp>
      <p:sp>
        <p:nvSpPr>
          <p:cNvPr id="28" name="Text 2"/>
          <p:cNvSpPr txBox="1"/>
          <p:nvPr/>
        </p:nvSpPr>
        <p:spPr>
          <a:xfrm>
            <a:off x="673100" y="3136900"/>
            <a:ext cx="44805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FFFFFF"/>
                </a:solidFill>
                <a:latin typeface="Outfit"/>
                <a:ea typeface="Outfit"/>
                <a:cs typeface="Outfit"/>
                <a:sym typeface="Outfit"/>
              </a:defRPr>
            </a:lvl1pPr>
          </a:lstStyle>
          <a:p>
            <a:pPr/>
            <a:r>
              <a:t>Saturday, Weekend 2  |  10:00 AM – 5:45 PM</a:t>
            </a:r>
          </a:p>
        </p:txBody>
      </p:sp>
      <p:grpSp>
        <p:nvGrpSpPr>
          <p:cNvPr id="32" name="Group"/>
          <p:cNvGrpSpPr/>
          <p:nvPr/>
        </p:nvGrpSpPr>
        <p:grpSpPr>
          <a:xfrm>
            <a:off x="4318000" y="517388"/>
            <a:ext cx="4893608" cy="4108724"/>
            <a:chOff x="0" y="0"/>
            <a:chExt cx="4893607" cy="4108722"/>
          </a:xfrm>
        </p:grpSpPr>
        <p:sp>
          <p:nvSpPr>
            <p:cNvPr id="29" name="Shape"/>
            <p:cNvSpPr/>
            <p:nvPr/>
          </p:nvSpPr>
          <p:spPr>
            <a:xfrm>
              <a:off x="2917162" y="2278530"/>
              <a:ext cx="1681224" cy="18301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4152"/>
                  </a:moveTo>
                  <a:lnTo>
                    <a:pt x="8118" y="21600"/>
                  </a:lnTo>
                  <a:lnTo>
                    <a:pt x="21600" y="21354"/>
                  </a:lnTo>
                  <a:lnTo>
                    <a:pt x="10990" y="0"/>
                  </a:lnTo>
                  <a:cubicBezTo>
                    <a:pt x="9106" y="161"/>
                    <a:pt x="7257" y="563"/>
                    <a:pt x="5495" y="1195"/>
                  </a:cubicBezTo>
                  <a:cubicBezTo>
                    <a:pt x="3505" y="1908"/>
                    <a:pt x="1650" y="2907"/>
                    <a:pt x="0" y="4152"/>
                  </a:cubicBezTo>
                  <a:close/>
                </a:path>
              </a:pathLst>
            </a:custGeom>
            <a:solidFill>
              <a:srgbClr val="212E49"/>
            </a:solidFill>
            <a:ln w="12700" cap="flat">
              <a:noFill/>
              <a:miter lim="400000"/>
            </a:ln>
            <a:effectLst/>
          </p:spPr>
          <p:txBody>
            <a:bodyPr wrap="square" lIns="50800" tIns="50800" rIns="50800" bIns="50800" numCol="1" anchor="ctr">
              <a:noAutofit/>
            </a:bodyPr>
            <a:lstStyle/>
            <a:p>
              <a:pPr defTabSz="2438338">
                <a:lnSpc>
                  <a:spcPct val="90000"/>
                </a:lnSpc>
                <a:spcBef>
                  <a:spcPts val="4500"/>
                </a:spcBef>
                <a:defRPr sz="4800">
                  <a:latin typeface="Helvetica Neue"/>
                  <a:ea typeface="Helvetica Neue"/>
                  <a:cs typeface="Helvetica Neue"/>
                  <a:sym typeface="Helvetica Neue"/>
                </a:defRPr>
              </a:pPr>
            </a:p>
          </p:txBody>
        </p:sp>
        <p:sp>
          <p:nvSpPr>
            <p:cNvPr id="30" name="Shape"/>
            <p:cNvSpPr/>
            <p:nvPr/>
          </p:nvSpPr>
          <p:spPr>
            <a:xfrm>
              <a:off x="125900" y="0"/>
              <a:ext cx="3480352" cy="38007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1458" y="20419"/>
                    <a:pt x="2979" y="19305"/>
                    <a:pt x="4557" y="18262"/>
                  </a:cubicBezTo>
                  <a:cubicBezTo>
                    <a:pt x="6038" y="17283"/>
                    <a:pt x="7568" y="16368"/>
                    <a:pt x="9142" y="15519"/>
                  </a:cubicBezTo>
                  <a:lnTo>
                    <a:pt x="13288" y="6462"/>
                  </a:lnTo>
                  <a:lnTo>
                    <a:pt x="16064" y="12325"/>
                  </a:lnTo>
                  <a:cubicBezTo>
                    <a:pt x="16934" y="11896"/>
                    <a:pt x="17852" y="11555"/>
                    <a:pt x="18803" y="11308"/>
                  </a:cubicBezTo>
                  <a:cubicBezTo>
                    <a:pt x="19716" y="11072"/>
                    <a:pt x="20653" y="10923"/>
                    <a:pt x="21600" y="10865"/>
                  </a:cubicBezTo>
                  <a:lnTo>
                    <a:pt x="16471" y="154"/>
                  </a:lnTo>
                  <a:lnTo>
                    <a:pt x="10278" y="0"/>
                  </a:lnTo>
                  <a:lnTo>
                    <a:pt x="0" y="21600"/>
                  </a:lnTo>
                  <a:close/>
                </a:path>
              </a:pathLst>
            </a:custGeom>
            <a:solidFill>
              <a:srgbClr val="212E49"/>
            </a:solidFill>
            <a:ln w="12700" cap="flat">
              <a:noFill/>
              <a:miter lim="400000"/>
            </a:ln>
            <a:effectLst/>
          </p:spPr>
          <p:txBody>
            <a:bodyPr wrap="square" lIns="50800" tIns="50800" rIns="50800" bIns="50800" numCol="1" anchor="ctr">
              <a:noAutofit/>
            </a:bodyPr>
            <a:lstStyle/>
            <a:p>
              <a:pPr defTabSz="2438338">
                <a:lnSpc>
                  <a:spcPct val="90000"/>
                </a:lnSpc>
                <a:spcBef>
                  <a:spcPts val="4500"/>
                </a:spcBef>
                <a:defRPr sz="4800">
                  <a:latin typeface="Helvetica Neue"/>
                  <a:ea typeface="Helvetica Neue"/>
                  <a:cs typeface="Helvetica Neue"/>
                  <a:sym typeface="Helvetica Neue"/>
                </a:defRPr>
              </a:pPr>
            </a:p>
          </p:txBody>
        </p:sp>
        <p:sp>
          <p:nvSpPr>
            <p:cNvPr id="31" name="Shape"/>
            <p:cNvSpPr/>
            <p:nvPr/>
          </p:nvSpPr>
          <p:spPr>
            <a:xfrm>
              <a:off x="0" y="2001950"/>
              <a:ext cx="4893608" cy="2092645"/>
            </a:xfrm>
            <a:custGeom>
              <a:avLst/>
              <a:gdLst/>
              <a:ahLst/>
              <a:cxnLst>
                <a:cxn ang="0">
                  <a:pos x="wd2" y="hd2"/>
                </a:cxn>
                <a:cxn ang="5400000">
                  <a:pos x="wd2" y="hd2"/>
                </a:cxn>
                <a:cxn ang="10800000">
                  <a:pos x="wd2" y="hd2"/>
                </a:cxn>
                <a:cxn ang="16200000">
                  <a:pos x="wd2" y="hd2"/>
                </a:cxn>
              </a:cxnLst>
              <a:rect l="0" t="0" r="r" b="b"/>
              <a:pathLst>
                <a:path w="21600" h="21355" fill="norm" stroke="1" extrusionOk="0">
                  <a:moveTo>
                    <a:pt x="0" y="21335"/>
                  </a:moveTo>
                  <a:lnTo>
                    <a:pt x="4588" y="21355"/>
                  </a:lnTo>
                  <a:cubicBezTo>
                    <a:pt x="6886" y="16099"/>
                    <a:pt x="9456" y="11518"/>
                    <a:pt x="12239" y="7716"/>
                  </a:cubicBezTo>
                  <a:cubicBezTo>
                    <a:pt x="13679" y="5748"/>
                    <a:pt x="15173" y="3997"/>
                    <a:pt x="16753" y="2773"/>
                  </a:cubicBezTo>
                  <a:cubicBezTo>
                    <a:pt x="18315" y="1563"/>
                    <a:pt x="19948" y="881"/>
                    <a:pt x="21600" y="752"/>
                  </a:cubicBezTo>
                  <a:cubicBezTo>
                    <a:pt x="19679" y="-172"/>
                    <a:pt x="17699" y="-245"/>
                    <a:pt x="15766" y="536"/>
                  </a:cubicBezTo>
                  <a:cubicBezTo>
                    <a:pt x="12681" y="1782"/>
                    <a:pt x="9885" y="5061"/>
                    <a:pt x="7276" y="8797"/>
                  </a:cubicBezTo>
                  <a:cubicBezTo>
                    <a:pt x="4722" y="12456"/>
                    <a:pt x="2286" y="16641"/>
                    <a:pt x="0" y="21335"/>
                  </a:cubicBezTo>
                  <a:close/>
                </a:path>
              </a:pathLst>
            </a:custGeom>
            <a:solidFill>
              <a:srgbClr val="212E49"/>
            </a:solidFill>
            <a:ln w="12700" cap="flat">
              <a:noFill/>
              <a:miter lim="400000"/>
            </a:ln>
            <a:effectLst/>
          </p:spPr>
          <p:txBody>
            <a:bodyPr wrap="square" lIns="50800" tIns="50800" rIns="50800" bIns="50800" numCol="1" anchor="ctr">
              <a:noAutofit/>
            </a:bodyPr>
            <a:lstStyle/>
            <a:p>
              <a:pPr defTabSz="2438338">
                <a:lnSpc>
                  <a:spcPct val="90000"/>
                </a:lnSpc>
                <a:spcBef>
                  <a:spcPts val="4500"/>
                </a:spcBef>
                <a:defRPr sz="4800">
                  <a:latin typeface="Helvetica Neue"/>
                  <a:ea typeface="Helvetica Neue"/>
                  <a:cs typeface="Helvetica Neue"/>
                  <a:sym typeface="Helvetica Neue"/>
                </a:defRPr>
              </a:pPr>
            </a:p>
          </p:txBody>
        </p:sp>
      </p:grpSp>
      <p:sp>
        <p:nvSpPr>
          <p:cNvPr id="33" name="Text 1"/>
          <p:cNvSpPr txBox="1"/>
          <p:nvPr/>
        </p:nvSpPr>
        <p:spPr>
          <a:xfrm>
            <a:off x="673100" y="1160144"/>
            <a:ext cx="5394960" cy="15151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90000"/>
              </a:lnSpc>
              <a:defRPr b="1" sz="4900">
                <a:solidFill>
                  <a:srgbClr val="FFFFFF"/>
                </a:solidFill>
                <a:latin typeface="Outfit"/>
                <a:ea typeface="Outfit"/>
                <a:cs typeface="Outfit"/>
                <a:sym typeface="Outfit"/>
              </a:defRPr>
            </a:lvl1pPr>
          </a:lstStyle>
          <a:p>
            <a:pPr/>
            <a:r>
              <a:t>“AUTOMATE &amp; STRATEGIZE”</a:t>
            </a:r>
          </a:p>
        </p:txBody>
      </p:sp>
      <p:sp>
        <p:nvSpPr>
          <p:cNvPr id="34" name="Rectangle"/>
          <p:cNvSpPr/>
          <p:nvPr/>
        </p:nvSpPr>
        <p:spPr>
          <a:xfrm>
            <a:off x="698500" y="2831018"/>
            <a:ext cx="3653929" cy="150119"/>
          </a:xfrm>
          <a:prstGeom prst="rect">
            <a:avLst/>
          </a:prstGeom>
          <a:solidFill>
            <a:srgbClr val="367875"/>
          </a:solidFill>
          <a:ln w="12700">
            <a:miter lim="400000"/>
          </a:ln>
        </p:spPr>
        <p:txBody>
          <a:bodyPr lIns="45719" rIns="45719" anchor="ctr"/>
          <a:lstStyle/>
          <a:p>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37" name="Text 1"/>
          <p:cNvSpPr txBox="1"/>
          <p:nvPr/>
        </p:nvSpPr>
        <p:spPr>
          <a:xfrm>
            <a:off x="685800" y="226060"/>
            <a:ext cx="72237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LEARNING OBJECTIVES</a:t>
            </a:r>
          </a:p>
        </p:txBody>
      </p:sp>
      <p:sp>
        <p:nvSpPr>
          <p:cNvPr id="38" name="Text 2"/>
          <p:cNvSpPr txBox="1"/>
          <p:nvPr/>
        </p:nvSpPr>
        <p:spPr>
          <a:xfrm>
            <a:off x="640080" y="1188719"/>
            <a:ext cx="36576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852B2F"/>
                </a:solidFill>
                <a:latin typeface="Outfit"/>
                <a:ea typeface="Outfit"/>
                <a:cs typeface="Outfit"/>
                <a:sym typeface="Outfit"/>
              </a:defRPr>
            </a:lvl1pPr>
          </a:lstStyle>
          <a:p>
            <a:pPr/>
            <a:r>
              <a:t>▸</a:t>
            </a:r>
          </a:p>
        </p:txBody>
      </p:sp>
      <p:sp>
        <p:nvSpPr>
          <p:cNvPr id="39" name="Text 3"/>
          <p:cNvSpPr txBox="1"/>
          <p:nvPr/>
        </p:nvSpPr>
        <p:spPr>
          <a:xfrm>
            <a:off x="1097280" y="1188719"/>
            <a:ext cx="7223760"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F2F2F"/>
                </a:solidFill>
                <a:latin typeface="Outfit"/>
                <a:ea typeface="Outfit"/>
                <a:cs typeface="Outfit"/>
                <a:sym typeface="Outfit"/>
              </a:defRPr>
            </a:lvl1pPr>
          </a:lstStyle>
          <a:p>
            <a:pPr/>
            <a:r>
              <a:t>Map their personal workflow and identify automation opportunities</a:t>
            </a:r>
          </a:p>
        </p:txBody>
      </p:sp>
      <p:sp>
        <p:nvSpPr>
          <p:cNvPr id="40" name="Text 4"/>
          <p:cNvSpPr txBox="1"/>
          <p:nvPr/>
        </p:nvSpPr>
        <p:spPr>
          <a:xfrm>
            <a:off x="640080" y="2057400"/>
            <a:ext cx="365761"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852B2F"/>
                </a:solidFill>
                <a:latin typeface="Outfit"/>
                <a:ea typeface="Outfit"/>
                <a:cs typeface="Outfit"/>
                <a:sym typeface="Outfit"/>
              </a:defRPr>
            </a:lvl1pPr>
          </a:lstStyle>
          <a:p>
            <a:pPr/>
            <a:r>
              <a:t>▸</a:t>
            </a:r>
          </a:p>
        </p:txBody>
      </p:sp>
      <p:sp>
        <p:nvSpPr>
          <p:cNvPr id="41" name="Text 5"/>
          <p:cNvSpPr txBox="1"/>
          <p:nvPr/>
        </p:nvSpPr>
        <p:spPr>
          <a:xfrm>
            <a:off x="1097280" y="2057400"/>
            <a:ext cx="7223760" cy="3327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F2F2F"/>
                </a:solidFill>
                <a:latin typeface="Outfit"/>
                <a:ea typeface="Outfit"/>
                <a:cs typeface="Outfit"/>
                <a:sym typeface="Outfit"/>
              </a:defRPr>
            </a:lvl1pPr>
          </a:lstStyle>
          <a:p>
            <a:pPr/>
            <a:r>
              <a:t>Build a working automation using Make or Zapier</a:t>
            </a:r>
          </a:p>
        </p:txBody>
      </p:sp>
      <p:sp>
        <p:nvSpPr>
          <p:cNvPr id="42" name="Text 6"/>
          <p:cNvSpPr txBox="1"/>
          <p:nvPr/>
        </p:nvSpPr>
        <p:spPr>
          <a:xfrm>
            <a:off x="640080" y="2926079"/>
            <a:ext cx="36576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852B2F"/>
                </a:solidFill>
                <a:latin typeface="Outfit"/>
                <a:ea typeface="Outfit"/>
                <a:cs typeface="Outfit"/>
                <a:sym typeface="Outfit"/>
              </a:defRPr>
            </a:lvl1pPr>
          </a:lstStyle>
          <a:p>
            <a:pPr/>
            <a:r>
              <a:t>▸</a:t>
            </a:r>
          </a:p>
        </p:txBody>
      </p:sp>
      <p:sp>
        <p:nvSpPr>
          <p:cNvPr id="43" name="Text 7"/>
          <p:cNvSpPr txBox="1"/>
          <p:nvPr/>
        </p:nvSpPr>
        <p:spPr>
          <a:xfrm>
            <a:off x="1097280" y="2926079"/>
            <a:ext cx="7223760"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F2F2F"/>
                </a:solidFill>
                <a:latin typeface="Outfit"/>
                <a:ea typeface="Outfit"/>
                <a:cs typeface="Outfit"/>
                <a:sym typeface="Outfit"/>
              </a:defRPr>
            </a:lvl1pPr>
          </a:lstStyle>
          <a:p>
            <a:pPr/>
            <a:r>
              <a:t>Explain agentic AI and MCP at a conceptual level to a non-technical person</a:t>
            </a:r>
          </a:p>
        </p:txBody>
      </p:sp>
      <p:sp>
        <p:nvSpPr>
          <p:cNvPr id="44" name="Text 8"/>
          <p:cNvSpPr txBox="1"/>
          <p:nvPr/>
        </p:nvSpPr>
        <p:spPr>
          <a:xfrm>
            <a:off x="640080" y="3794759"/>
            <a:ext cx="36576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852B2F"/>
                </a:solidFill>
                <a:latin typeface="Outfit"/>
                <a:ea typeface="Outfit"/>
                <a:cs typeface="Outfit"/>
                <a:sym typeface="Outfit"/>
              </a:defRPr>
            </a:lvl1pPr>
          </a:lstStyle>
          <a:p>
            <a:pPr/>
            <a:r>
              <a:t>▸</a:t>
            </a:r>
          </a:p>
        </p:txBody>
      </p:sp>
      <p:sp>
        <p:nvSpPr>
          <p:cNvPr id="45" name="Text 9"/>
          <p:cNvSpPr txBox="1"/>
          <p:nvPr/>
        </p:nvSpPr>
        <p:spPr>
          <a:xfrm>
            <a:off x="1097280" y="3794759"/>
            <a:ext cx="7223760"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F2F2F"/>
                </a:solidFill>
                <a:latin typeface="Outfit"/>
                <a:ea typeface="Outfit"/>
                <a:cs typeface="Outfit"/>
                <a:sym typeface="Outfit"/>
              </a:defRPr>
            </a:lvl1pPr>
          </a:lstStyle>
          <a:p>
            <a:pPr/>
            <a:r>
              <a:t>Analyze job postings for AI-replaceable vs. human-essential tasks</a:t>
            </a:r>
          </a:p>
        </p:txBody>
      </p:sp>
      <p:sp>
        <p:nvSpPr>
          <p:cNvPr id="46" name="Shape 10"/>
          <p:cNvSpPr/>
          <p:nvPr/>
        </p:nvSpPr>
        <p:spPr>
          <a:xfrm>
            <a:off x="0" y="4892040"/>
            <a:ext cx="9144000" cy="251460"/>
          </a:xfrm>
          <a:prstGeom prst="rect">
            <a:avLst/>
          </a:prstGeom>
          <a:solidFill>
            <a:srgbClr val="367875"/>
          </a:solidFill>
          <a:ln w="12700">
            <a:miter lim="400000"/>
          </a:ln>
        </p:spPr>
        <p:txBody>
          <a:bodyPr lIns="45719" rIns="45719"/>
          <a:lstStyle/>
          <a:p>
            <a:pPr/>
          </a:p>
        </p:txBody>
      </p:sp>
      <p:sp>
        <p:nvSpPr>
          <p:cNvPr id="47" name="Text 1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3: “Automate &amp; Strategize”</a:t>
            </a:r>
          </a:p>
        </p:txBody>
      </p:sp>
      <p:sp>
        <p:nvSpPr>
          <p:cNvPr id="48" name="Text 1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51" name="Text 1"/>
          <p:cNvSpPr txBox="1"/>
          <p:nvPr/>
        </p:nvSpPr>
        <p:spPr>
          <a:xfrm>
            <a:off x="685800" y="226060"/>
            <a:ext cx="72237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KEY VOCABULARY</a:t>
            </a:r>
          </a:p>
        </p:txBody>
      </p:sp>
      <p:sp>
        <p:nvSpPr>
          <p:cNvPr id="52" name="Text 2"/>
          <p:cNvSpPr txBox="1"/>
          <p:nvPr/>
        </p:nvSpPr>
        <p:spPr>
          <a:xfrm>
            <a:off x="685800" y="1083310"/>
            <a:ext cx="3566160"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367875"/>
                </a:solidFill>
                <a:latin typeface="Outfit"/>
                <a:ea typeface="Outfit"/>
                <a:cs typeface="Outfit"/>
                <a:sym typeface="Outfit"/>
              </a:defRPr>
            </a:lvl1pPr>
          </a:lstStyle>
          <a:p>
            <a:pPr/>
            <a:r>
              <a:t>TERMS</a:t>
            </a:r>
          </a:p>
        </p:txBody>
      </p:sp>
      <p:sp>
        <p:nvSpPr>
          <p:cNvPr id="53" name="Text 3"/>
          <p:cNvSpPr txBox="1"/>
          <p:nvPr/>
        </p:nvSpPr>
        <p:spPr>
          <a:xfrm>
            <a:off x="685800" y="1463039"/>
            <a:ext cx="3566160"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500">
                <a:solidFill>
                  <a:srgbClr val="243554"/>
                </a:solidFill>
                <a:latin typeface="Outfit"/>
                <a:ea typeface="Outfit"/>
                <a:cs typeface="Outfit"/>
                <a:sym typeface="Outfit"/>
              </a:defRPr>
            </a:pPr>
            <a:r>
              <a:t>trigger</a:t>
            </a:r>
          </a:p>
          <a:p>
            <a:pPr>
              <a:defRPr sz="1300">
                <a:solidFill>
                  <a:srgbClr val="2F2F2F"/>
                </a:solidFill>
                <a:latin typeface="Outfit"/>
                <a:ea typeface="Outfit"/>
                <a:cs typeface="Outfit"/>
                <a:sym typeface="Outfit"/>
              </a:defRPr>
            </a:pPr>
            <a:r>
              <a:t>Event that starts an automation</a:t>
            </a:r>
          </a:p>
        </p:txBody>
      </p:sp>
      <p:sp>
        <p:nvSpPr>
          <p:cNvPr id="54" name="Text 4"/>
          <p:cNvSpPr txBox="1"/>
          <p:nvPr/>
        </p:nvSpPr>
        <p:spPr>
          <a:xfrm>
            <a:off x="685800" y="2240279"/>
            <a:ext cx="3566160"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500">
                <a:solidFill>
                  <a:srgbClr val="243554"/>
                </a:solidFill>
                <a:latin typeface="Outfit"/>
                <a:ea typeface="Outfit"/>
                <a:cs typeface="Outfit"/>
                <a:sym typeface="Outfit"/>
              </a:defRPr>
            </a:pPr>
            <a:r>
              <a:t>workflow automation</a:t>
            </a:r>
          </a:p>
          <a:p>
            <a:pPr>
              <a:defRPr sz="1300">
                <a:solidFill>
                  <a:srgbClr val="2F2F2F"/>
                </a:solidFill>
                <a:latin typeface="Outfit"/>
                <a:ea typeface="Outfit"/>
                <a:cs typeface="Outfit"/>
                <a:sym typeface="Outfit"/>
              </a:defRPr>
            </a:pPr>
            <a:r>
              <a:t>Connecting tools for multi-step tasks</a:t>
            </a:r>
          </a:p>
        </p:txBody>
      </p:sp>
      <p:sp>
        <p:nvSpPr>
          <p:cNvPr id="55" name="Text 5"/>
          <p:cNvSpPr txBox="1"/>
          <p:nvPr/>
        </p:nvSpPr>
        <p:spPr>
          <a:xfrm>
            <a:off x="685800" y="3017520"/>
            <a:ext cx="3566160"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500">
                <a:solidFill>
                  <a:srgbClr val="243554"/>
                </a:solidFill>
                <a:latin typeface="Outfit"/>
                <a:ea typeface="Outfit"/>
                <a:cs typeface="Outfit"/>
                <a:sym typeface="Outfit"/>
              </a:defRPr>
            </a:pPr>
            <a:r>
              <a:t>AI agent</a:t>
            </a:r>
          </a:p>
          <a:p>
            <a:pPr>
              <a:defRPr sz="1300">
                <a:solidFill>
                  <a:srgbClr val="2F2F2F"/>
                </a:solidFill>
                <a:latin typeface="Outfit"/>
                <a:ea typeface="Outfit"/>
                <a:cs typeface="Outfit"/>
                <a:sym typeface="Outfit"/>
              </a:defRPr>
            </a:pPr>
            <a:r>
              <a:t>Program that plans, executes, iterates autonomously</a:t>
            </a:r>
          </a:p>
        </p:txBody>
      </p:sp>
      <p:sp>
        <p:nvSpPr>
          <p:cNvPr id="56" name="Text 6"/>
          <p:cNvSpPr txBox="1"/>
          <p:nvPr/>
        </p:nvSpPr>
        <p:spPr>
          <a:xfrm>
            <a:off x="685800" y="3794759"/>
            <a:ext cx="3566160"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500">
                <a:solidFill>
                  <a:srgbClr val="243554"/>
                </a:solidFill>
                <a:latin typeface="Outfit"/>
                <a:ea typeface="Outfit"/>
                <a:cs typeface="Outfit"/>
                <a:sym typeface="Outfit"/>
              </a:defRPr>
            </a:pPr>
            <a:r>
              <a:t>MCP</a:t>
            </a:r>
          </a:p>
          <a:p>
            <a:pPr>
              <a:defRPr sz="1300">
                <a:solidFill>
                  <a:srgbClr val="2F2F2F"/>
                </a:solidFill>
                <a:latin typeface="Outfit"/>
                <a:ea typeface="Outfit"/>
                <a:cs typeface="Outfit"/>
                <a:sym typeface="Outfit"/>
              </a:defRPr>
            </a:pPr>
            <a:r>
              <a:t>Model Context Protocol — AI-to-software bridge</a:t>
            </a:r>
          </a:p>
        </p:txBody>
      </p:sp>
      <p:sp>
        <p:nvSpPr>
          <p:cNvPr id="57" name="Shape 7"/>
          <p:cNvSpPr/>
          <p:nvPr/>
        </p:nvSpPr>
        <p:spPr>
          <a:xfrm flipH="1">
            <a:off x="4663440" y="1051560"/>
            <a:ext cx="1" cy="3474721"/>
          </a:xfrm>
          <a:prstGeom prst="line">
            <a:avLst/>
          </a:prstGeom>
          <a:ln w="12700">
            <a:solidFill>
              <a:srgbClr val="6E8D9A"/>
            </a:solidFill>
          </a:ln>
        </p:spPr>
        <p:txBody>
          <a:bodyPr lIns="45719" rIns="45719"/>
          <a:lstStyle/>
          <a:p>
            <a:r>
              <a:t>"When I receive an email with 'invoice' in the subject…"</a:t>
            </a:r>
          </a:p>
        </p:txBody>
      </p:sp>
      <p:sp>
        <p:nvSpPr>
          <p:cNvPr id="58" name="Text 8"/>
          <p:cNvSpPr txBox="1"/>
          <p:nvPr/>
        </p:nvSpPr>
        <p:spPr>
          <a:xfrm>
            <a:off x="5074920" y="1083310"/>
            <a:ext cx="3566160"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367875"/>
                </a:solidFill>
                <a:latin typeface="Outfit"/>
                <a:ea typeface="Outfit"/>
                <a:cs typeface="Outfit"/>
                <a:sym typeface="Outfit"/>
              </a:defRPr>
            </a:lvl1pPr>
          </a:lstStyle>
          <a:p>
            <a:pPr/>
            <a:r>
              <a:t>IN CONTEXT</a:t>
            </a:r>
          </a:p>
        </p:txBody>
      </p:sp>
      <p:sp>
        <p:nvSpPr>
          <p:cNvPr id="59" name="Text 9"/>
          <p:cNvSpPr txBox="1"/>
          <p:nvPr/>
        </p:nvSpPr>
        <p:spPr>
          <a:xfrm>
            <a:off x="5074920" y="1463039"/>
            <a:ext cx="3566160"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i="1" sz="1300">
                <a:solidFill>
                  <a:srgbClr val="2F2F2F"/>
                </a:solidFill>
                <a:latin typeface="Outfit"/>
                <a:ea typeface="Outfit"/>
                <a:cs typeface="Outfit"/>
                <a:sym typeface="Outfit"/>
              </a:defRPr>
            </a:lvl1pPr>
          </a:lstStyle>
          <a:p>
            <a:pPr/>
            <a:r>
              <a:t>"Email trigger → AI extraction → spreadsheet update."</a:t>
            </a:r>
          </a:p>
        </p:txBody>
      </p:sp>
      <p:sp>
        <p:nvSpPr>
          <p:cNvPr id="60" name="Text 10"/>
          <p:cNvSpPr txBox="1"/>
          <p:nvPr/>
        </p:nvSpPr>
        <p:spPr>
          <a:xfrm>
            <a:off x="5074920" y="2240279"/>
            <a:ext cx="3566160"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i="1" sz="1300">
                <a:solidFill>
                  <a:srgbClr val="2F2F2F"/>
                </a:solidFill>
                <a:latin typeface="Outfit"/>
                <a:ea typeface="Outfit"/>
                <a:cs typeface="Outfit"/>
                <a:sym typeface="Outfit"/>
              </a:defRPr>
            </a:lvl1pPr>
          </a:lstStyle>
          <a:p>
            <a:pPr/>
            <a:r>
              <a:t>"Reads your email, drafts replies, schedules follow-ups."</a:t>
            </a:r>
          </a:p>
        </p:txBody>
      </p:sp>
      <p:sp>
        <p:nvSpPr>
          <p:cNvPr id="61" name="Text 11"/>
          <p:cNvSpPr txBox="1"/>
          <p:nvPr/>
        </p:nvSpPr>
        <p:spPr>
          <a:xfrm>
            <a:off x="5074920" y="3017520"/>
            <a:ext cx="3566160"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i="1" sz="1300">
                <a:solidFill>
                  <a:srgbClr val="2F2F2F"/>
                </a:solidFill>
                <a:latin typeface="Outfit"/>
                <a:ea typeface="Outfit"/>
                <a:cs typeface="Outfit"/>
                <a:sym typeface="Outfit"/>
              </a:defRPr>
            </a:lvl1pPr>
          </a:lstStyle>
          <a:p>
            <a:pPr/>
            <a:r>
              <a:t>"Lets Claude talk to your calendar and documents."</a:t>
            </a:r>
          </a:p>
        </p:txBody>
      </p:sp>
      <p:sp>
        <p:nvSpPr>
          <p:cNvPr id="62" name="Text 12"/>
          <p:cNvSpPr txBox="1"/>
          <p:nvPr/>
        </p:nvSpPr>
        <p:spPr>
          <a:xfrm>
            <a:off x="5074920" y="3794759"/>
            <a:ext cx="3566160"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i="1" sz="1300">
                <a:solidFill>
                  <a:srgbClr val="2F2F2F"/>
                </a:solidFill>
                <a:latin typeface="Outfit"/>
                <a:ea typeface="Outfit"/>
                <a:cs typeface="Outfit"/>
                <a:sym typeface="Outfit"/>
              </a:defRPr>
            </a:lvl1pPr>
          </a:lstStyle>
          <a:p>
            <a:pPr/>
            <a:r>
              <a:t/>
            </a:r>
          </a:p>
        </p:txBody>
      </p:sp>
      <p:sp>
        <p:nvSpPr>
          <p:cNvPr id="63" name="Shape 13"/>
          <p:cNvSpPr/>
          <p:nvPr/>
        </p:nvSpPr>
        <p:spPr>
          <a:xfrm>
            <a:off x="0" y="4892040"/>
            <a:ext cx="9144000" cy="251460"/>
          </a:xfrm>
          <a:prstGeom prst="rect">
            <a:avLst/>
          </a:prstGeom>
          <a:solidFill>
            <a:srgbClr val="367875"/>
          </a:solidFill>
          <a:ln w="12700">
            <a:miter lim="400000"/>
          </a:ln>
        </p:spPr>
        <p:txBody>
          <a:bodyPr lIns="45719" rIns="45719"/>
          <a:lstStyle/>
          <a:p>
            <a:pPr/>
          </a:p>
        </p:txBody>
      </p:sp>
      <p:sp>
        <p:nvSpPr>
          <p:cNvPr id="64" name="Text 14"/>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3: “Automate &amp; Strategize”</a:t>
            </a:r>
          </a:p>
        </p:txBody>
      </p:sp>
      <p:sp>
        <p:nvSpPr>
          <p:cNvPr id="65" name="Text 15"/>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68" name="Text 1"/>
          <p:cNvSpPr txBox="1"/>
          <p:nvPr/>
        </p:nvSpPr>
        <p:spPr>
          <a:xfrm>
            <a:off x="685800" y="226060"/>
            <a:ext cx="35661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ACTIVITY</a:t>
            </a:r>
          </a:p>
        </p:txBody>
      </p:sp>
      <p:sp>
        <p:nvSpPr>
          <p:cNvPr id="69" name="Text 2"/>
          <p:cNvSpPr txBox="1"/>
          <p:nvPr/>
        </p:nvSpPr>
        <p:spPr>
          <a:xfrm>
            <a:off x="4617720" y="264160"/>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300">
                <a:solidFill>
                  <a:srgbClr val="6E8D9A"/>
                </a:solidFill>
                <a:latin typeface="Outfit"/>
                <a:ea typeface="Outfit"/>
                <a:cs typeface="Outfit"/>
                <a:sym typeface="Outfit"/>
              </a:defRPr>
            </a:lvl1pPr>
          </a:lstStyle>
          <a:p>
            <a:pPr/>
            <a:r>
              <a:t>Pairs, structured teaching exercise  •  25 min</a:t>
            </a:r>
          </a:p>
        </p:txBody>
      </p:sp>
      <p:sp>
        <p:nvSpPr>
          <p:cNvPr id="70" name="Shape 3"/>
          <p:cNvSpPr/>
          <p:nvPr/>
        </p:nvSpPr>
        <p:spPr>
          <a:xfrm>
            <a:off x="640079" y="1097280"/>
            <a:ext cx="7863842" cy="1005840"/>
          </a:xfrm>
          <a:prstGeom prst="rect">
            <a:avLst/>
          </a:prstGeom>
          <a:solidFill>
            <a:srgbClr val="243554"/>
          </a:solidFill>
          <a:ln w="12700">
            <a:miter lim="400000"/>
          </a:ln>
        </p:spPr>
        <p:txBody>
          <a:bodyPr lIns="45719" rIns="45719"/>
          <a:lstStyle/>
          <a:p>
            <a:pPr/>
          </a:p>
        </p:txBody>
      </p:sp>
      <p:sp>
        <p:nvSpPr>
          <p:cNvPr id="71" name="Text 4"/>
          <p:cNvSpPr txBox="1"/>
          <p:nvPr/>
        </p:nvSpPr>
        <p:spPr>
          <a:xfrm>
            <a:off x="960119" y="116077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FFFFFF"/>
                </a:solidFill>
                <a:latin typeface="Outfit"/>
                <a:ea typeface="Outfit"/>
                <a:cs typeface="Outfit"/>
                <a:sym typeface="Outfit"/>
              </a:defRPr>
            </a:lvl1pPr>
          </a:lstStyle>
          <a:p>
            <a:pPr/>
            <a:r>
              <a:t>Teach-Back Round</a:t>
            </a:r>
          </a:p>
        </p:txBody>
      </p:sp>
      <p:sp>
        <p:nvSpPr>
          <p:cNvPr id="72" name="Text 5"/>
          <p:cNvSpPr txBox="1"/>
          <p:nvPr/>
        </p:nvSpPr>
        <p:spPr>
          <a:xfrm>
            <a:off x="960119" y="165861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E8D9A"/>
                </a:solidFill>
                <a:latin typeface="Outfit"/>
                <a:ea typeface="Outfit"/>
                <a:cs typeface="Outfit"/>
                <a:sym typeface="Outfit"/>
              </a:defRPr>
            </a:lvl1pPr>
          </a:lstStyle>
          <a:p>
            <a:pPr/>
            <a:r>
              <a:t>Each student draws a concept card (pre-prepared): CRAFT framework, chain-of-thought prompting, hallucination detection,...</a:t>
            </a:r>
          </a:p>
        </p:txBody>
      </p:sp>
      <p:sp>
        <p:nvSpPr>
          <p:cNvPr id="73" name="Shape 6"/>
          <p:cNvSpPr/>
          <p:nvPr/>
        </p:nvSpPr>
        <p:spPr>
          <a:xfrm>
            <a:off x="640080" y="2423160"/>
            <a:ext cx="292609" cy="292609"/>
          </a:xfrm>
          <a:prstGeom prst="ellipse">
            <a:avLst/>
          </a:prstGeom>
          <a:solidFill>
            <a:srgbClr val="367875"/>
          </a:solidFill>
          <a:ln w="12700">
            <a:miter lim="400000"/>
          </a:ln>
        </p:spPr>
        <p:txBody>
          <a:bodyPr lIns="45719" rIns="45719"/>
          <a:lstStyle/>
          <a:p>
            <a:pPr/>
          </a:p>
        </p:txBody>
      </p:sp>
      <p:sp>
        <p:nvSpPr>
          <p:cNvPr id="74" name="Text 7"/>
          <p:cNvSpPr txBox="1"/>
          <p:nvPr/>
        </p:nvSpPr>
        <p:spPr>
          <a:xfrm>
            <a:off x="685800" y="2441194"/>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1</a:t>
            </a:r>
          </a:p>
        </p:txBody>
      </p:sp>
      <p:sp>
        <p:nvSpPr>
          <p:cNvPr id="75" name="Text 8"/>
          <p:cNvSpPr txBox="1"/>
          <p:nvPr/>
        </p:nvSpPr>
        <p:spPr>
          <a:xfrm>
            <a:off x="1143000" y="2449575"/>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Each student draws a concept card (pre-prepared): CRAFT framework, chain-of-thought prompting, hallucination detection, how LLMs work, prompt iteration, source triangulation.</a:t>
            </a:r>
          </a:p>
        </p:txBody>
      </p:sp>
      <p:sp>
        <p:nvSpPr>
          <p:cNvPr id="76" name="Shape 9"/>
          <p:cNvSpPr/>
          <p:nvPr/>
        </p:nvSpPr>
        <p:spPr>
          <a:xfrm>
            <a:off x="640080" y="2898648"/>
            <a:ext cx="292609" cy="292609"/>
          </a:xfrm>
          <a:prstGeom prst="ellipse">
            <a:avLst/>
          </a:prstGeom>
          <a:solidFill>
            <a:srgbClr val="367875"/>
          </a:solidFill>
          <a:ln w="12700">
            <a:miter lim="400000"/>
          </a:ln>
        </p:spPr>
        <p:txBody>
          <a:bodyPr lIns="45719" rIns="45719"/>
          <a:lstStyle/>
          <a:p>
            <a:pPr/>
          </a:p>
        </p:txBody>
      </p:sp>
      <p:sp>
        <p:nvSpPr>
          <p:cNvPr id="77" name="Text 10"/>
          <p:cNvSpPr txBox="1"/>
          <p:nvPr/>
        </p:nvSpPr>
        <p:spPr>
          <a:xfrm>
            <a:off x="685800" y="2916682"/>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2</a:t>
            </a:r>
          </a:p>
        </p:txBody>
      </p:sp>
      <p:sp>
        <p:nvSpPr>
          <p:cNvPr id="78" name="Text 11"/>
          <p:cNvSpPr txBox="1"/>
          <p:nvPr/>
        </p:nvSpPr>
        <p:spPr>
          <a:xfrm>
            <a:off x="1143000" y="2925063"/>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Partner A teaches their concept to Partner B (who “pretends” not to know it) for 7–8 minutes.</a:t>
            </a:r>
          </a:p>
        </p:txBody>
      </p:sp>
      <p:sp>
        <p:nvSpPr>
          <p:cNvPr id="79" name="Shape 12"/>
          <p:cNvSpPr/>
          <p:nvPr/>
        </p:nvSpPr>
        <p:spPr>
          <a:xfrm>
            <a:off x="640080" y="3374135"/>
            <a:ext cx="292609" cy="292609"/>
          </a:xfrm>
          <a:prstGeom prst="ellipse">
            <a:avLst/>
          </a:prstGeom>
          <a:solidFill>
            <a:srgbClr val="367875"/>
          </a:solidFill>
          <a:ln w="12700">
            <a:miter lim="400000"/>
          </a:ln>
        </p:spPr>
        <p:txBody>
          <a:bodyPr lIns="45719" rIns="45719"/>
          <a:lstStyle/>
          <a:p>
            <a:pPr/>
          </a:p>
        </p:txBody>
      </p:sp>
      <p:sp>
        <p:nvSpPr>
          <p:cNvPr id="80" name="Text 13"/>
          <p:cNvSpPr txBox="1"/>
          <p:nvPr/>
        </p:nvSpPr>
        <p:spPr>
          <a:xfrm>
            <a:off x="685800" y="3392169"/>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3</a:t>
            </a:r>
          </a:p>
        </p:txBody>
      </p:sp>
      <p:sp>
        <p:nvSpPr>
          <p:cNvPr id="81" name="Text 14"/>
          <p:cNvSpPr txBox="1"/>
          <p:nvPr/>
        </p:nvSpPr>
        <p:spPr>
          <a:xfrm>
            <a:off x="1143000" y="3400551"/>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2" name="Shape 15"/>
          <p:cNvSpPr/>
          <p:nvPr/>
        </p:nvSpPr>
        <p:spPr>
          <a:xfrm>
            <a:off x="640080" y="3849623"/>
            <a:ext cx="292609" cy="292609"/>
          </a:xfrm>
          <a:prstGeom prst="ellipse">
            <a:avLst/>
          </a:prstGeom>
          <a:solidFill>
            <a:srgbClr val="367875"/>
          </a:solidFill>
          <a:ln w="12700">
            <a:miter lim="400000"/>
          </a:ln>
        </p:spPr>
        <p:txBody>
          <a:bodyPr lIns="45719" rIns="45719"/>
          <a:lstStyle/>
          <a:p>
            <a:pPr/>
          </a:p>
        </p:txBody>
      </p:sp>
      <p:sp>
        <p:nvSpPr>
          <p:cNvPr id="83" name="Text 16"/>
          <p:cNvSpPr txBox="1"/>
          <p:nvPr/>
        </p:nvSpPr>
        <p:spPr>
          <a:xfrm>
            <a:off x="685800" y="3867657"/>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4</a:t>
            </a:r>
          </a:p>
        </p:txBody>
      </p:sp>
      <p:sp>
        <p:nvSpPr>
          <p:cNvPr id="84" name="Text 17"/>
          <p:cNvSpPr txBox="1"/>
          <p:nvPr/>
        </p:nvSpPr>
        <p:spPr>
          <a:xfrm>
            <a:off x="1143000" y="387603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5" name="Shape 18"/>
          <p:cNvSpPr/>
          <p:nvPr/>
        </p:nvSpPr>
        <p:spPr>
          <a:xfrm>
            <a:off x="640079" y="4434840"/>
            <a:ext cx="7863842" cy="365761"/>
          </a:xfrm>
          <a:prstGeom prst="rect">
            <a:avLst/>
          </a:prstGeom>
          <a:solidFill>
            <a:srgbClr val="F0F4F5"/>
          </a:solidFill>
          <a:ln w="12700">
            <a:miter lim="400000"/>
          </a:ln>
        </p:spPr>
        <p:txBody>
          <a:bodyPr lIns="45719" rIns="45719"/>
          <a:lstStyle/>
          <a:p>
            <a:r>
              <a:t>💡 Teacher tip: Setup + distribute concept cards = 3 min. Round 1 (Partner A teaches) = 8 min. Round 2 (Partner B teaches) = 8 min. Quick debrief: “What was hardest t</a:t>
            </a:r>
          </a:p>
        </p:txBody>
      </p:sp>
      <p:sp>
        <p:nvSpPr>
          <p:cNvPr id="86" name="Text 19"/>
          <p:cNvSpPr txBox="1"/>
          <p:nvPr/>
        </p:nvSpPr>
        <p:spPr>
          <a:xfrm>
            <a:off x="960119" y="446405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E8D9A"/>
                </a:solidFill>
                <a:latin typeface="Outfit"/>
                <a:ea typeface="Outfit"/>
                <a:cs typeface="Outfit"/>
                <a:sym typeface="Outfit"/>
              </a:defRPr>
            </a:lvl1pPr>
          </a:lstStyle>
          <a:p>
            <a:pPr/>
            <a:r>
              <a:t>💡 Teacher tip: Setup + distribute concept cards = 3 min. Round 1 (Partner A teaches) = 8 min. Round 2 (Partner B teaches) = 8 min. Quick debrief: “What was hardest t</a:t>
            </a:r>
          </a:p>
        </p:txBody>
      </p:sp>
      <p:sp>
        <p:nvSpPr>
          <p:cNvPr id="87" name="Shape 20"/>
          <p:cNvSpPr/>
          <p:nvPr/>
        </p:nvSpPr>
        <p:spPr>
          <a:xfrm>
            <a:off x="0" y="4892040"/>
            <a:ext cx="9144000" cy="251460"/>
          </a:xfrm>
          <a:prstGeom prst="rect">
            <a:avLst/>
          </a:prstGeom>
          <a:solidFill>
            <a:srgbClr val="367875"/>
          </a:solidFill>
          <a:ln w="12700">
            <a:miter lim="400000"/>
          </a:ln>
        </p:spPr>
        <p:txBody>
          <a:bodyPr lIns="45719" rIns="45719"/>
          <a:lstStyle/>
          <a:p>
            <a:r>
              <a:t>Session 3: “Automate &amp; Strategize”</a:t>
            </a:r>
          </a:p>
        </p:txBody>
      </p:sp>
      <p:sp>
        <p:nvSpPr>
          <p:cNvPr id="88" name="Text 2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3: “Automate &amp; Strategize”</a:t>
            </a:r>
          </a:p>
        </p:txBody>
      </p:sp>
      <p:sp>
        <p:nvSpPr>
          <p:cNvPr id="89" name="Text 2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92" name="Text 1"/>
          <p:cNvSpPr txBox="1"/>
          <p:nvPr/>
        </p:nvSpPr>
        <p:spPr>
          <a:xfrm>
            <a:off x="685800" y="226060"/>
            <a:ext cx="72237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ASSESSMENT CRITERIA</a:t>
            </a:r>
          </a:p>
        </p:txBody>
      </p:sp>
      <p:graphicFrame>
        <p:nvGraphicFramePr>
          <p:cNvPr id="93" name="Table 0"/>
          <p:cNvGraphicFramePr/>
          <p:nvPr/>
        </p:nvGraphicFramePr>
        <p:xfrm>
          <a:off x="640080" y="1097280"/>
          <a:ext cx="7863841" cy="278892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965960"/>
                <a:gridCol w="1965960"/>
                <a:gridCol w="1965960"/>
                <a:gridCol w="1965960"/>
              </a:tblGrid>
              <a:tr h="411480">
                <a:tc>
                  <a:txBody>
                    <a:bodyPr/>
                    <a:lstStyle/>
                    <a:p>
                      <a:pPr algn="l">
                        <a:defRPr sz="1800"/>
                      </a:pPr>
                      <a:r>
                        <a:rPr b="1" sz="1200">
                          <a:solidFill>
                            <a:srgbClr val="FFFFFF"/>
                          </a:solidFill>
                          <a:latin typeface="Outfit"/>
                          <a:ea typeface="Outfit"/>
                          <a:cs typeface="Outfit"/>
                          <a:sym typeface="Outfit"/>
                        </a:rPr>
                        <a:t>Criterion</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243554"/>
                    </a:solidFill>
                  </a:tcPr>
                </a:tc>
                <a:tc>
                  <a:txBody>
                    <a:bodyPr/>
                    <a:lstStyle/>
                    <a:p>
                      <a:pPr algn="ctr">
                        <a:defRPr sz="1800"/>
                      </a:pPr>
                      <a:r>
                        <a:rPr b="1" sz="1200">
                          <a:solidFill>
                            <a:srgbClr val="FFFFFF"/>
                          </a:solidFill>
                          <a:latin typeface="Outfit"/>
                          <a:ea typeface="Outfit"/>
                          <a:cs typeface="Outfit"/>
                          <a:sym typeface="Outfit"/>
                        </a:rPr>
                        <a:t>Developing</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243554"/>
                    </a:solidFill>
                  </a:tcPr>
                </a:tc>
                <a:tc>
                  <a:txBody>
                    <a:bodyPr/>
                    <a:lstStyle/>
                    <a:p>
                      <a:pPr algn="ctr">
                        <a:defRPr sz="1800"/>
                      </a:pPr>
                      <a:r>
                        <a:rPr b="1" sz="1200">
                          <a:solidFill>
                            <a:srgbClr val="FFFFFF"/>
                          </a:solidFill>
                          <a:latin typeface="Outfit"/>
                          <a:ea typeface="Outfit"/>
                          <a:cs typeface="Outfit"/>
                          <a:sym typeface="Outfit"/>
                        </a:rPr>
                        <a:t>Competent</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243554"/>
                    </a:solidFill>
                  </a:tcPr>
                </a:tc>
                <a:tc>
                  <a:txBody>
                    <a:bodyPr/>
                    <a:lstStyle/>
                    <a:p>
                      <a:pPr algn="ctr">
                        <a:defRPr sz="1800"/>
                      </a:pPr>
                      <a:r>
                        <a:rPr b="1" sz="1200">
                          <a:solidFill>
                            <a:srgbClr val="FFFFFF"/>
                          </a:solidFill>
                          <a:latin typeface="Outfit"/>
                          <a:ea typeface="Outfit"/>
                          <a:cs typeface="Outfit"/>
                          <a:sym typeface="Outfit"/>
                        </a:rPr>
                        <a:t>Proficient</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243554"/>
                    </a:solidFill>
                  </a:tcPr>
                </a:tc>
              </a:tr>
              <a:tr h="594360">
                <a:tc>
                  <a:txBody>
                    <a:bodyPr/>
                    <a:lstStyle/>
                    <a:p>
                      <a:pPr algn="l">
                        <a:defRPr sz="1800"/>
                      </a:pPr>
                      <a:r>
                        <a:rPr b="1" sz="1100">
                          <a:solidFill>
                            <a:srgbClr val="2F2F2F"/>
                          </a:solidFill>
                          <a:latin typeface="Outfit"/>
                          <a:ea typeface="Outfit"/>
                          <a:cs typeface="Outfit"/>
                          <a:sym typeface="Outfit"/>
                        </a:rPr>
                        <a:t>Automation</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c>
                  <a:txBody>
                    <a:bodyPr/>
                    <a:lstStyle/>
                    <a:p>
                      <a:pPr algn="ctr">
                        <a:defRPr sz="1800"/>
                      </a:pPr>
                      <a:r>
                        <a:rPr sz="1100">
                          <a:solidFill>
                            <a:srgbClr val="2F2F2F"/>
                          </a:solidFill>
                          <a:latin typeface="Outfit"/>
                          <a:ea typeface="Outfit"/>
                          <a:cs typeface="Outfit"/>
                          <a:sym typeface="Outfit"/>
                        </a:rPr>
                        <a:t>No working build</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c>
                  <a:txBody>
                    <a:bodyPr/>
                    <a:lstStyle/>
                    <a:p>
                      <a:pPr algn="ctr">
                        <a:defRPr sz="1800"/>
                      </a:pPr>
                      <a:r>
                        <a:rPr sz="1100">
                          <a:solidFill>
                            <a:srgbClr val="2F2F2F"/>
                          </a:solidFill>
                          <a:latin typeface="Outfit"/>
                          <a:ea typeface="Outfit"/>
                          <a:cs typeface="Outfit"/>
                          <a:sym typeface="Outfit"/>
                        </a:rPr>
                        <a:t>Guided build works</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c>
                  <a:txBody>
                    <a:bodyPr/>
                    <a:lstStyle/>
                    <a:p>
                      <a:pPr algn="ctr">
                        <a:defRPr sz="1800"/>
                      </a:pPr>
                      <a:r>
                        <a:rPr sz="1100">
                          <a:solidFill>
                            <a:srgbClr val="2F2F2F"/>
                          </a:solidFill>
                          <a:latin typeface="Outfit"/>
                          <a:ea typeface="Outfit"/>
                          <a:cs typeface="Outfit"/>
                          <a:sym typeface="Outfit"/>
                        </a:rPr>
                        <a:t>Independent build + iteration</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r>
              <a:tr h="594360">
                <a:tc>
                  <a:txBody>
                    <a:bodyPr/>
                    <a:lstStyle/>
                    <a:p>
                      <a:pPr algn="l">
                        <a:defRPr sz="1800"/>
                      </a:pPr>
                      <a:r>
                        <a:rPr b="1" sz="1100">
                          <a:solidFill>
                            <a:srgbClr val="2F2F2F"/>
                          </a:solidFill>
                          <a:latin typeface="Outfit"/>
                          <a:ea typeface="Outfit"/>
                          <a:cs typeface="Outfit"/>
                          <a:sym typeface="Outfit"/>
                        </a:rPr>
                        <a:t>Workflow design</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c>
                  <a:txBody>
                    <a:bodyPr/>
                    <a:lstStyle/>
                    <a:p>
                      <a:pPr algn="ctr">
                        <a:defRPr sz="1800"/>
                      </a:pPr>
                      <a:r>
                        <a:rPr sz="1100">
                          <a:solidFill>
                            <a:srgbClr val="2F2F2F"/>
                          </a:solidFill>
                          <a:latin typeface="Outfit"/>
                          <a:ea typeface="Outfit"/>
                          <a:cs typeface="Outfit"/>
                          <a:sym typeface="Outfit"/>
                        </a:rPr>
                        <a:t>No clear structure</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c>
                  <a:txBody>
                    <a:bodyPr/>
                    <a:lstStyle/>
                    <a:p>
                      <a:pPr algn="ctr">
                        <a:defRPr sz="1800"/>
                      </a:pPr>
                      <a:r>
                        <a:rPr sz="1100">
                          <a:solidFill>
                            <a:srgbClr val="2F2F2F"/>
                          </a:solidFill>
                          <a:latin typeface="Outfit"/>
                          <a:ea typeface="Outfit"/>
                          <a:cs typeface="Outfit"/>
                          <a:sym typeface="Outfit"/>
                        </a:rPr>
                        <a:t>Basic trigger-action</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c>
                  <a:txBody>
                    <a:bodyPr/>
                    <a:lstStyle/>
                    <a:p>
                      <a:pPr algn="ctr">
                        <a:defRPr sz="1800"/>
                      </a:pPr>
                      <a:r>
                        <a:rPr sz="1100">
                          <a:solidFill>
                            <a:srgbClr val="2F2F2F"/>
                          </a:solidFill>
                          <a:latin typeface="Outfit"/>
                          <a:ea typeface="Outfit"/>
                          <a:cs typeface="Outfit"/>
                          <a:sym typeface="Outfit"/>
                        </a:rPr>
                        <a:t>Multi-step w/ human checks</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r>
              <a:tr h="594360">
                <a:tc>
                  <a:txBody>
                    <a:bodyPr/>
                    <a:lstStyle/>
                    <a:p>
                      <a:pPr algn="l">
                        <a:defRPr sz="1800"/>
                      </a:pPr>
                      <a:r>
                        <a:rPr b="1" sz="1100">
                          <a:solidFill>
                            <a:srgbClr val="2F2F2F"/>
                          </a:solidFill>
                          <a:latin typeface="Outfit"/>
                          <a:ea typeface="Outfit"/>
                          <a:cs typeface="Outfit"/>
                          <a:sym typeface="Outfit"/>
                        </a:rPr>
                        <a:t>Career positioning</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c>
                  <a:txBody>
                    <a:bodyPr/>
                    <a:lstStyle/>
                    <a:p>
                      <a:pPr algn="ctr">
                        <a:defRPr sz="1800"/>
                      </a:pPr>
                      <a:r>
                        <a:rPr sz="1100">
                          <a:solidFill>
                            <a:srgbClr val="2F2F2F"/>
                          </a:solidFill>
                          <a:latin typeface="Outfit"/>
                          <a:ea typeface="Outfit"/>
                          <a:cs typeface="Outfit"/>
                          <a:sym typeface="Outfit"/>
                        </a:rPr>
                        <a:t>Vague aspirations</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c>
                  <a:txBody>
                    <a:bodyPr/>
                    <a:lstStyle/>
                    <a:p>
                      <a:pPr algn="ctr">
                        <a:defRPr sz="1800"/>
                      </a:pPr>
                      <a:r>
                        <a:rPr sz="1100">
                          <a:solidFill>
                            <a:srgbClr val="2F2F2F"/>
                          </a:solidFill>
                          <a:latin typeface="Outfit"/>
                          <a:ea typeface="Outfit"/>
                          <a:cs typeface="Outfit"/>
                          <a:sym typeface="Outfit"/>
                        </a:rPr>
                        <a:t>Names AI skills</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c>
                  <a:txBody>
                    <a:bodyPr/>
                    <a:lstStyle/>
                    <a:p>
                      <a:pPr algn="ctr">
                        <a:defRPr sz="1800"/>
                      </a:pPr>
                      <a:r>
                        <a:rPr sz="1100">
                          <a:solidFill>
                            <a:srgbClr val="2F2F2F"/>
                          </a:solidFill>
                          <a:latin typeface="Outfit"/>
                          <a:ea typeface="Outfit"/>
                          <a:cs typeface="Outfit"/>
                          <a:sym typeface="Outfit"/>
                        </a:rPr>
                        <a:t>Specific, actionable strategy</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r>
              <a:tr h="594360">
                <a:tc>
                  <a:txBody>
                    <a:bodyPr/>
                    <a:lstStyle/>
                    <a:p>
                      <a:pPr algn="l">
                        <a:defRPr sz="1800"/>
                      </a:pPr>
                      <a:r>
                        <a:rPr b="1" sz="1100">
                          <a:solidFill>
                            <a:srgbClr val="2F2F2F"/>
                          </a:solidFill>
                          <a:latin typeface="Outfit"/>
                          <a:ea typeface="Outfit"/>
                          <a:cs typeface="Outfit"/>
                          <a:sym typeface="Outfit"/>
                        </a:rPr>
                        <a:t>Teaching ability</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c>
                  <a:txBody>
                    <a:bodyPr/>
                    <a:lstStyle/>
                    <a:p>
                      <a:pPr algn="ctr">
                        <a:defRPr sz="1800"/>
                      </a:pPr>
                      <a:r>
                        <a:rPr sz="1100">
                          <a:solidFill>
                            <a:srgbClr val="2F2F2F"/>
                          </a:solidFill>
                          <a:latin typeface="Outfit"/>
                          <a:ea typeface="Outfit"/>
                          <a:cs typeface="Outfit"/>
                          <a:sym typeface="Outfit"/>
                        </a:rPr>
                        <a:t>Cannot explain</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c>
                  <a:txBody>
                    <a:bodyPr/>
                    <a:lstStyle/>
                    <a:p>
                      <a:pPr algn="ctr">
                        <a:defRPr sz="1800"/>
                      </a:pPr>
                      <a:r>
                        <a:rPr sz="1100">
                          <a:solidFill>
                            <a:srgbClr val="2F2F2F"/>
                          </a:solidFill>
                          <a:latin typeface="Outfit"/>
                          <a:ea typeface="Outfit"/>
                          <a:cs typeface="Outfit"/>
                          <a:sym typeface="Outfit"/>
                        </a:rPr>
                        <a:t>Basic explanation</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c>
                  <a:txBody>
                    <a:bodyPr/>
                    <a:lstStyle/>
                    <a:p>
                      <a:pPr algn="ctr">
                        <a:defRPr sz="1800"/>
                      </a:pPr>
                      <a:r>
                        <a:rPr sz="1100">
                          <a:solidFill>
                            <a:srgbClr val="2F2F2F"/>
                          </a:solidFill>
                          <a:latin typeface="Outfit"/>
                          <a:ea typeface="Outfit"/>
                          <a:cs typeface="Outfit"/>
                          <a:sym typeface="Outfit"/>
                        </a:rPr>
                        <a:t>Clear, accurate teach-back</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r>
            </a:tbl>
          </a:graphicData>
        </a:graphic>
      </p:graphicFrame>
      <p:sp>
        <p:nvSpPr>
          <p:cNvPr id="94" name="Shape 2"/>
          <p:cNvSpPr/>
          <p:nvPr/>
        </p:nvSpPr>
        <p:spPr>
          <a:xfrm>
            <a:off x="0" y="4892040"/>
            <a:ext cx="9144000" cy="251460"/>
          </a:xfrm>
          <a:prstGeom prst="rect">
            <a:avLst/>
          </a:prstGeom>
          <a:solidFill>
            <a:srgbClr val="367875"/>
          </a:solidFill>
          <a:ln w="12700">
            <a:miter lim="400000"/>
          </a:ln>
        </p:spPr>
        <p:txBody>
          <a:bodyPr lIns="45719" rIns="45719"/>
          <a:lstStyle/>
          <a:p>
            <a:pPr/>
          </a:p>
        </p:txBody>
      </p:sp>
      <p:sp>
        <p:nvSpPr>
          <p:cNvPr id="95" name="Text 3"/>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3: “Automate &amp; Strategize”</a:t>
            </a:r>
          </a:p>
        </p:txBody>
      </p:sp>
      <p:sp>
        <p:nvSpPr>
          <p:cNvPr id="96" name="Text 4"/>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43554"/>
        </a:solidFill>
      </p:bgPr>
    </p:bg>
    <p:spTree>
      <p:nvGrpSpPr>
        <p:cNvPr id="1" name=""/>
        <p:cNvGrpSpPr/>
        <p:nvPr/>
      </p:nvGrpSpPr>
      <p:grpSpPr>
        <a:xfrm>
          <a:off x="0" y="0"/>
          <a:ext cx="0" cy="0"/>
          <a:chOff x="0" y="0"/>
          <a:chExt cx="0" cy="0"/>
        </a:xfrm>
      </p:grpSpPr>
      <p:sp>
        <p:nvSpPr>
          <p:cNvPr id="98" name="Text 1"/>
          <p:cNvSpPr txBox="1"/>
          <p:nvPr/>
        </p:nvSpPr>
        <p:spPr>
          <a:xfrm>
            <a:off x="960119" y="1912620"/>
            <a:ext cx="7223761" cy="1005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6000">
                <a:solidFill>
                  <a:srgbClr val="FFFFFF"/>
                </a:solidFill>
                <a:latin typeface="Outfit"/>
                <a:ea typeface="Outfit"/>
                <a:cs typeface="Outfit"/>
                <a:sym typeface="Outfit"/>
              </a:defRPr>
            </a:lvl1pPr>
          </a:lstStyle>
          <a:p>
            <a:pPr/>
            <a:r>
              <a:t>THANK YOU</a:t>
            </a:r>
          </a:p>
        </p:txBody>
      </p:sp>
      <p:sp>
        <p:nvSpPr>
          <p:cNvPr id="99" name="Text 2"/>
          <p:cNvSpPr txBox="1"/>
          <p:nvPr/>
        </p:nvSpPr>
        <p:spPr>
          <a:xfrm>
            <a:off x="1038279" y="3022183"/>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400">
                <a:solidFill>
                  <a:srgbClr val="6E8D9A"/>
                </a:solidFill>
                <a:latin typeface="Outfit"/>
                <a:ea typeface="Outfit"/>
                <a:cs typeface="Outfit"/>
                <a:sym typeface="Outfit"/>
              </a:defRPr>
            </a:lvl1pPr>
          </a:lstStyle>
          <a:p>
            <a:pPr/>
            <a:r>
              <a:t>Session 4: Ship It &amp; Own It</a:t>
            </a:r>
          </a:p>
        </p:txBody>
      </p:sp>
      <p:sp>
        <p:nvSpPr>
          <p:cNvPr id="100" name="Shape 3"/>
          <p:cNvSpPr/>
          <p:nvPr/>
        </p:nvSpPr>
        <p:spPr>
          <a:xfrm>
            <a:off x="-38150" y="3859113"/>
            <a:ext cx="9182150" cy="128438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439" y="16394"/>
                </a:lnTo>
                <a:lnTo>
                  <a:pt x="21600" y="21600"/>
                </a:lnTo>
                <a:lnTo>
                  <a:pt x="90" y="21600"/>
                </a:lnTo>
                <a:lnTo>
                  <a:pt x="0" y="0"/>
                </a:lnTo>
                <a:close/>
              </a:path>
            </a:pathLst>
          </a:custGeom>
          <a:solidFill>
            <a:srgbClr val="367875"/>
          </a:solidFill>
          <a:ln w="12700">
            <a:miter lim="400000"/>
          </a:ln>
        </p:spPr>
        <p:txBody>
          <a:bodyPr lIns="45719" rIns="45719"/>
          <a:lstStyle/>
          <a:p>
            <a:pPr/>
          </a:p>
        </p:txBody>
      </p:sp>
      <p:sp>
        <p:nvSpPr>
          <p:cNvPr id="101" name="Text 4"/>
          <p:cNvSpPr txBox="1"/>
          <p:nvPr/>
        </p:nvSpPr>
        <p:spPr>
          <a:xfrm>
            <a:off x="685800" y="4850129"/>
            <a:ext cx="7223760"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lgn="ctr">
              <a:defRPr b="1" spc="300" sz="1000">
                <a:solidFill>
                  <a:srgbClr val="FFFFFF"/>
                </a:solidFill>
                <a:latin typeface="Outfit"/>
                <a:ea typeface="Outfit"/>
                <a:cs typeface="Outfit"/>
                <a:sym typeface="Outfit"/>
              </a:defRPr>
            </a:lvl1pPr>
          </a:lstStyle>
          <a:p>
            <a:pPr/>
            <a:r>
              <a:t>AMERICAN LANGUAGE CENTERS</a:t>
            </a:r>
          </a:p>
        </p:txBody>
      </p:sp>
      <p:pic>
        <p:nvPicPr>
          <p:cNvPr id="102" name="ALC logo.png" descr="ALC logo.png"/>
          <p:cNvPicPr>
            <a:picLocks noChangeAspect="1"/>
          </p:cNvPicPr>
          <p:nvPr/>
        </p:nvPicPr>
        <p:blipFill>
          <a:blip r:embed="rId2">
            <a:alphaModFix amt="23325"/>
            <a:extLst/>
          </a:blip>
          <a:stretch>
            <a:fillRect/>
          </a:stretch>
        </p:blipFill>
        <p:spPr>
          <a:xfrm>
            <a:off x="2615285" y="-116359"/>
            <a:ext cx="3913430" cy="2608953"/>
          </a:xfrm>
          <a:prstGeom prst="rect">
            <a:avLst/>
          </a:prstGeom>
          <a:ln w="12700">
            <a:miter lim="400000"/>
          </a:ln>
        </p:spPr>
      </p:pic>
      <p:sp>
        <p:nvSpPr>
          <p:cNvPr id="103" name="Shape 3"/>
          <p:cNvSpPr/>
          <p:nvPr/>
        </p:nvSpPr>
        <p:spPr>
          <a:xfrm flipH="1">
            <a:off x="137244" y="3859113"/>
            <a:ext cx="9025831" cy="15467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3516" y="3918"/>
                  <a:pt x="7044" y="7467"/>
                  <a:pt x="10583" y="10644"/>
                </a:cubicBezTo>
                <a:cubicBezTo>
                  <a:pt x="14217" y="13907"/>
                  <a:pt x="17862" y="16778"/>
                  <a:pt x="21515" y="19255"/>
                </a:cubicBezTo>
                <a:lnTo>
                  <a:pt x="21600" y="21600"/>
                </a:lnTo>
                <a:lnTo>
                  <a:pt x="91" y="17936"/>
                </a:lnTo>
                <a:lnTo>
                  <a:pt x="0" y="0"/>
                </a:lnTo>
                <a:close/>
              </a:path>
            </a:pathLst>
          </a:custGeom>
          <a:solidFill>
            <a:srgbClr val="852B2F"/>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68" name="Text 1"/>
          <p:cNvSpPr txBox="1"/>
          <p:nvPr/>
        </p:nvSpPr>
        <p:spPr>
          <a:xfrm>
            <a:off x="685800" y="226060"/>
            <a:ext cx="35661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ACTIVITY</a:t>
            </a:r>
          </a:p>
        </p:txBody>
      </p:sp>
      <p:sp>
        <p:nvSpPr>
          <p:cNvPr id="69" name="Text 2"/>
          <p:cNvSpPr txBox="1"/>
          <p:nvPr/>
        </p:nvSpPr>
        <p:spPr>
          <a:xfrm>
            <a:off x="4617720" y="264160"/>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300">
                <a:solidFill>
                  <a:srgbClr val="6E8D9A"/>
                </a:solidFill>
                <a:latin typeface="Outfit"/>
                <a:ea typeface="Outfit"/>
                <a:cs typeface="Outfit"/>
                <a:sym typeface="Outfit"/>
              </a:defRPr>
            </a:lvl1pPr>
          </a:lstStyle>
          <a:p>
            <a:pPr/>
            <a:r>
              <a:t>  •  25 min</a:t>
            </a:r>
          </a:p>
        </p:txBody>
      </p:sp>
      <p:sp>
        <p:nvSpPr>
          <p:cNvPr id="70" name="Shape 3"/>
          <p:cNvSpPr/>
          <p:nvPr/>
        </p:nvSpPr>
        <p:spPr>
          <a:xfrm>
            <a:off x="640079" y="1097280"/>
            <a:ext cx="7863842" cy="1005840"/>
          </a:xfrm>
          <a:prstGeom prst="rect">
            <a:avLst/>
          </a:prstGeom>
          <a:solidFill>
            <a:srgbClr val="243554"/>
          </a:solidFill>
          <a:ln w="12700">
            <a:miter lim="400000"/>
          </a:ln>
        </p:spPr>
        <p:txBody>
          <a:bodyPr lIns="45719" rIns="45719"/>
          <a:lstStyle/>
          <a:p>
            <a:pPr/>
          </a:p>
        </p:txBody>
      </p:sp>
      <p:sp>
        <p:nvSpPr>
          <p:cNvPr id="71" name="Text 4"/>
          <p:cNvSpPr txBox="1"/>
          <p:nvPr/>
        </p:nvSpPr>
        <p:spPr>
          <a:xfrm>
            <a:off x="960119" y="116077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FFFFFF"/>
                </a:solidFill>
                <a:latin typeface="Outfit"/>
                <a:ea typeface="Outfit"/>
                <a:cs typeface="Outfit"/>
                <a:sym typeface="Outfit"/>
              </a:defRPr>
            </a:lvl1pPr>
          </a:lstStyle>
          <a:p>
            <a:pPr/>
            <a:r>
              <a:t>“In the Wild” Share</a:t>
            </a:r>
          </a:p>
        </p:txBody>
      </p:sp>
      <p:sp>
        <p:nvSpPr>
          <p:cNvPr id="72" name="Text 5"/>
          <p:cNvSpPr txBox="1"/>
          <p:nvPr/>
        </p:nvSpPr>
        <p:spPr>
          <a:xfrm>
            <a:off x="960119" y="165861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E8D9A"/>
                </a:solidFill>
                <a:latin typeface="Outfit"/>
                <a:ea typeface="Outfit"/>
                <a:cs typeface="Outfit"/>
                <a:sym typeface="Outfit"/>
              </a:defRPr>
            </a:lvl1pPr>
          </a:lstStyle>
          <a:p>
            <a:pPr/>
            <a:r>
              <a:t/>
            </a:r>
          </a:p>
        </p:txBody>
      </p:sp>
      <p:sp>
        <p:nvSpPr>
          <p:cNvPr id="73" name="Shape 6"/>
          <p:cNvSpPr/>
          <p:nvPr/>
        </p:nvSpPr>
        <p:spPr>
          <a:xfrm>
            <a:off x="640080" y="2423160"/>
            <a:ext cx="292609" cy="292609"/>
          </a:xfrm>
          <a:prstGeom prst="ellipse">
            <a:avLst/>
          </a:prstGeom>
          <a:solidFill>
            <a:srgbClr val="367875"/>
          </a:solidFill>
          <a:ln w="12700">
            <a:miter lim="400000"/>
          </a:ln>
        </p:spPr>
        <p:txBody>
          <a:bodyPr lIns="45719" rIns="45719"/>
          <a:lstStyle/>
          <a:p>
            <a:pPr/>
          </a:p>
        </p:txBody>
      </p:sp>
      <p:sp>
        <p:nvSpPr>
          <p:cNvPr id="74" name="Text 7"/>
          <p:cNvSpPr txBox="1"/>
          <p:nvPr/>
        </p:nvSpPr>
        <p:spPr>
          <a:xfrm>
            <a:off x="685800" y="2441194"/>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1</a:t>
            </a:r>
          </a:p>
        </p:txBody>
      </p:sp>
      <p:sp>
        <p:nvSpPr>
          <p:cNvPr id="75" name="Text 8"/>
          <p:cNvSpPr txBox="1"/>
          <p:nvPr/>
        </p:nvSpPr>
        <p:spPr>
          <a:xfrm>
            <a:off x="1143000" y="2449575"/>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76" name="Shape 9"/>
          <p:cNvSpPr/>
          <p:nvPr/>
        </p:nvSpPr>
        <p:spPr>
          <a:xfrm>
            <a:off x="640080" y="2898648"/>
            <a:ext cx="292609" cy="292609"/>
          </a:xfrm>
          <a:prstGeom prst="ellipse">
            <a:avLst/>
          </a:prstGeom>
          <a:solidFill>
            <a:srgbClr val="367875"/>
          </a:solidFill>
          <a:ln w="12700">
            <a:miter lim="400000"/>
          </a:ln>
        </p:spPr>
        <p:txBody>
          <a:bodyPr lIns="45719" rIns="45719"/>
          <a:lstStyle/>
          <a:p>
            <a:pPr/>
          </a:p>
        </p:txBody>
      </p:sp>
      <p:sp>
        <p:nvSpPr>
          <p:cNvPr id="77" name="Text 10"/>
          <p:cNvSpPr txBox="1"/>
          <p:nvPr/>
        </p:nvSpPr>
        <p:spPr>
          <a:xfrm>
            <a:off x="685800" y="2916682"/>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2</a:t>
            </a:r>
          </a:p>
        </p:txBody>
      </p:sp>
      <p:sp>
        <p:nvSpPr>
          <p:cNvPr id="78" name="Text 11"/>
          <p:cNvSpPr txBox="1"/>
          <p:nvPr/>
        </p:nvSpPr>
        <p:spPr>
          <a:xfrm>
            <a:off x="1143000" y="2925063"/>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79" name="Shape 12"/>
          <p:cNvSpPr/>
          <p:nvPr/>
        </p:nvSpPr>
        <p:spPr>
          <a:xfrm>
            <a:off x="640080" y="3374135"/>
            <a:ext cx="292609" cy="292609"/>
          </a:xfrm>
          <a:prstGeom prst="ellipse">
            <a:avLst/>
          </a:prstGeom>
          <a:solidFill>
            <a:srgbClr val="367875"/>
          </a:solidFill>
          <a:ln w="12700">
            <a:miter lim="400000"/>
          </a:ln>
        </p:spPr>
        <p:txBody>
          <a:bodyPr lIns="45719" rIns="45719"/>
          <a:lstStyle/>
          <a:p>
            <a:pPr/>
          </a:p>
        </p:txBody>
      </p:sp>
      <p:sp>
        <p:nvSpPr>
          <p:cNvPr id="80" name="Text 13"/>
          <p:cNvSpPr txBox="1"/>
          <p:nvPr/>
        </p:nvSpPr>
        <p:spPr>
          <a:xfrm>
            <a:off x="685800" y="3392169"/>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3</a:t>
            </a:r>
          </a:p>
        </p:txBody>
      </p:sp>
      <p:sp>
        <p:nvSpPr>
          <p:cNvPr id="81" name="Text 14"/>
          <p:cNvSpPr txBox="1"/>
          <p:nvPr/>
        </p:nvSpPr>
        <p:spPr>
          <a:xfrm>
            <a:off x="1143000" y="3400551"/>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2" name="Shape 15"/>
          <p:cNvSpPr/>
          <p:nvPr/>
        </p:nvSpPr>
        <p:spPr>
          <a:xfrm>
            <a:off x="640080" y="3849623"/>
            <a:ext cx="292609" cy="292609"/>
          </a:xfrm>
          <a:prstGeom prst="ellipse">
            <a:avLst/>
          </a:prstGeom>
          <a:solidFill>
            <a:srgbClr val="367875"/>
          </a:solidFill>
          <a:ln w="12700">
            <a:miter lim="400000"/>
          </a:ln>
        </p:spPr>
        <p:txBody>
          <a:bodyPr lIns="45719" rIns="45719"/>
          <a:lstStyle/>
          <a:p>
            <a:pPr/>
          </a:p>
        </p:txBody>
      </p:sp>
      <p:sp>
        <p:nvSpPr>
          <p:cNvPr id="83" name="Text 16"/>
          <p:cNvSpPr txBox="1"/>
          <p:nvPr/>
        </p:nvSpPr>
        <p:spPr>
          <a:xfrm>
            <a:off x="685800" y="3867657"/>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4</a:t>
            </a:r>
          </a:p>
        </p:txBody>
      </p:sp>
      <p:sp>
        <p:nvSpPr>
          <p:cNvPr id="84" name="Text 17"/>
          <p:cNvSpPr txBox="1"/>
          <p:nvPr/>
        </p:nvSpPr>
        <p:spPr>
          <a:xfrm>
            <a:off x="1143000" y="387603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5" name="Shape 18"/>
          <p:cNvSpPr/>
          <p:nvPr/>
        </p:nvSpPr>
        <p:spPr>
          <a:xfrm>
            <a:off x="640079" y="4434840"/>
            <a:ext cx="7863842" cy="365761"/>
          </a:xfrm>
          <a:prstGeom prst="rect">
            <a:avLst/>
          </a:prstGeom>
          <a:solidFill>
            <a:srgbClr val="F0F4F5"/>
          </a:solidFill>
          <a:ln w="12700">
            <a:miter lim="400000"/>
          </a:ln>
        </p:spPr>
        <p:txBody>
          <a:bodyPr lIns="45719" rIns="45719"/>
          <a:lstStyle/>
          <a:p>
            <a:r>
              <a:t>💡 Teacher tip: Breakout groups share (each person = 3–4 min) = 15 min. 2–3 highlights to full group = 8 min. Transition = 2 min.</a:t>
            </a:r>
          </a:p>
        </p:txBody>
      </p:sp>
      <p:sp>
        <p:nvSpPr>
          <p:cNvPr id="86" name="Text 19"/>
          <p:cNvSpPr txBox="1"/>
          <p:nvPr/>
        </p:nvSpPr>
        <p:spPr>
          <a:xfrm>
            <a:off x="960119" y="446405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E8D9A"/>
                </a:solidFill>
                <a:latin typeface="Outfit"/>
                <a:ea typeface="Outfit"/>
                <a:cs typeface="Outfit"/>
                <a:sym typeface="Outfit"/>
              </a:defRPr>
            </a:lvl1pPr>
          </a:lstStyle>
          <a:p>
            <a:pPr/>
            <a:r>
              <a:t>💡 Teacher tip: Breakout groups share (each person = 3–4 min) = 15 min. 2–3 highlights to full group = 8 min. Transition = 2 min.</a:t>
            </a:r>
          </a:p>
        </p:txBody>
      </p:sp>
      <p:sp>
        <p:nvSpPr>
          <p:cNvPr id="87" name="Shape 20"/>
          <p:cNvSpPr/>
          <p:nvPr/>
        </p:nvSpPr>
        <p:spPr>
          <a:xfrm>
            <a:off x="0" y="4892040"/>
            <a:ext cx="9144000" cy="251460"/>
          </a:xfrm>
          <a:prstGeom prst="rect">
            <a:avLst/>
          </a:prstGeom>
          <a:solidFill>
            <a:srgbClr val="367875"/>
          </a:solidFill>
          <a:ln w="12700">
            <a:miter lim="400000"/>
          </a:ln>
        </p:spPr>
        <p:txBody>
          <a:bodyPr lIns="45719" rIns="45719"/>
          <a:lstStyle/>
          <a:p>
            <a:r>
              <a:t>Session 3: “Automate &amp; Strategize”</a:t>
            </a:r>
          </a:p>
        </p:txBody>
      </p:sp>
      <p:sp>
        <p:nvSpPr>
          <p:cNvPr id="88" name="Text 2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3: “Automate &amp; Strategize”</a:t>
            </a:r>
          </a:p>
        </p:txBody>
      </p:sp>
      <p:sp>
        <p:nvSpPr>
          <p:cNvPr id="89" name="Text 2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68" name="Text 1"/>
          <p:cNvSpPr txBox="1"/>
          <p:nvPr/>
        </p:nvSpPr>
        <p:spPr>
          <a:xfrm>
            <a:off x="685800" y="226060"/>
            <a:ext cx="35661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ACTIVITY</a:t>
            </a:r>
          </a:p>
        </p:txBody>
      </p:sp>
      <p:sp>
        <p:nvSpPr>
          <p:cNvPr id="69" name="Text 2"/>
          <p:cNvSpPr txBox="1"/>
          <p:nvPr/>
        </p:nvSpPr>
        <p:spPr>
          <a:xfrm>
            <a:off x="4617720" y="264160"/>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300">
                <a:solidFill>
                  <a:srgbClr val="6E8D9A"/>
                </a:solidFill>
                <a:latin typeface="Outfit"/>
                <a:ea typeface="Outfit"/>
                <a:cs typeface="Outfit"/>
                <a:sym typeface="Outfit"/>
              </a:defRPr>
            </a:lvl1pPr>
          </a:lstStyle>
          <a:p>
            <a:pPr/>
            <a:r>
              <a:t>Individual, structured template  •  25 min</a:t>
            </a:r>
          </a:p>
        </p:txBody>
      </p:sp>
      <p:sp>
        <p:nvSpPr>
          <p:cNvPr id="70" name="Shape 3"/>
          <p:cNvSpPr/>
          <p:nvPr/>
        </p:nvSpPr>
        <p:spPr>
          <a:xfrm>
            <a:off x="640079" y="1097280"/>
            <a:ext cx="7863842" cy="1005840"/>
          </a:xfrm>
          <a:prstGeom prst="rect">
            <a:avLst/>
          </a:prstGeom>
          <a:solidFill>
            <a:srgbClr val="243554"/>
          </a:solidFill>
          <a:ln w="12700">
            <a:miter lim="400000"/>
          </a:ln>
        </p:spPr>
        <p:txBody>
          <a:bodyPr lIns="45719" rIns="45719"/>
          <a:lstStyle/>
          <a:p>
            <a:pPr/>
          </a:p>
        </p:txBody>
      </p:sp>
      <p:sp>
        <p:nvSpPr>
          <p:cNvPr id="71" name="Text 4"/>
          <p:cNvSpPr txBox="1"/>
          <p:nvPr/>
        </p:nvSpPr>
        <p:spPr>
          <a:xfrm>
            <a:off x="960119" y="116077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FFFFFF"/>
                </a:solidFill>
                <a:latin typeface="Outfit"/>
                <a:ea typeface="Outfit"/>
                <a:cs typeface="Outfit"/>
                <a:sym typeface="Outfit"/>
              </a:defRPr>
            </a:lvl1pPr>
          </a:lstStyle>
          <a:p>
            <a:pPr/>
            <a:r>
              <a:t>Personal Workflow Audit</a:t>
            </a:r>
          </a:p>
        </p:txBody>
      </p:sp>
      <p:sp>
        <p:nvSpPr>
          <p:cNvPr id="72" name="Text 5"/>
          <p:cNvSpPr txBox="1"/>
          <p:nvPr/>
        </p:nvSpPr>
        <p:spPr>
          <a:xfrm>
            <a:off x="960119" y="165861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E8D9A"/>
                </a:solidFill>
                <a:latin typeface="Outfit"/>
                <a:ea typeface="Outfit"/>
                <a:cs typeface="Outfit"/>
                <a:sym typeface="Outfit"/>
              </a:defRPr>
            </a:lvl1pPr>
          </a:lstStyle>
          <a:p>
            <a:pPr/>
            <a:r>
              <a:t>Students map their weekly tasks using a provided template: list 10–15 recurring tasks, categorize each as (a)...</a:t>
            </a:r>
          </a:p>
        </p:txBody>
      </p:sp>
      <p:sp>
        <p:nvSpPr>
          <p:cNvPr id="73" name="Shape 6"/>
          <p:cNvSpPr/>
          <p:nvPr/>
        </p:nvSpPr>
        <p:spPr>
          <a:xfrm>
            <a:off x="640080" y="2423160"/>
            <a:ext cx="292609" cy="292609"/>
          </a:xfrm>
          <a:prstGeom prst="ellipse">
            <a:avLst/>
          </a:prstGeom>
          <a:solidFill>
            <a:srgbClr val="367875"/>
          </a:solidFill>
          <a:ln w="12700">
            <a:miter lim="400000"/>
          </a:ln>
        </p:spPr>
        <p:txBody>
          <a:bodyPr lIns="45719" rIns="45719"/>
          <a:lstStyle/>
          <a:p>
            <a:pPr/>
          </a:p>
        </p:txBody>
      </p:sp>
      <p:sp>
        <p:nvSpPr>
          <p:cNvPr id="74" name="Text 7"/>
          <p:cNvSpPr txBox="1"/>
          <p:nvPr/>
        </p:nvSpPr>
        <p:spPr>
          <a:xfrm>
            <a:off x="685800" y="2441194"/>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1</a:t>
            </a:r>
          </a:p>
        </p:txBody>
      </p:sp>
      <p:sp>
        <p:nvSpPr>
          <p:cNvPr id="75" name="Text 8"/>
          <p:cNvSpPr txBox="1"/>
          <p:nvPr/>
        </p:nvSpPr>
        <p:spPr>
          <a:xfrm>
            <a:off x="1143000" y="2449575"/>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Students map their weekly tasks using a provided template: list 10–15 recurring tasks, categorize each as (a) repetitive/automatable, (b) information bottleneck, (c) communication overhead, or (d) procrastination target.</a:t>
            </a:r>
          </a:p>
        </p:txBody>
      </p:sp>
      <p:sp>
        <p:nvSpPr>
          <p:cNvPr id="76" name="Shape 9"/>
          <p:cNvSpPr/>
          <p:nvPr/>
        </p:nvSpPr>
        <p:spPr>
          <a:xfrm>
            <a:off x="640080" y="2898648"/>
            <a:ext cx="292609" cy="292609"/>
          </a:xfrm>
          <a:prstGeom prst="ellipse">
            <a:avLst/>
          </a:prstGeom>
          <a:solidFill>
            <a:srgbClr val="367875"/>
          </a:solidFill>
          <a:ln w="12700">
            <a:miter lim="400000"/>
          </a:ln>
        </p:spPr>
        <p:txBody>
          <a:bodyPr lIns="45719" rIns="45719"/>
          <a:lstStyle/>
          <a:p>
            <a:pPr/>
          </a:p>
        </p:txBody>
      </p:sp>
      <p:sp>
        <p:nvSpPr>
          <p:cNvPr id="77" name="Text 10"/>
          <p:cNvSpPr txBox="1"/>
          <p:nvPr/>
        </p:nvSpPr>
        <p:spPr>
          <a:xfrm>
            <a:off x="685800" y="2916682"/>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2</a:t>
            </a:r>
          </a:p>
        </p:txBody>
      </p:sp>
      <p:sp>
        <p:nvSpPr>
          <p:cNvPr id="78" name="Text 11"/>
          <p:cNvSpPr txBox="1"/>
          <p:nvPr/>
        </p:nvSpPr>
        <p:spPr>
          <a:xfrm>
            <a:off x="1143000" y="2925063"/>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Then rank the top 3 candidates for AI automation.</a:t>
            </a:r>
          </a:p>
        </p:txBody>
      </p:sp>
      <p:sp>
        <p:nvSpPr>
          <p:cNvPr id="79" name="Shape 12"/>
          <p:cNvSpPr/>
          <p:nvPr/>
        </p:nvSpPr>
        <p:spPr>
          <a:xfrm>
            <a:off x="640080" y="3374135"/>
            <a:ext cx="292609" cy="292609"/>
          </a:xfrm>
          <a:prstGeom prst="ellipse">
            <a:avLst/>
          </a:prstGeom>
          <a:solidFill>
            <a:srgbClr val="367875"/>
          </a:solidFill>
          <a:ln w="12700">
            <a:miter lim="400000"/>
          </a:ln>
        </p:spPr>
        <p:txBody>
          <a:bodyPr lIns="45719" rIns="45719"/>
          <a:lstStyle/>
          <a:p>
            <a:pPr/>
          </a:p>
        </p:txBody>
      </p:sp>
      <p:sp>
        <p:nvSpPr>
          <p:cNvPr id="80" name="Text 13"/>
          <p:cNvSpPr txBox="1"/>
          <p:nvPr/>
        </p:nvSpPr>
        <p:spPr>
          <a:xfrm>
            <a:off x="685800" y="3392169"/>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3</a:t>
            </a:r>
          </a:p>
        </p:txBody>
      </p:sp>
      <p:sp>
        <p:nvSpPr>
          <p:cNvPr id="81" name="Text 14"/>
          <p:cNvSpPr txBox="1"/>
          <p:nvPr/>
        </p:nvSpPr>
        <p:spPr>
          <a:xfrm>
            <a:off x="1143000" y="3400551"/>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2" name="Shape 15"/>
          <p:cNvSpPr/>
          <p:nvPr/>
        </p:nvSpPr>
        <p:spPr>
          <a:xfrm>
            <a:off x="640080" y="3849623"/>
            <a:ext cx="292609" cy="292609"/>
          </a:xfrm>
          <a:prstGeom prst="ellipse">
            <a:avLst/>
          </a:prstGeom>
          <a:solidFill>
            <a:srgbClr val="367875"/>
          </a:solidFill>
          <a:ln w="12700">
            <a:miter lim="400000"/>
          </a:ln>
        </p:spPr>
        <p:txBody>
          <a:bodyPr lIns="45719" rIns="45719"/>
          <a:lstStyle/>
          <a:p>
            <a:pPr/>
          </a:p>
        </p:txBody>
      </p:sp>
      <p:sp>
        <p:nvSpPr>
          <p:cNvPr id="83" name="Text 16"/>
          <p:cNvSpPr txBox="1"/>
          <p:nvPr/>
        </p:nvSpPr>
        <p:spPr>
          <a:xfrm>
            <a:off x="685800" y="3867657"/>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4</a:t>
            </a:r>
          </a:p>
        </p:txBody>
      </p:sp>
      <p:sp>
        <p:nvSpPr>
          <p:cNvPr id="84" name="Text 17"/>
          <p:cNvSpPr txBox="1"/>
          <p:nvPr/>
        </p:nvSpPr>
        <p:spPr>
          <a:xfrm>
            <a:off x="1143000" y="387603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5" name="Shape 18"/>
          <p:cNvSpPr/>
          <p:nvPr/>
        </p:nvSpPr>
        <p:spPr>
          <a:xfrm>
            <a:off x="640079" y="4434840"/>
            <a:ext cx="7863842" cy="365761"/>
          </a:xfrm>
          <a:prstGeom prst="rect">
            <a:avLst/>
          </a:prstGeom>
          <a:solidFill>
            <a:srgbClr val="F0F4F5"/>
          </a:solidFill>
          <a:ln w="12700">
            <a:miter lim="400000"/>
          </a:ln>
        </p:spPr>
        <p:txBody>
          <a:bodyPr lIns="45719" rIns="45719"/>
          <a:lstStyle/>
          <a:p>
            <a:r>
              <a:t>💡 Teacher tip: List tasks = 8 min. Categorize = 7 min. Rank top 3 = 5 min. Pair share (tell your partner your #1 automation candidate) = 5 min.</a:t>
            </a:r>
          </a:p>
        </p:txBody>
      </p:sp>
      <p:sp>
        <p:nvSpPr>
          <p:cNvPr id="86" name="Text 19"/>
          <p:cNvSpPr txBox="1"/>
          <p:nvPr/>
        </p:nvSpPr>
        <p:spPr>
          <a:xfrm>
            <a:off x="960119" y="446405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E8D9A"/>
                </a:solidFill>
                <a:latin typeface="Outfit"/>
                <a:ea typeface="Outfit"/>
                <a:cs typeface="Outfit"/>
                <a:sym typeface="Outfit"/>
              </a:defRPr>
            </a:lvl1pPr>
          </a:lstStyle>
          <a:p>
            <a:pPr/>
            <a:r>
              <a:t>💡 Teacher tip: List tasks = 8 min. Categorize = 7 min. Rank top 3 = 5 min. Pair share (tell your partner your #1 automation candidate) = 5 min.</a:t>
            </a:r>
          </a:p>
        </p:txBody>
      </p:sp>
      <p:sp>
        <p:nvSpPr>
          <p:cNvPr id="87" name="Shape 20"/>
          <p:cNvSpPr/>
          <p:nvPr/>
        </p:nvSpPr>
        <p:spPr>
          <a:xfrm>
            <a:off x="0" y="4892040"/>
            <a:ext cx="9144000" cy="251460"/>
          </a:xfrm>
          <a:prstGeom prst="rect">
            <a:avLst/>
          </a:prstGeom>
          <a:solidFill>
            <a:srgbClr val="367875"/>
          </a:solidFill>
          <a:ln w="12700">
            <a:miter lim="400000"/>
          </a:ln>
        </p:spPr>
        <p:txBody>
          <a:bodyPr lIns="45719" rIns="45719"/>
          <a:lstStyle/>
          <a:p>
            <a:r>
              <a:t>Session 3: “Automate &amp; Strategize”</a:t>
            </a:r>
          </a:p>
        </p:txBody>
      </p:sp>
      <p:sp>
        <p:nvSpPr>
          <p:cNvPr id="88" name="Text 2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3: “Automate &amp; Strategize”</a:t>
            </a:r>
          </a:p>
        </p:txBody>
      </p:sp>
      <p:sp>
        <p:nvSpPr>
          <p:cNvPr id="89" name="Text 2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68" name="Text 1"/>
          <p:cNvSpPr txBox="1"/>
          <p:nvPr/>
        </p:nvSpPr>
        <p:spPr>
          <a:xfrm>
            <a:off x="685800" y="226060"/>
            <a:ext cx="35661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ACTIVITY</a:t>
            </a:r>
          </a:p>
        </p:txBody>
      </p:sp>
      <p:sp>
        <p:nvSpPr>
          <p:cNvPr id="69" name="Text 2"/>
          <p:cNvSpPr txBox="1"/>
          <p:nvPr/>
        </p:nvSpPr>
        <p:spPr>
          <a:xfrm>
            <a:off x="4617720" y="264160"/>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300">
                <a:solidFill>
                  <a:srgbClr val="6E8D9A"/>
                </a:solidFill>
                <a:latin typeface="Outfit"/>
                <a:ea typeface="Outfit"/>
                <a:cs typeface="Outfit"/>
                <a:sym typeface="Outfit"/>
              </a:defRPr>
            </a:lvl1pPr>
          </a:lstStyle>
          <a:p>
            <a:pPr/>
            <a:r>
              <a:t>Interactive lecture interwoven with guided hands-on  •  40 min</a:t>
            </a:r>
          </a:p>
        </p:txBody>
      </p:sp>
      <p:sp>
        <p:nvSpPr>
          <p:cNvPr id="70" name="Shape 3"/>
          <p:cNvSpPr/>
          <p:nvPr/>
        </p:nvSpPr>
        <p:spPr>
          <a:xfrm>
            <a:off x="640079" y="1097280"/>
            <a:ext cx="7863842" cy="1005840"/>
          </a:xfrm>
          <a:prstGeom prst="rect">
            <a:avLst/>
          </a:prstGeom>
          <a:solidFill>
            <a:srgbClr val="243554"/>
          </a:solidFill>
          <a:ln w="12700">
            <a:miter lim="400000"/>
          </a:ln>
        </p:spPr>
        <p:txBody>
          <a:bodyPr lIns="45719" rIns="45719"/>
          <a:lstStyle/>
          <a:p>
            <a:pPr/>
          </a:p>
        </p:txBody>
      </p:sp>
      <p:sp>
        <p:nvSpPr>
          <p:cNvPr id="71" name="Text 4"/>
          <p:cNvSpPr txBox="1"/>
          <p:nvPr/>
        </p:nvSpPr>
        <p:spPr>
          <a:xfrm>
            <a:off x="960119" y="116077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FFFFFF"/>
                </a:solidFill>
                <a:latin typeface="Outfit"/>
                <a:ea typeface="Outfit"/>
                <a:cs typeface="Outfit"/>
                <a:sym typeface="Outfit"/>
              </a:defRPr>
            </a:lvl1pPr>
          </a:lstStyle>
          <a:p>
            <a:pPr/>
            <a:r>
              <a:t>Workflow Automation 101 + Guided Build</a:t>
            </a:r>
          </a:p>
        </p:txBody>
      </p:sp>
      <p:sp>
        <p:nvSpPr>
          <p:cNvPr id="72" name="Text 5"/>
          <p:cNvSpPr txBox="1"/>
          <p:nvPr/>
        </p:nvSpPr>
        <p:spPr>
          <a:xfrm>
            <a:off x="960119" y="165861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E8D9A"/>
                </a:solidFill>
                <a:latin typeface="Outfit"/>
                <a:ea typeface="Outfit"/>
                <a:cs typeface="Outfit"/>
                <a:sym typeface="Outfit"/>
              </a:defRPr>
            </a:lvl1pPr>
          </a:lstStyle>
          <a:p>
            <a:pPr/>
            <a:r>
              <a:t>Do NOT lecture for 30 minutes then ask students to build. Instead, teach the concept while building. Minute 1–5: What...</a:t>
            </a:r>
          </a:p>
        </p:txBody>
      </p:sp>
      <p:sp>
        <p:nvSpPr>
          <p:cNvPr id="73" name="Shape 6"/>
          <p:cNvSpPr/>
          <p:nvPr/>
        </p:nvSpPr>
        <p:spPr>
          <a:xfrm>
            <a:off x="640080" y="2423160"/>
            <a:ext cx="292609" cy="292609"/>
          </a:xfrm>
          <a:prstGeom prst="ellipse">
            <a:avLst/>
          </a:prstGeom>
          <a:solidFill>
            <a:srgbClr val="367875"/>
          </a:solidFill>
          <a:ln w="12700">
            <a:miter lim="400000"/>
          </a:ln>
        </p:spPr>
        <p:txBody>
          <a:bodyPr lIns="45719" rIns="45719"/>
          <a:lstStyle/>
          <a:p>
            <a:pPr/>
          </a:p>
        </p:txBody>
      </p:sp>
      <p:sp>
        <p:nvSpPr>
          <p:cNvPr id="74" name="Text 7"/>
          <p:cNvSpPr txBox="1"/>
          <p:nvPr/>
        </p:nvSpPr>
        <p:spPr>
          <a:xfrm>
            <a:off x="685800" y="2441194"/>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1</a:t>
            </a:r>
          </a:p>
        </p:txBody>
      </p:sp>
      <p:sp>
        <p:nvSpPr>
          <p:cNvPr id="75" name="Text 8"/>
          <p:cNvSpPr txBox="1"/>
          <p:nvPr/>
        </p:nvSpPr>
        <p:spPr>
          <a:xfrm>
            <a:off x="1143000" y="2449575"/>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Do NOT lecture for 30 minutes then ask students to build.</a:t>
            </a:r>
          </a:p>
        </p:txBody>
      </p:sp>
      <p:sp>
        <p:nvSpPr>
          <p:cNvPr id="76" name="Shape 9"/>
          <p:cNvSpPr/>
          <p:nvPr/>
        </p:nvSpPr>
        <p:spPr>
          <a:xfrm>
            <a:off x="640080" y="2898648"/>
            <a:ext cx="292609" cy="292609"/>
          </a:xfrm>
          <a:prstGeom prst="ellipse">
            <a:avLst/>
          </a:prstGeom>
          <a:solidFill>
            <a:srgbClr val="367875"/>
          </a:solidFill>
          <a:ln w="12700">
            <a:miter lim="400000"/>
          </a:ln>
        </p:spPr>
        <p:txBody>
          <a:bodyPr lIns="45719" rIns="45719"/>
          <a:lstStyle/>
          <a:p>
            <a:pPr/>
          </a:p>
        </p:txBody>
      </p:sp>
      <p:sp>
        <p:nvSpPr>
          <p:cNvPr id="77" name="Text 10"/>
          <p:cNvSpPr txBox="1"/>
          <p:nvPr/>
        </p:nvSpPr>
        <p:spPr>
          <a:xfrm>
            <a:off x="685800" y="2916682"/>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2</a:t>
            </a:r>
          </a:p>
        </p:txBody>
      </p:sp>
      <p:sp>
        <p:nvSpPr>
          <p:cNvPr id="78" name="Text 11"/>
          <p:cNvSpPr txBox="1"/>
          <p:nvPr/>
        </p:nvSpPr>
        <p:spPr>
          <a:xfrm>
            <a:off x="1143000" y="2925063"/>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Instead, teach the concept while building.</a:t>
            </a:r>
          </a:p>
        </p:txBody>
      </p:sp>
      <p:sp>
        <p:nvSpPr>
          <p:cNvPr id="79" name="Shape 12"/>
          <p:cNvSpPr/>
          <p:nvPr/>
        </p:nvSpPr>
        <p:spPr>
          <a:xfrm>
            <a:off x="640080" y="3374135"/>
            <a:ext cx="292609" cy="292609"/>
          </a:xfrm>
          <a:prstGeom prst="ellipse">
            <a:avLst/>
          </a:prstGeom>
          <a:solidFill>
            <a:srgbClr val="367875"/>
          </a:solidFill>
          <a:ln w="12700">
            <a:miter lim="400000"/>
          </a:ln>
        </p:spPr>
        <p:txBody>
          <a:bodyPr lIns="45719" rIns="45719"/>
          <a:lstStyle/>
          <a:p>
            <a:pPr/>
          </a:p>
        </p:txBody>
      </p:sp>
      <p:sp>
        <p:nvSpPr>
          <p:cNvPr id="80" name="Text 13"/>
          <p:cNvSpPr txBox="1"/>
          <p:nvPr/>
        </p:nvSpPr>
        <p:spPr>
          <a:xfrm>
            <a:off x="685800" y="3392169"/>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3</a:t>
            </a:r>
          </a:p>
        </p:txBody>
      </p:sp>
      <p:sp>
        <p:nvSpPr>
          <p:cNvPr id="81" name="Text 14"/>
          <p:cNvSpPr txBox="1"/>
          <p:nvPr/>
        </p:nvSpPr>
        <p:spPr>
          <a:xfrm>
            <a:off x="1143000" y="3400551"/>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2" name="Shape 15"/>
          <p:cNvSpPr/>
          <p:nvPr/>
        </p:nvSpPr>
        <p:spPr>
          <a:xfrm>
            <a:off x="640080" y="3849623"/>
            <a:ext cx="292609" cy="292609"/>
          </a:xfrm>
          <a:prstGeom prst="ellipse">
            <a:avLst/>
          </a:prstGeom>
          <a:solidFill>
            <a:srgbClr val="367875"/>
          </a:solidFill>
          <a:ln w="12700">
            <a:miter lim="400000"/>
          </a:ln>
        </p:spPr>
        <p:txBody>
          <a:bodyPr lIns="45719" rIns="45719"/>
          <a:lstStyle/>
          <a:p>
            <a:pPr/>
          </a:p>
        </p:txBody>
      </p:sp>
      <p:sp>
        <p:nvSpPr>
          <p:cNvPr id="83" name="Text 16"/>
          <p:cNvSpPr txBox="1"/>
          <p:nvPr/>
        </p:nvSpPr>
        <p:spPr>
          <a:xfrm>
            <a:off x="685800" y="3867657"/>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4</a:t>
            </a:r>
          </a:p>
        </p:txBody>
      </p:sp>
      <p:sp>
        <p:nvSpPr>
          <p:cNvPr id="84" name="Text 17"/>
          <p:cNvSpPr txBox="1"/>
          <p:nvPr/>
        </p:nvSpPr>
        <p:spPr>
          <a:xfrm>
            <a:off x="1143000" y="387603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5" name="Shape 18"/>
          <p:cNvSpPr/>
          <p:nvPr/>
        </p:nvSpPr>
        <p:spPr>
          <a:xfrm>
            <a:off x="640079" y="4434840"/>
            <a:ext cx="7863842" cy="365761"/>
          </a:xfrm>
          <a:prstGeom prst="rect">
            <a:avLst/>
          </a:prstGeom>
          <a:solidFill>
            <a:srgbClr val="F0F4F5"/>
          </a:solidFill>
          <a:ln w="12700">
            <a:miter lim="400000"/>
          </a:ln>
        </p:spPr>
        <p:txBody>
          <a:bodyPr lIns="45719" rIns="45719"/>
          <a:lstStyle/>
          <a:p>
            <a:r>
              <a:t>💡 Teacher tip: Pre-create test emails and a template Google Sheet. Have screenshots of each step projected. Expect 3–5 students to hit authentication issues with integrations—have a TA or prepared fallback (instruct</a:t>
            </a:r>
          </a:p>
        </p:txBody>
      </p:sp>
      <p:sp>
        <p:nvSpPr>
          <p:cNvPr id="86" name="Text 19"/>
          <p:cNvSpPr txBox="1"/>
          <p:nvPr/>
        </p:nvSpPr>
        <p:spPr>
          <a:xfrm>
            <a:off x="960119" y="446405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E8D9A"/>
                </a:solidFill>
                <a:latin typeface="Outfit"/>
                <a:ea typeface="Outfit"/>
                <a:cs typeface="Outfit"/>
                <a:sym typeface="Outfit"/>
              </a:defRPr>
            </a:lvl1pPr>
          </a:lstStyle>
          <a:p>
            <a:pPr/>
            <a:r>
              <a:t>💡 Teacher tip: Pre-create test emails and a template Google Sheet. Have screenshots of each step projected. Expect 3–5 students to hit authentication issues with integrations—have a TA or prepared fallback (instruct</a:t>
            </a:r>
          </a:p>
        </p:txBody>
      </p:sp>
      <p:sp>
        <p:nvSpPr>
          <p:cNvPr id="87" name="Shape 20"/>
          <p:cNvSpPr/>
          <p:nvPr/>
        </p:nvSpPr>
        <p:spPr>
          <a:xfrm>
            <a:off x="0" y="4892040"/>
            <a:ext cx="9144000" cy="251460"/>
          </a:xfrm>
          <a:prstGeom prst="rect">
            <a:avLst/>
          </a:prstGeom>
          <a:solidFill>
            <a:srgbClr val="367875"/>
          </a:solidFill>
          <a:ln w="12700">
            <a:miter lim="400000"/>
          </a:ln>
        </p:spPr>
        <p:txBody>
          <a:bodyPr lIns="45719" rIns="45719"/>
          <a:lstStyle/>
          <a:p>
            <a:r>
              <a:t>Session 3: “Automate &amp; Strategize”</a:t>
            </a:r>
          </a:p>
        </p:txBody>
      </p:sp>
      <p:sp>
        <p:nvSpPr>
          <p:cNvPr id="88" name="Text 2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3: “Automate &amp; Strategize”</a:t>
            </a:r>
          </a:p>
        </p:txBody>
      </p:sp>
      <p:sp>
        <p:nvSpPr>
          <p:cNvPr id="89" name="Text 2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68" name="Text 1"/>
          <p:cNvSpPr txBox="1"/>
          <p:nvPr/>
        </p:nvSpPr>
        <p:spPr>
          <a:xfrm>
            <a:off x="685800" y="226060"/>
            <a:ext cx="35661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ACTIVITY</a:t>
            </a:r>
          </a:p>
        </p:txBody>
      </p:sp>
      <p:sp>
        <p:nvSpPr>
          <p:cNvPr id="69" name="Text 2"/>
          <p:cNvSpPr txBox="1"/>
          <p:nvPr/>
        </p:nvSpPr>
        <p:spPr>
          <a:xfrm>
            <a:off x="4617720" y="264160"/>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300">
                <a:solidFill>
                  <a:srgbClr val="6E8D9A"/>
                </a:solidFill>
                <a:latin typeface="Outfit"/>
                <a:ea typeface="Outfit"/>
                <a:cs typeface="Outfit"/>
                <a:sym typeface="Outfit"/>
              </a:defRPr>
            </a:lvl1pPr>
          </a:lstStyle>
          <a:p>
            <a:pPr/>
            <a:r>
              <a:t>  •  25 min</a:t>
            </a:r>
          </a:p>
        </p:txBody>
      </p:sp>
      <p:sp>
        <p:nvSpPr>
          <p:cNvPr id="70" name="Shape 3"/>
          <p:cNvSpPr/>
          <p:nvPr/>
        </p:nvSpPr>
        <p:spPr>
          <a:xfrm>
            <a:off x="640079" y="1097280"/>
            <a:ext cx="7863842" cy="1005840"/>
          </a:xfrm>
          <a:prstGeom prst="rect">
            <a:avLst/>
          </a:prstGeom>
          <a:solidFill>
            <a:srgbClr val="243554"/>
          </a:solidFill>
          <a:ln w="12700">
            <a:miter lim="400000"/>
          </a:ln>
        </p:spPr>
        <p:txBody>
          <a:bodyPr lIns="45719" rIns="45719"/>
          <a:lstStyle/>
          <a:p>
            <a:pPr/>
          </a:p>
        </p:txBody>
      </p:sp>
      <p:sp>
        <p:nvSpPr>
          <p:cNvPr id="71" name="Text 4"/>
          <p:cNvSpPr txBox="1"/>
          <p:nvPr/>
        </p:nvSpPr>
        <p:spPr>
          <a:xfrm>
            <a:off x="960119" y="116077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FFFFFF"/>
                </a:solidFill>
                <a:latin typeface="Outfit"/>
                <a:ea typeface="Outfit"/>
                <a:cs typeface="Outfit"/>
                <a:sym typeface="Outfit"/>
              </a:defRPr>
            </a:lvl1pPr>
          </a:lstStyle>
          <a:p>
            <a:pPr/>
            <a:r>
              <a:t>Independent Automation Build</a:t>
            </a:r>
          </a:p>
        </p:txBody>
      </p:sp>
      <p:sp>
        <p:nvSpPr>
          <p:cNvPr id="72" name="Text 5"/>
          <p:cNvSpPr txBox="1"/>
          <p:nvPr/>
        </p:nvSpPr>
        <p:spPr>
          <a:xfrm>
            <a:off x="960119" y="165861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E8D9A"/>
                </a:solidFill>
                <a:latin typeface="Outfit"/>
                <a:ea typeface="Outfit"/>
                <a:cs typeface="Outfit"/>
                <a:sym typeface="Outfit"/>
              </a:defRPr>
            </a:lvl1pPr>
          </a:lstStyle>
          <a:p>
            <a:pPr/>
            <a:r>
              <a:t/>
            </a:r>
          </a:p>
        </p:txBody>
      </p:sp>
      <p:sp>
        <p:nvSpPr>
          <p:cNvPr id="73" name="Shape 6"/>
          <p:cNvSpPr/>
          <p:nvPr/>
        </p:nvSpPr>
        <p:spPr>
          <a:xfrm>
            <a:off x="640080" y="2423160"/>
            <a:ext cx="292609" cy="292609"/>
          </a:xfrm>
          <a:prstGeom prst="ellipse">
            <a:avLst/>
          </a:prstGeom>
          <a:solidFill>
            <a:srgbClr val="367875"/>
          </a:solidFill>
          <a:ln w="12700">
            <a:miter lim="400000"/>
          </a:ln>
        </p:spPr>
        <p:txBody>
          <a:bodyPr lIns="45719" rIns="45719"/>
          <a:lstStyle/>
          <a:p>
            <a:pPr/>
          </a:p>
        </p:txBody>
      </p:sp>
      <p:sp>
        <p:nvSpPr>
          <p:cNvPr id="74" name="Text 7"/>
          <p:cNvSpPr txBox="1"/>
          <p:nvPr/>
        </p:nvSpPr>
        <p:spPr>
          <a:xfrm>
            <a:off x="685800" y="2441194"/>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1</a:t>
            </a:r>
          </a:p>
        </p:txBody>
      </p:sp>
      <p:sp>
        <p:nvSpPr>
          <p:cNvPr id="75" name="Text 8"/>
          <p:cNvSpPr txBox="1"/>
          <p:nvPr/>
        </p:nvSpPr>
        <p:spPr>
          <a:xfrm>
            <a:off x="1143000" y="2449575"/>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76" name="Shape 9"/>
          <p:cNvSpPr/>
          <p:nvPr/>
        </p:nvSpPr>
        <p:spPr>
          <a:xfrm>
            <a:off x="640080" y="2898648"/>
            <a:ext cx="292609" cy="292609"/>
          </a:xfrm>
          <a:prstGeom prst="ellipse">
            <a:avLst/>
          </a:prstGeom>
          <a:solidFill>
            <a:srgbClr val="367875"/>
          </a:solidFill>
          <a:ln w="12700">
            <a:miter lim="400000"/>
          </a:ln>
        </p:spPr>
        <p:txBody>
          <a:bodyPr lIns="45719" rIns="45719"/>
          <a:lstStyle/>
          <a:p>
            <a:pPr/>
          </a:p>
        </p:txBody>
      </p:sp>
      <p:sp>
        <p:nvSpPr>
          <p:cNvPr id="77" name="Text 10"/>
          <p:cNvSpPr txBox="1"/>
          <p:nvPr/>
        </p:nvSpPr>
        <p:spPr>
          <a:xfrm>
            <a:off x="685800" y="2916682"/>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2</a:t>
            </a:r>
          </a:p>
        </p:txBody>
      </p:sp>
      <p:sp>
        <p:nvSpPr>
          <p:cNvPr id="78" name="Text 11"/>
          <p:cNvSpPr txBox="1"/>
          <p:nvPr/>
        </p:nvSpPr>
        <p:spPr>
          <a:xfrm>
            <a:off x="1143000" y="2925063"/>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79" name="Shape 12"/>
          <p:cNvSpPr/>
          <p:nvPr/>
        </p:nvSpPr>
        <p:spPr>
          <a:xfrm>
            <a:off x="640080" y="3374135"/>
            <a:ext cx="292609" cy="292609"/>
          </a:xfrm>
          <a:prstGeom prst="ellipse">
            <a:avLst/>
          </a:prstGeom>
          <a:solidFill>
            <a:srgbClr val="367875"/>
          </a:solidFill>
          <a:ln w="12700">
            <a:miter lim="400000"/>
          </a:ln>
        </p:spPr>
        <p:txBody>
          <a:bodyPr lIns="45719" rIns="45719"/>
          <a:lstStyle/>
          <a:p>
            <a:pPr/>
          </a:p>
        </p:txBody>
      </p:sp>
      <p:sp>
        <p:nvSpPr>
          <p:cNvPr id="80" name="Text 13"/>
          <p:cNvSpPr txBox="1"/>
          <p:nvPr/>
        </p:nvSpPr>
        <p:spPr>
          <a:xfrm>
            <a:off x="685800" y="3392169"/>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3</a:t>
            </a:r>
          </a:p>
        </p:txBody>
      </p:sp>
      <p:sp>
        <p:nvSpPr>
          <p:cNvPr id="81" name="Text 14"/>
          <p:cNvSpPr txBox="1"/>
          <p:nvPr/>
        </p:nvSpPr>
        <p:spPr>
          <a:xfrm>
            <a:off x="1143000" y="3400551"/>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2" name="Shape 15"/>
          <p:cNvSpPr/>
          <p:nvPr/>
        </p:nvSpPr>
        <p:spPr>
          <a:xfrm>
            <a:off x="640080" y="3849623"/>
            <a:ext cx="292609" cy="292609"/>
          </a:xfrm>
          <a:prstGeom prst="ellipse">
            <a:avLst/>
          </a:prstGeom>
          <a:solidFill>
            <a:srgbClr val="367875"/>
          </a:solidFill>
          <a:ln w="12700">
            <a:miter lim="400000"/>
          </a:ln>
        </p:spPr>
        <p:txBody>
          <a:bodyPr lIns="45719" rIns="45719"/>
          <a:lstStyle/>
          <a:p>
            <a:pPr/>
          </a:p>
        </p:txBody>
      </p:sp>
      <p:sp>
        <p:nvSpPr>
          <p:cNvPr id="83" name="Text 16"/>
          <p:cNvSpPr txBox="1"/>
          <p:nvPr/>
        </p:nvSpPr>
        <p:spPr>
          <a:xfrm>
            <a:off x="685800" y="3867657"/>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4</a:t>
            </a:r>
          </a:p>
        </p:txBody>
      </p:sp>
      <p:sp>
        <p:nvSpPr>
          <p:cNvPr id="84" name="Text 17"/>
          <p:cNvSpPr txBox="1"/>
          <p:nvPr/>
        </p:nvSpPr>
        <p:spPr>
          <a:xfrm>
            <a:off x="1143000" y="387603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5" name="Shape 18"/>
          <p:cNvSpPr/>
          <p:nvPr/>
        </p:nvSpPr>
        <p:spPr>
          <a:xfrm>
            <a:off x="640079" y="4434840"/>
            <a:ext cx="7863842" cy="365761"/>
          </a:xfrm>
          <a:prstGeom prst="rect">
            <a:avLst/>
          </a:prstGeom>
          <a:solidFill>
            <a:srgbClr val="F0F4F5"/>
          </a:solidFill>
          <a:ln w="12700">
            <a:miter lim="400000"/>
          </a:ln>
        </p:spPr>
        <p:txBody>
          <a:bodyPr lIns="45719" rIns="45719"/>
          <a:lstStyle/>
          <a:p>
            <a:r>
              <a:t>💡 Teacher tip: Choose automation from workflow audit = 3 min. Build = 17 min. Test = 5 min. Students who finish early: iterate or start a second one.</a:t>
            </a:r>
          </a:p>
        </p:txBody>
      </p:sp>
      <p:sp>
        <p:nvSpPr>
          <p:cNvPr id="86" name="Text 19"/>
          <p:cNvSpPr txBox="1"/>
          <p:nvPr/>
        </p:nvSpPr>
        <p:spPr>
          <a:xfrm>
            <a:off x="960119" y="446405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E8D9A"/>
                </a:solidFill>
                <a:latin typeface="Outfit"/>
                <a:ea typeface="Outfit"/>
                <a:cs typeface="Outfit"/>
                <a:sym typeface="Outfit"/>
              </a:defRPr>
            </a:lvl1pPr>
          </a:lstStyle>
          <a:p>
            <a:pPr/>
            <a:r>
              <a:t>💡 Teacher tip: Choose automation from workflow audit = 3 min. Build = 17 min. Test = 5 min. Students who finish early: iterate or start a second one.</a:t>
            </a:r>
          </a:p>
        </p:txBody>
      </p:sp>
      <p:sp>
        <p:nvSpPr>
          <p:cNvPr id="87" name="Shape 20"/>
          <p:cNvSpPr/>
          <p:nvPr/>
        </p:nvSpPr>
        <p:spPr>
          <a:xfrm>
            <a:off x="0" y="4892040"/>
            <a:ext cx="9144000" cy="251460"/>
          </a:xfrm>
          <a:prstGeom prst="rect">
            <a:avLst/>
          </a:prstGeom>
          <a:solidFill>
            <a:srgbClr val="367875"/>
          </a:solidFill>
          <a:ln w="12700">
            <a:miter lim="400000"/>
          </a:ln>
        </p:spPr>
        <p:txBody>
          <a:bodyPr lIns="45719" rIns="45719"/>
          <a:lstStyle/>
          <a:p>
            <a:r>
              <a:t>Session 3: “Automate &amp; Strategize”</a:t>
            </a:r>
          </a:p>
        </p:txBody>
      </p:sp>
      <p:sp>
        <p:nvSpPr>
          <p:cNvPr id="88" name="Text 2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3: “Automate &amp; Strategize”</a:t>
            </a:r>
          </a:p>
        </p:txBody>
      </p:sp>
      <p:sp>
        <p:nvSpPr>
          <p:cNvPr id="89" name="Text 2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68" name="Text 1"/>
          <p:cNvSpPr txBox="1"/>
          <p:nvPr/>
        </p:nvSpPr>
        <p:spPr>
          <a:xfrm>
            <a:off x="685800" y="226060"/>
            <a:ext cx="35661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ACTIVITY</a:t>
            </a:r>
          </a:p>
        </p:txBody>
      </p:sp>
      <p:sp>
        <p:nvSpPr>
          <p:cNvPr id="69" name="Text 2"/>
          <p:cNvSpPr txBox="1"/>
          <p:nvPr/>
        </p:nvSpPr>
        <p:spPr>
          <a:xfrm>
            <a:off x="4617720" y="264160"/>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300">
                <a:solidFill>
                  <a:srgbClr val="6E8D9A"/>
                </a:solidFill>
                <a:latin typeface="Outfit"/>
                <a:ea typeface="Outfit"/>
                <a:cs typeface="Outfit"/>
                <a:sym typeface="Outfit"/>
              </a:defRPr>
            </a:lvl1pPr>
          </a:lstStyle>
          <a:p>
            <a:pPr/>
            <a:r>
              <a:t>Interactive lecture  •  30 min</a:t>
            </a:r>
          </a:p>
        </p:txBody>
      </p:sp>
      <p:sp>
        <p:nvSpPr>
          <p:cNvPr id="70" name="Shape 3"/>
          <p:cNvSpPr/>
          <p:nvPr/>
        </p:nvSpPr>
        <p:spPr>
          <a:xfrm>
            <a:off x="640079" y="1097280"/>
            <a:ext cx="7863842" cy="1005840"/>
          </a:xfrm>
          <a:prstGeom prst="rect">
            <a:avLst/>
          </a:prstGeom>
          <a:solidFill>
            <a:srgbClr val="243554"/>
          </a:solidFill>
          <a:ln w="12700">
            <a:miter lim="400000"/>
          </a:ln>
        </p:spPr>
        <p:txBody>
          <a:bodyPr lIns="45719" rIns="45719"/>
          <a:lstStyle/>
          <a:p>
            <a:pPr/>
          </a:p>
        </p:txBody>
      </p:sp>
      <p:sp>
        <p:nvSpPr>
          <p:cNvPr id="71" name="Text 4"/>
          <p:cNvSpPr txBox="1"/>
          <p:nvPr/>
        </p:nvSpPr>
        <p:spPr>
          <a:xfrm>
            <a:off x="960119" y="116077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FFFFFF"/>
                </a:solidFill>
                <a:latin typeface="Outfit"/>
                <a:ea typeface="Outfit"/>
                <a:cs typeface="Outfit"/>
                <a:sym typeface="Outfit"/>
              </a:defRPr>
            </a:lvl1pPr>
          </a:lstStyle>
          <a:p>
            <a:pPr/>
            <a:r>
              <a:t>Agentic AI &amp; MCP: What’s Next</a:t>
            </a:r>
          </a:p>
        </p:txBody>
      </p:sp>
      <p:sp>
        <p:nvSpPr>
          <p:cNvPr id="72" name="Text 5"/>
          <p:cNvSpPr txBox="1"/>
          <p:nvPr/>
        </p:nvSpPr>
        <p:spPr>
          <a:xfrm>
            <a:off x="960119" y="165861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E8D9A"/>
                </a:solidFill>
                <a:latin typeface="Outfit"/>
                <a:ea typeface="Outfit"/>
                <a:cs typeface="Outfit"/>
                <a:sym typeface="Outfit"/>
              </a:defRPr>
            </a:lvl1pPr>
          </a:lstStyle>
          <a:p>
            <a:pPr/>
            <a:r>
              <a:t>Conceptual overview only—no hands-on. What are AI agents (programs that plan, execute, and iterate autonomously)? What...</a:t>
            </a:r>
          </a:p>
        </p:txBody>
      </p:sp>
      <p:sp>
        <p:nvSpPr>
          <p:cNvPr id="73" name="Shape 6"/>
          <p:cNvSpPr/>
          <p:nvPr/>
        </p:nvSpPr>
        <p:spPr>
          <a:xfrm>
            <a:off x="640080" y="2423160"/>
            <a:ext cx="292609" cy="292609"/>
          </a:xfrm>
          <a:prstGeom prst="ellipse">
            <a:avLst/>
          </a:prstGeom>
          <a:solidFill>
            <a:srgbClr val="367875"/>
          </a:solidFill>
          <a:ln w="12700">
            <a:miter lim="400000"/>
          </a:ln>
        </p:spPr>
        <p:txBody>
          <a:bodyPr lIns="45719" rIns="45719"/>
          <a:lstStyle/>
          <a:p>
            <a:pPr/>
          </a:p>
        </p:txBody>
      </p:sp>
      <p:sp>
        <p:nvSpPr>
          <p:cNvPr id="74" name="Text 7"/>
          <p:cNvSpPr txBox="1"/>
          <p:nvPr/>
        </p:nvSpPr>
        <p:spPr>
          <a:xfrm>
            <a:off x="685800" y="2441194"/>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1</a:t>
            </a:r>
          </a:p>
        </p:txBody>
      </p:sp>
      <p:sp>
        <p:nvSpPr>
          <p:cNvPr id="75" name="Text 8"/>
          <p:cNvSpPr txBox="1"/>
          <p:nvPr/>
        </p:nvSpPr>
        <p:spPr>
          <a:xfrm>
            <a:off x="1143000" y="2449575"/>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Conceptual overview only—no hands-on.</a:t>
            </a:r>
          </a:p>
        </p:txBody>
      </p:sp>
      <p:sp>
        <p:nvSpPr>
          <p:cNvPr id="76" name="Shape 9"/>
          <p:cNvSpPr/>
          <p:nvPr/>
        </p:nvSpPr>
        <p:spPr>
          <a:xfrm>
            <a:off x="640080" y="2898648"/>
            <a:ext cx="292609" cy="292609"/>
          </a:xfrm>
          <a:prstGeom prst="ellipse">
            <a:avLst/>
          </a:prstGeom>
          <a:solidFill>
            <a:srgbClr val="367875"/>
          </a:solidFill>
          <a:ln w="12700">
            <a:miter lim="400000"/>
          </a:ln>
        </p:spPr>
        <p:txBody>
          <a:bodyPr lIns="45719" rIns="45719"/>
          <a:lstStyle/>
          <a:p>
            <a:pPr/>
          </a:p>
        </p:txBody>
      </p:sp>
      <p:sp>
        <p:nvSpPr>
          <p:cNvPr id="77" name="Text 10"/>
          <p:cNvSpPr txBox="1"/>
          <p:nvPr/>
        </p:nvSpPr>
        <p:spPr>
          <a:xfrm>
            <a:off x="685800" y="2916682"/>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2</a:t>
            </a:r>
          </a:p>
        </p:txBody>
      </p:sp>
      <p:sp>
        <p:nvSpPr>
          <p:cNvPr id="78" name="Text 11"/>
          <p:cNvSpPr txBox="1"/>
          <p:nvPr/>
        </p:nvSpPr>
        <p:spPr>
          <a:xfrm>
            <a:off x="1143000" y="2925063"/>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What are AI agents (programs that plan, execute, and iterate autonomously)? What is MCP (a protocol that lets AI tools talk to other software)? What does this mean for their work in the next 6–12 months? Use 2–3 concrete examples: an AI agent that plans a trip by searching flights, booking hotels, and creating an itinerary; an AI agent that reads your email, drafts replies, and schedules follow-ups.</a:t>
            </a:r>
          </a:p>
        </p:txBody>
      </p:sp>
      <p:sp>
        <p:nvSpPr>
          <p:cNvPr id="79" name="Shape 12"/>
          <p:cNvSpPr/>
          <p:nvPr/>
        </p:nvSpPr>
        <p:spPr>
          <a:xfrm>
            <a:off x="640080" y="3374135"/>
            <a:ext cx="292609" cy="292609"/>
          </a:xfrm>
          <a:prstGeom prst="ellipse">
            <a:avLst/>
          </a:prstGeom>
          <a:solidFill>
            <a:srgbClr val="367875"/>
          </a:solidFill>
          <a:ln w="12700">
            <a:miter lim="400000"/>
          </a:ln>
        </p:spPr>
        <p:txBody>
          <a:bodyPr lIns="45719" rIns="45719"/>
          <a:lstStyle/>
          <a:p>
            <a:pPr/>
          </a:p>
        </p:txBody>
      </p:sp>
      <p:sp>
        <p:nvSpPr>
          <p:cNvPr id="80" name="Text 13"/>
          <p:cNvSpPr txBox="1"/>
          <p:nvPr/>
        </p:nvSpPr>
        <p:spPr>
          <a:xfrm>
            <a:off x="685800" y="3392169"/>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3</a:t>
            </a:r>
          </a:p>
        </p:txBody>
      </p:sp>
      <p:sp>
        <p:nvSpPr>
          <p:cNvPr id="81" name="Text 14"/>
          <p:cNvSpPr txBox="1"/>
          <p:nvPr/>
        </p:nvSpPr>
        <p:spPr>
          <a:xfrm>
            <a:off x="1143000" y="3400551"/>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2" name="Shape 15"/>
          <p:cNvSpPr/>
          <p:nvPr/>
        </p:nvSpPr>
        <p:spPr>
          <a:xfrm>
            <a:off x="640080" y="3849623"/>
            <a:ext cx="292609" cy="292609"/>
          </a:xfrm>
          <a:prstGeom prst="ellipse">
            <a:avLst/>
          </a:prstGeom>
          <a:solidFill>
            <a:srgbClr val="367875"/>
          </a:solidFill>
          <a:ln w="12700">
            <a:miter lim="400000"/>
          </a:ln>
        </p:spPr>
        <p:txBody>
          <a:bodyPr lIns="45719" rIns="45719"/>
          <a:lstStyle/>
          <a:p>
            <a:pPr/>
          </a:p>
        </p:txBody>
      </p:sp>
      <p:sp>
        <p:nvSpPr>
          <p:cNvPr id="83" name="Text 16"/>
          <p:cNvSpPr txBox="1"/>
          <p:nvPr/>
        </p:nvSpPr>
        <p:spPr>
          <a:xfrm>
            <a:off x="685800" y="3867657"/>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4</a:t>
            </a:r>
          </a:p>
        </p:txBody>
      </p:sp>
      <p:sp>
        <p:nvSpPr>
          <p:cNvPr id="84" name="Text 17"/>
          <p:cNvSpPr txBox="1"/>
          <p:nvPr/>
        </p:nvSpPr>
        <p:spPr>
          <a:xfrm>
            <a:off x="1143000" y="387603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5" name="Shape 18"/>
          <p:cNvSpPr/>
          <p:nvPr/>
        </p:nvSpPr>
        <p:spPr>
          <a:xfrm>
            <a:off x="640079" y="4434840"/>
            <a:ext cx="7863842" cy="365761"/>
          </a:xfrm>
          <a:prstGeom prst="rect">
            <a:avLst/>
          </a:prstGeom>
          <a:solidFill>
            <a:srgbClr val="F0F4F5"/>
          </a:solidFill>
          <a:ln w="12700">
            <a:miter lim="400000"/>
          </a:ln>
        </p:spPr>
        <p:txBody>
          <a:bodyPr lIns="45719" rIns="45719"/>
          <a:lstStyle/>
          <a:p>
            <a:r>
              <a:t>💡 Teacher tip: AI agents concept + examples = 12 min. Pair discussion = 3 min. MCP + implications = 10 min. Q&amp;A = 5 min.</a:t>
            </a:r>
          </a:p>
        </p:txBody>
      </p:sp>
      <p:sp>
        <p:nvSpPr>
          <p:cNvPr id="86" name="Text 19"/>
          <p:cNvSpPr txBox="1"/>
          <p:nvPr/>
        </p:nvSpPr>
        <p:spPr>
          <a:xfrm>
            <a:off x="960119" y="446405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E8D9A"/>
                </a:solidFill>
                <a:latin typeface="Outfit"/>
                <a:ea typeface="Outfit"/>
                <a:cs typeface="Outfit"/>
                <a:sym typeface="Outfit"/>
              </a:defRPr>
            </a:lvl1pPr>
          </a:lstStyle>
          <a:p>
            <a:pPr/>
            <a:r>
              <a:t>💡 Teacher tip: AI agents concept + examples = 12 min. Pair discussion = 3 min. MCP + implications = 10 min. Q&amp;A = 5 min.</a:t>
            </a:r>
          </a:p>
        </p:txBody>
      </p:sp>
      <p:sp>
        <p:nvSpPr>
          <p:cNvPr id="87" name="Shape 20"/>
          <p:cNvSpPr/>
          <p:nvPr/>
        </p:nvSpPr>
        <p:spPr>
          <a:xfrm>
            <a:off x="0" y="4892040"/>
            <a:ext cx="9144000" cy="251460"/>
          </a:xfrm>
          <a:prstGeom prst="rect">
            <a:avLst/>
          </a:prstGeom>
          <a:solidFill>
            <a:srgbClr val="367875"/>
          </a:solidFill>
          <a:ln w="12700">
            <a:miter lim="400000"/>
          </a:ln>
        </p:spPr>
        <p:txBody>
          <a:bodyPr lIns="45719" rIns="45719"/>
          <a:lstStyle/>
          <a:p>
            <a:r>
              <a:t>Session 3: “Automate &amp; Strategize”</a:t>
            </a:r>
          </a:p>
        </p:txBody>
      </p:sp>
      <p:sp>
        <p:nvSpPr>
          <p:cNvPr id="88" name="Text 2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3: “Automate &amp; Strategize”</a:t>
            </a:r>
          </a:p>
        </p:txBody>
      </p:sp>
      <p:sp>
        <p:nvSpPr>
          <p:cNvPr id="89" name="Text 2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