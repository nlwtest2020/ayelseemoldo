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-787400" y="1891980"/>
            <a:ext cx="9890760" cy="3297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55" fill="norm" stroke="1" extrusionOk="0">
                <a:moveTo>
                  <a:pt x="0" y="21335"/>
                </a:moveTo>
                <a:lnTo>
                  <a:pt x="4588" y="21355"/>
                </a:lnTo>
                <a:cubicBezTo>
                  <a:pt x="6886" y="16099"/>
                  <a:pt x="9456" y="11518"/>
                  <a:pt x="12239" y="7716"/>
                </a:cubicBezTo>
                <a:cubicBezTo>
                  <a:pt x="13679" y="5748"/>
                  <a:pt x="15173" y="3997"/>
                  <a:pt x="16753" y="2773"/>
                </a:cubicBezTo>
                <a:cubicBezTo>
                  <a:pt x="18315" y="1563"/>
                  <a:pt x="19948" y="881"/>
                  <a:pt x="21600" y="752"/>
                </a:cubicBezTo>
                <a:cubicBezTo>
                  <a:pt x="19679" y="-172"/>
                  <a:pt x="17699" y="-245"/>
                  <a:pt x="15766" y="536"/>
                </a:cubicBezTo>
                <a:cubicBezTo>
                  <a:pt x="12681" y="1782"/>
                  <a:pt x="9885" y="5061"/>
                  <a:pt x="7276" y="8797"/>
                </a:cubicBezTo>
                <a:cubicBezTo>
                  <a:pt x="4722" y="12456"/>
                  <a:pt x="2286" y="16641"/>
                  <a:pt x="0" y="21335"/>
                </a:cubicBezTo>
                <a:close/>
              </a:path>
            </a:pathLst>
          </a:custGeom>
          <a:solidFill>
            <a:srgbClr val="9222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254000" y="2385060"/>
            <a:ext cx="5074599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AI &amp; Digital Workflows</a:t>
            </a:r>
          </a:p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Bootcamp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54000" y="3831589"/>
            <a:ext cx="72237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  |  7 Contact Hours</a:t>
            </a:r>
          </a:p>
        </p:txBody>
      </p:sp>
      <p:sp>
        <p:nvSpPr>
          <p:cNvPr id="23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25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-107129" y="385925"/>
            <a:ext cx="3913429" cy="26089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85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73100" y="621030"/>
            <a:ext cx="44805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400"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01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673100" y="3136900"/>
            <a:ext cx="44805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Saturday, Weekend 1  |  10:00 AM – 5:45 PM</a:t>
            </a:r>
          </a:p>
        </p:txBody>
      </p:sp>
      <p:grpSp>
        <p:nvGrpSpPr>
          <p:cNvPr id="32" name="Group"/>
          <p:cNvGrpSpPr/>
          <p:nvPr/>
        </p:nvGrpSpPr>
        <p:grpSpPr>
          <a:xfrm>
            <a:off x="4318000" y="517388"/>
            <a:ext cx="4893608" cy="4108724"/>
            <a:chOff x="0" y="0"/>
            <a:chExt cx="4893607" cy="4108722"/>
          </a:xfrm>
        </p:grpSpPr>
        <p:sp>
          <p:nvSpPr>
            <p:cNvPr id="29" name="Shape"/>
            <p:cNvSpPr/>
            <p:nvPr/>
          </p:nvSpPr>
          <p:spPr>
            <a:xfrm>
              <a:off x="2917162" y="2278530"/>
              <a:ext cx="1681224" cy="1830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152"/>
                  </a:moveTo>
                  <a:lnTo>
                    <a:pt x="8118" y="21600"/>
                  </a:lnTo>
                  <a:lnTo>
                    <a:pt x="21600" y="21354"/>
                  </a:lnTo>
                  <a:lnTo>
                    <a:pt x="10990" y="0"/>
                  </a:lnTo>
                  <a:cubicBezTo>
                    <a:pt x="9106" y="161"/>
                    <a:pt x="7257" y="563"/>
                    <a:pt x="5495" y="1195"/>
                  </a:cubicBezTo>
                  <a:cubicBezTo>
                    <a:pt x="3505" y="1908"/>
                    <a:pt x="1650" y="2907"/>
                    <a:pt x="0" y="4152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0" name="Shape"/>
            <p:cNvSpPr/>
            <p:nvPr/>
          </p:nvSpPr>
          <p:spPr>
            <a:xfrm>
              <a:off x="125900" y="0"/>
              <a:ext cx="3480352" cy="3800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458" y="20419"/>
                    <a:pt x="2979" y="19305"/>
                    <a:pt x="4557" y="18262"/>
                  </a:cubicBezTo>
                  <a:cubicBezTo>
                    <a:pt x="6038" y="17283"/>
                    <a:pt x="7568" y="16368"/>
                    <a:pt x="9142" y="15519"/>
                  </a:cubicBezTo>
                  <a:lnTo>
                    <a:pt x="13288" y="6462"/>
                  </a:lnTo>
                  <a:lnTo>
                    <a:pt x="16064" y="12325"/>
                  </a:lnTo>
                  <a:cubicBezTo>
                    <a:pt x="16934" y="11896"/>
                    <a:pt x="17852" y="11555"/>
                    <a:pt x="18803" y="11308"/>
                  </a:cubicBezTo>
                  <a:cubicBezTo>
                    <a:pt x="19716" y="11072"/>
                    <a:pt x="20653" y="10923"/>
                    <a:pt x="21600" y="10865"/>
                  </a:cubicBezTo>
                  <a:lnTo>
                    <a:pt x="16471" y="154"/>
                  </a:lnTo>
                  <a:lnTo>
                    <a:pt x="102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1" name="Shape"/>
            <p:cNvSpPr/>
            <p:nvPr/>
          </p:nvSpPr>
          <p:spPr>
            <a:xfrm>
              <a:off x="0" y="2001950"/>
              <a:ext cx="4893608" cy="2092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5" fill="norm" stroke="1" extrusionOk="0">
                  <a:moveTo>
                    <a:pt x="0" y="21335"/>
                  </a:moveTo>
                  <a:lnTo>
                    <a:pt x="4588" y="21355"/>
                  </a:lnTo>
                  <a:cubicBezTo>
                    <a:pt x="6886" y="16099"/>
                    <a:pt x="9456" y="11518"/>
                    <a:pt x="12239" y="7716"/>
                  </a:cubicBezTo>
                  <a:cubicBezTo>
                    <a:pt x="13679" y="5748"/>
                    <a:pt x="15173" y="3997"/>
                    <a:pt x="16753" y="2773"/>
                  </a:cubicBezTo>
                  <a:cubicBezTo>
                    <a:pt x="18315" y="1563"/>
                    <a:pt x="19948" y="881"/>
                    <a:pt x="21600" y="752"/>
                  </a:cubicBezTo>
                  <a:cubicBezTo>
                    <a:pt x="19679" y="-172"/>
                    <a:pt x="17699" y="-245"/>
                    <a:pt x="15766" y="536"/>
                  </a:cubicBezTo>
                  <a:cubicBezTo>
                    <a:pt x="12681" y="1782"/>
                    <a:pt x="9885" y="5061"/>
                    <a:pt x="7276" y="8797"/>
                  </a:cubicBezTo>
                  <a:cubicBezTo>
                    <a:pt x="4722" y="12456"/>
                    <a:pt x="2286" y="16641"/>
                    <a:pt x="0" y="21335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33" name="Text 1"/>
          <p:cNvSpPr txBox="1"/>
          <p:nvPr/>
        </p:nvSpPr>
        <p:spPr>
          <a:xfrm>
            <a:off x="673100" y="1160144"/>
            <a:ext cx="5394960" cy="151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90000"/>
              </a:lnSpc>
              <a:defRPr b="1" sz="4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“GET YOUR HANDS DIRTY”</a:t>
            </a:r>
          </a:p>
        </p:txBody>
      </p:sp>
      <p:sp>
        <p:nvSpPr>
          <p:cNvPr id="34" name="Rectangle"/>
          <p:cNvSpPr/>
          <p:nvPr/>
        </p:nvSpPr>
        <p:spPr>
          <a:xfrm>
            <a:off x="698500" y="2831018"/>
            <a:ext cx="3653929" cy="150119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LEARNING OBJECTIVES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640080" y="118871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1097280" y="118871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Explain in plain language how LLMs generate text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640080" y="2057400"/>
            <a:ext cx="365761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1" name="Text 5"/>
          <p:cNvSpPr txBox="1"/>
          <p:nvPr/>
        </p:nvSpPr>
        <p:spPr>
          <a:xfrm>
            <a:off x="1097280" y="2057400"/>
            <a:ext cx="722376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Write a structured prompt using the CRAFT framework and iterate to improve output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640080" y="292607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1097280" y="292607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Identify at least 2 differences between LLM tools and articulate when to choose which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640080" y="379475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5" name="Text 9"/>
          <p:cNvSpPr txBox="1"/>
          <p:nvPr/>
        </p:nvSpPr>
        <p:spPr>
          <a:xfrm>
            <a:off x="1097280" y="379475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Detect bias in AI-generated text and explain its source in training data</a:t>
            </a:r>
          </a:p>
        </p:txBody>
      </p:sp>
      <p:sp>
        <p:nvSpPr>
          <p:cNvPr id="46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48" name="Text 1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KEY VOCABULARY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68580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TERMS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685800" y="146303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CRAFT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Context, Role, Audience, Format, Tone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685800" y="224027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chain-of-thought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Breaking tasks into step-by-step subtasks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685800" y="3017520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token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Smallest unit of text an LLM processes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685800" y="379475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temperature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Controls randomness (0=precise, 1=creative)</a:t>
            </a:r>
          </a:p>
        </p:txBody>
      </p:sp>
      <p:sp>
        <p:nvSpPr>
          <p:cNvPr id="57" name="Shape 7"/>
          <p:cNvSpPr/>
          <p:nvPr/>
        </p:nvSpPr>
        <p:spPr>
          <a:xfrm flipH="1">
            <a:off x="4663440" y="1051560"/>
            <a:ext cx="1" cy="3474721"/>
          </a:xfrm>
          <a:prstGeom prst="line">
            <a:avLst/>
          </a:prstGeom>
          <a:ln w="12700">
            <a:solidFill>
              <a:srgbClr val="6E8D9A"/>
            </a:solidFill>
          </a:ln>
        </p:spPr>
        <p:txBody>
          <a:bodyPr lIns="45719" rIns="45719"/>
          <a:lstStyle/>
          <a:p>
            <a:r>
              <a:t>"Use CRAFT to structure every prompt for better output."</a:t>
            </a:r>
          </a:p>
        </p:txBody>
      </p:sp>
      <p:sp>
        <p:nvSpPr>
          <p:cNvPr id="58" name="Text 8"/>
          <p:cNvSpPr txBox="1"/>
          <p:nvPr/>
        </p:nvSpPr>
        <p:spPr>
          <a:xfrm>
            <a:off x="507492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 CONTEXT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5074920" y="146303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"Think step by step: audience → messaging → channels."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5074920" y="224027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"'Unbelievable' might be split into 3 tokens."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5074920" y="3017520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"Lower temperature for consistent, factual responses."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5074920" y="379475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63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4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Individual work  •  30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First Prompt, No Instructions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Students open Claude. One prompt, projected on screen: “Write me a professional email declining a meeting politely.” No...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Students open Claude.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One prompt, projected on screen: “Write me a professional email declining a meeting politely.” No other instructions.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Let them struggle.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Resist the urge to teach during this block. The point is to let students discover the problem. Teaching happens next.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Resist the urge to teach during this block. The point is to let students discover the problem. Teaching happens next.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ASSESSMENT CRITERIA</a:t>
            </a:r>
          </a:p>
        </p:txBody>
      </p:sp>
      <p:graphicFrame>
        <p:nvGraphicFramePr>
          <p:cNvPr id="93" name="Table 0"/>
          <p:cNvGraphicFramePr/>
          <p:nvPr/>
        </p:nvGraphicFramePr>
        <p:xfrm>
          <a:off x="640080" y="1097280"/>
          <a:ext cx="7863841" cy="27889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Criterion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Developing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Competent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Proficient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Prompt quality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Generic, no structure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Uses CRAFT elements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Polished, iterated prompts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Tool awareness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Can't distinguish tools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Names differences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Selects right tool for task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Critical thinking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Accepts all AI output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Questions some output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Identifies bias &amp; errors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Portfolio artifact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Incomplete Playbook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 basic prompts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7+ tested prompts w/ rubrics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9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1"/>
          <p:cNvSpPr txBox="1"/>
          <p:nvPr/>
        </p:nvSpPr>
        <p:spPr>
          <a:xfrm>
            <a:off x="960119" y="1912620"/>
            <a:ext cx="722376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1038279" y="3022183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Research, Write, Create</a:t>
            </a:r>
          </a:p>
        </p:txBody>
      </p:sp>
      <p:sp>
        <p:nvSpPr>
          <p:cNvPr id="100" name="Shape 3"/>
          <p:cNvSpPr/>
          <p:nvPr/>
        </p:nvSpPr>
        <p:spPr>
          <a:xfrm>
            <a:off x="-38150" y="3859113"/>
            <a:ext cx="9182150" cy="12843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439" y="16394"/>
                </a:lnTo>
                <a:lnTo>
                  <a:pt x="21600" y="21600"/>
                </a:lnTo>
                <a:lnTo>
                  <a:pt x="9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102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2615285" y="-116359"/>
            <a:ext cx="3913430" cy="260895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3"/>
          <p:cNvSpPr/>
          <p:nvPr/>
        </p:nvSpPr>
        <p:spPr>
          <a:xfrm flipH="1">
            <a:off x="137244" y="3859113"/>
            <a:ext cx="9025831" cy="1546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3516" y="3918"/>
                  <a:pt x="7044" y="7467"/>
                  <a:pt x="10583" y="10644"/>
                </a:cubicBezTo>
                <a:cubicBezTo>
                  <a:pt x="14217" y="13907"/>
                  <a:pt x="17862" y="16778"/>
                  <a:pt x="21515" y="19255"/>
                </a:cubicBezTo>
                <a:lnTo>
                  <a:pt x="21600" y="21600"/>
                </a:lnTo>
                <a:lnTo>
                  <a:pt x="91" y="17936"/>
                </a:lnTo>
                <a:lnTo>
                  <a:pt x="0" y="0"/>
                </a:lnTo>
                <a:close/>
              </a:path>
            </a:pathLst>
          </a:custGeom>
          <a:solidFill>
            <a:srgbClr val="852B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Interactive lecture  •  35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 CRAFT Framework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Introduce CRAFT: Context, Role, Audience, Format, Tone. Teach each element with a before/after example projected on...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Introduce CRAFT: Context, Role, Audience, Format, Tone.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Teach each element with a before/after example projected on screen.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Then, two full worked examples (not just the email—use a second scenario like writing a LinkedIn post or summarizing meeting notes).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Teach CRAFT framework = 8 min. Worked example 1 (email, live) = 5 min. Worked example 2 (different scenario) = 5 min. Students redo their email = 10 m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Teach CRAFT framework = 8 min. Worked example 1 (email, live) = 5 min. Worked example 2 (different scenario) = 5 min. Students redo their email = 10 m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Hands-on, pairs  •  25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Tool Comparison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Same CRAFT prompt in Claude and ChatGPT. Each pair documents: which tool produced better output for this task, and why....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Same CRAFT prompt in Claude and ChatGPT.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Each pair documents: which tool produced better output for this task, and why.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Provide a simple comparison template (projected): Clarity (1–5), Tone Match (1–5), Completeness (1–5), Overall Pick.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Run same prompt in both tools = 5 min. Evaluate and fill comparison template = 10 min. 3–4 pairs share findings = 8 min. Transition to break = 2 min.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Run same prompt in both tools = 5 min. Evaluate and fill comparison template = 10 min. 3–4 pairs share findings = 8 min. Transition to break = 2 min.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Interactive lecture with embedded activities  •  45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How AI Actually Works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This is the only sustained lecture block in Session 1. It works because students spent the morning generating questions...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It works because students spent the morning generating questions organically.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Key content: what tokens are (demo: tokenize a sentence from their language), next-token prediction (the “auto-complete on steroids” analogy), training data and RLHF (why the same prompt gives different results in different tools), temperature and randomness.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Critical: break the 45 minutes into 3 chunks of ~12–15 min each, with a 2–3 min interaction between each chunk.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Chunk 1 — Tokens + prediction (12 min lecture, 3 min activity: students guess the next token in a sentence). Chunk 2 — Training data + RLHF (12 min le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Chunk 1 — Tokens + prediction (12 min lecture, 3 min activity: students guess the next token in a sentence). Chunk 2 — Training data + RLHF (12 min le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Teams of 3, timed challenges, peer-judged  •  45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Prompt Olympics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 rounds. Each round: instructor presents a challenge (best cover letter, best meeting summary, best product...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Each round: instructor presents a challenge (best cover letter, best meeting summary, best product description, best email to a difficult client).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Teams have 7 minutes to produce the best output.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Then 2–3 minutes for peer judging (each team rates others 1–5 on a single criterion you define per round).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Pre-prepare judging criteria for each round on slides. If teams finish early, they iterate. No dead time.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Pre-prepare judging criteria for each round on slides. If teams finish early, they iterate. No dead time.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Instructor demo  •  45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Chain-of-Thought &amp; Iteration Lab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Teach chain-of-thought prompting: “Think step by step,” breaking complex tasks into subtasks, using AI output as input...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Teach chain-of-thought prompting: “Think step by step,” breaking complex tasks into subtasks, using AI output as input for the next step.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One live demo (e.g., “write a marketing plan” broken into audience → messaging → channels → timeline).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Then students pick a complex task from their own work and iterate a prompt 5 times, documenting each version and what changed.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Provide a simple iteration log template (projected or printed): Version #, Prompt Text, What I Changed, Output Quality (1–5), Why. Students who finish early should attempt a 6th and 7th iteration.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Provide a simple iteration log template (projected or printed): Version #, Prompt Text, What I Changed, Output Quality (1–5), Why. Students who finish early should attempt a 6th and 7th iteration.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1: “Get Your Hands Dirty”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1: “Get Your Hands Dirty”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