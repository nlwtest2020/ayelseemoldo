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Lst>
  <p:sldSz cx="9144000" cy="51435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1pPr>
    <a:lvl2pPr marL="0" marR="0" indent="457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2pPr>
    <a:lvl3pPr marL="0" marR="0" indent="914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3pPr>
    <a:lvl4pPr marL="0" marR="0" indent="1371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4pPr>
    <a:lvl5pPr marL="0" marR="0" indent="18288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5pPr>
    <a:lvl6pPr marL="0" marR="0" indent="22860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6pPr>
    <a:lvl7pPr marL="0" marR="0" indent="2743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7pPr>
    <a:lvl8pPr marL="0" marR="0" indent="3200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8pPr>
    <a:lvl9pPr marL="0" marR="0" indent="3657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DD4EA"/>
          </a:solidFill>
        </a:fill>
      </a:tcStyle>
    </a:wholeTbl>
    <a:band2H>
      <a:tcTxStyle b="def" i="def"/>
      <a:tcStyle>
        <a:tcBdr/>
        <a:fill>
          <a:solidFill>
            <a:srgbClr val="E8EBF5"/>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0E0E0"/>
          </a:solidFill>
        </a:fill>
      </a:tcStyle>
    </a:wholeTbl>
    <a:band2H>
      <a:tcTxStyle b="def" i="def"/>
      <a:tcStyle>
        <a:tcBdr/>
        <a:fill>
          <a:solidFill>
            <a:srgbClr val="F0F0F0"/>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4E2CE"/>
          </a:solidFill>
        </a:fill>
      </a:tcStyle>
    </a:wholeTbl>
    <a:band2H>
      <a:tcTxStyle b="def" i="def"/>
      <a:tcStyle>
        <a:tcBdr/>
        <a:fill>
          <a:solidFill>
            <a:srgbClr val="EBF1E8"/>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aj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aj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aj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b="def" i="def"/>
      <a:tcStyle>
        <a:tcBdr/>
        <a:fill>
          <a:solidFill>
            <a:srgbClr val="FFFFFF"/>
          </a:solidFill>
        </a:fill>
      </a:tcStyle>
    </a:band2H>
    <a:firstCol>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standalone='yes'?>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7" name="Shape 17"/>
          <p:cNvSpPr/>
          <p:nvPr>
            <p:ph type="sldImg"/>
          </p:nvPr>
        </p:nvSpPr>
        <p:spPr>
          <a:xfrm>
            <a:off x="1143000" y="685800"/>
            <a:ext cx="4572000" cy="3429000"/>
          </a:xfrm>
          <a:prstGeom prst="rect">
            <a:avLst/>
          </a:prstGeom>
        </p:spPr>
        <p:txBody>
          <a:bodyPr/>
          <a:lstStyle/>
          <a:p>
            <a:pPr/>
          </a:p>
        </p:txBody>
      </p:sp>
      <p:sp>
        <p:nvSpPr>
          <p:cNvPr id="18" name="Shape 18"/>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sz="1200">
        <a:latin typeface="+mj-lt"/>
        <a:ea typeface="+mj-ea"/>
        <a:cs typeface="+mj-cs"/>
        <a:sym typeface="Calibri"/>
      </a:defRPr>
    </a:lvl1pPr>
    <a:lvl2pPr indent="228600" latinLnBrk="0">
      <a:defRPr sz="1200">
        <a:latin typeface="+mj-lt"/>
        <a:ea typeface="+mj-ea"/>
        <a:cs typeface="+mj-cs"/>
        <a:sym typeface="Calibri"/>
      </a:defRPr>
    </a:lvl2pPr>
    <a:lvl3pPr indent="457200" latinLnBrk="0">
      <a:defRPr sz="1200">
        <a:latin typeface="+mj-lt"/>
        <a:ea typeface="+mj-ea"/>
        <a:cs typeface="+mj-cs"/>
        <a:sym typeface="Calibri"/>
      </a:defRPr>
    </a:lvl3pPr>
    <a:lvl4pPr indent="685800" latinLnBrk="0">
      <a:defRPr sz="1200">
        <a:latin typeface="+mj-lt"/>
        <a:ea typeface="+mj-ea"/>
        <a:cs typeface="+mj-cs"/>
        <a:sym typeface="Calibri"/>
      </a:defRPr>
    </a:lvl4pPr>
    <a:lvl5pPr indent="914400" latinLnBrk="0">
      <a:defRPr sz="1200">
        <a:latin typeface="+mj-lt"/>
        <a:ea typeface="+mj-ea"/>
        <a:cs typeface="+mj-cs"/>
        <a:sym typeface="Calibri"/>
      </a:defRPr>
    </a:lvl5pPr>
    <a:lvl6pPr indent="1143000" latinLnBrk="0">
      <a:defRPr sz="1200">
        <a:latin typeface="+mj-lt"/>
        <a:ea typeface="+mj-ea"/>
        <a:cs typeface="+mj-cs"/>
        <a:sym typeface="Calibri"/>
      </a:defRPr>
    </a:lvl6pPr>
    <a:lvl7pPr indent="1371600" latinLnBrk="0">
      <a:defRPr sz="1200">
        <a:latin typeface="+mj-lt"/>
        <a:ea typeface="+mj-ea"/>
        <a:cs typeface="+mj-cs"/>
        <a:sym typeface="Calibri"/>
      </a:defRPr>
    </a:lvl7pPr>
    <a:lvl8pPr indent="1600200" latinLnBrk="0">
      <a:defRPr sz="1200">
        <a:latin typeface="+mj-lt"/>
        <a:ea typeface="+mj-ea"/>
        <a:cs typeface="+mj-cs"/>
        <a:sym typeface="Calibri"/>
      </a:defRPr>
    </a:lvl8pPr>
    <a:lvl9pPr indent="1828800" latinLnBrk="0">
      <a:defRPr sz="1200">
        <a:latin typeface="+mj-lt"/>
        <a:ea typeface="+mj-ea"/>
        <a:cs typeface="+mj-cs"/>
        <a:sym typeface="Calibri"/>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DEFAULT">
    <p:spTree>
      <p:nvGrpSpPr>
        <p:cNvPr id="1" name=""/>
        <p:cNvGrpSpPr/>
        <p:nvPr/>
      </p:nvGrpSpPr>
      <p:grpSpPr>
        <a:xfrm>
          <a:off x="0" y="0"/>
          <a:ext cx="0" cy="0"/>
          <a:chOff x="0" y="0"/>
          <a:chExt cx="0" cy="0"/>
        </a:xfrm>
      </p:grpSpPr>
      <p:sp>
        <p:nvSpPr>
          <p:cNvPr id="1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Title Text"/>
          <p:cNvSpPr txBox="1"/>
          <p:nvPr>
            <p:ph type="title"/>
          </p:nvPr>
        </p:nvSpPr>
        <p:spPr>
          <a:xfrm>
            <a:off x="457200" y="69056"/>
            <a:ext cx="8229600" cy="1131094"/>
          </a:xfrm>
          <a:prstGeom prst="rect">
            <a:avLst/>
          </a:prstGeom>
          <a:ln w="12700">
            <a:miter lim="400000"/>
          </a:ln>
          <a:extLst>
            <a:ext uri="{C572A759-6A51-4108-AA02-DFA0A04FC94B}">
              <ma14:wrappingTextBoxFlag xmlns:ma14="http://schemas.microsoft.com/office/mac/drawingml/2011/main" val="1"/>
            </a:ext>
          </a:extLst>
        </p:spPr>
        <p:txBody>
          <a:bodyPr lIns="45719" rIns="45719" anchor="ctr"/>
          <a:lstStyle/>
          <a:p>
            <a:pPr/>
            <a:r>
              <a:t>Title Text</a:t>
            </a:r>
          </a:p>
        </p:txBody>
      </p:sp>
      <p:sp>
        <p:nvSpPr>
          <p:cNvPr id="3" name="Body Level One…"/>
          <p:cNvSpPr txBox="1"/>
          <p:nvPr>
            <p:ph type="body" idx="1"/>
          </p:nvPr>
        </p:nvSpPr>
        <p:spPr>
          <a:xfrm>
            <a:off x="457200" y="1200150"/>
            <a:ext cx="8229600" cy="3943350"/>
          </a:xfrm>
          <a:prstGeom prst="rect">
            <a:avLst/>
          </a:prstGeom>
          <a:ln w="12700">
            <a:miter lim="400000"/>
          </a:ln>
          <a:extLst>
            <a:ext uri="{C572A759-6A51-4108-AA02-DFA0A04FC94B}">
              <ma14:wrappingTextBoxFlag xmlns:ma14="http://schemas.microsoft.com/office/mac/drawingml/2011/main" val="1"/>
            </a:ext>
          </a:extLst>
        </p:spPr>
        <p:txBody>
          <a:bodyPr lIns="45719" rIns="45719"/>
          <a:lstStyle/>
          <a:p>
            <a:pPr/>
            <a:r>
              <a:t>Body Level One</a:t>
            </a:r>
          </a:p>
          <a:p>
            <a:pPr lvl="1"/>
            <a:r>
              <a:t>Body Level Two</a:t>
            </a:r>
          </a:p>
          <a:p>
            <a:pPr lvl="2"/>
            <a:r>
              <a:t>Body Level Three</a:t>
            </a:r>
          </a:p>
          <a:p>
            <a:pPr lvl="3"/>
            <a:r>
              <a:t>Body Level Four</a:t>
            </a:r>
          </a:p>
          <a:p>
            <a:pPr lvl="4"/>
            <a:r>
              <a:t>Body Level Five</a:t>
            </a:r>
          </a:p>
        </p:txBody>
      </p:sp>
      <p:sp>
        <p:nvSpPr>
          <p:cNvPr id="4" name="Slide Number"/>
          <p:cNvSpPr txBox="1"/>
          <p:nvPr>
            <p:ph type="sldNum" sz="quarter" idx="2"/>
          </p:nvPr>
        </p:nvSpPr>
        <p:spPr>
          <a:xfrm>
            <a:off x="4419600" y="4627562"/>
            <a:ext cx="2133600" cy="279401"/>
          </a:xfrm>
          <a:prstGeom prst="rect">
            <a:avLst/>
          </a:prstGeom>
          <a:ln w="12700">
            <a:miter lim="400000"/>
          </a:ln>
        </p:spPr>
        <p:txBody>
          <a:bodyPr wrap="none" lIns="45719" rIns="45719" anchor="ctr">
            <a:spAutoFit/>
          </a:bodyPr>
          <a:lstStyle>
            <a:lvl1pPr algn="r">
              <a:defRPr sz="1200"/>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Lst>
  <p:transition xmlns:p14="http://schemas.microsoft.com/office/powerpoint/2010/main" spd="med" advClick="1"/>
  <p:txStyles>
    <p:titleStyle>
      <a:lvl1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1pPr>
      <a:lvl2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2pPr>
      <a:lvl3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3pPr>
      <a:lvl4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4pPr>
      <a:lvl5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5pPr>
      <a:lvl6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6pPr>
      <a:lvl7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7pPr>
      <a:lvl8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8pPr>
      <a:lvl9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9pPr>
    </p:titleStyle>
    <p:bodyStyle>
      <a:lvl1pPr marL="342900" marR="0" indent="-3429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1pPr>
      <a:lvl2pPr marL="783771" marR="0" indent="-326571"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2pPr>
      <a:lvl3pPr marL="1219200" marR="0" indent="-3048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3pPr>
      <a:lvl4pPr marL="17373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4pPr>
      <a:lvl5pPr marL="21945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5pPr>
      <a:lvl6pPr marL="26517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6pPr>
      <a:lvl7pPr marL="31089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7pPr>
      <a:lvl8pPr marL="35661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8pPr>
      <a:lvl9pPr marL="40233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9pPr>
    </p:bodyStyle>
    <p:otherStyle>
      <a:lvl1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1pPr>
      <a:lvl2pPr marL="0" marR="0" indent="4572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2pPr>
      <a:lvl3pPr marL="0" marR="0" indent="9144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3pPr>
      <a:lvl4pPr marL="0" marR="0" indent="13716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4pPr>
      <a:lvl5pPr marL="0" marR="0" indent="18288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5pPr>
      <a:lvl6pPr marL="0" marR="0" indent="22860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6pPr>
      <a:lvl7pPr marL="0" marR="0" indent="27432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7pPr>
      <a:lvl8pPr marL="0" marR="0" indent="32004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8pPr>
      <a:lvl9pPr marL="0" marR="0" indent="36576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243554"/>
        </a:solidFill>
      </p:bgPr>
    </p:bg>
    <p:spTree>
      <p:nvGrpSpPr>
        <p:cNvPr id="1" name=""/>
        <p:cNvGrpSpPr/>
        <p:nvPr/>
      </p:nvGrpSpPr>
      <p:grpSpPr>
        <a:xfrm>
          <a:off x="0" y="0"/>
          <a:ext cx="0" cy="0"/>
          <a:chOff x="0" y="0"/>
          <a:chExt cx="0" cy="0"/>
        </a:xfrm>
      </p:grpSpPr>
      <p:sp>
        <p:nvSpPr>
          <p:cNvPr id="20" name="Shape"/>
          <p:cNvSpPr/>
          <p:nvPr/>
        </p:nvSpPr>
        <p:spPr>
          <a:xfrm>
            <a:off x="-787400" y="1891980"/>
            <a:ext cx="9890760" cy="3297072"/>
          </a:xfrm>
          <a:custGeom>
            <a:avLst/>
            <a:gdLst/>
            <a:ahLst/>
            <a:cxnLst>
              <a:cxn ang="0">
                <a:pos x="wd2" y="hd2"/>
              </a:cxn>
              <a:cxn ang="5400000">
                <a:pos x="wd2" y="hd2"/>
              </a:cxn>
              <a:cxn ang="10800000">
                <a:pos x="wd2" y="hd2"/>
              </a:cxn>
              <a:cxn ang="16200000">
                <a:pos x="wd2" y="hd2"/>
              </a:cxn>
            </a:cxnLst>
            <a:rect l="0" t="0" r="r" b="b"/>
            <a:pathLst>
              <a:path w="21600" h="21355" fill="norm" stroke="1" extrusionOk="0">
                <a:moveTo>
                  <a:pt x="0" y="21335"/>
                </a:moveTo>
                <a:lnTo>
                  <a:pt x="4588" y="21355"/>
                </a:lnTo>
                <a:cubicBezTo>
                  <a:pt x="6886" y="16099"/>
                  <a:pt x="9456" y="11518"/>
                  <a:pt x="12239" y="7716"/>
                </a:cubicBezTo>
                <a:cubicBezTo>
                  <a:pt x="13679" y="5748"/>
                  <a:pt x="15173" y="3997"/>
                  <a:pt x="16753" y="2773"/>
                </a:cubicBezTo>
                <a:cubicBezTo>
                  <a:pt x="18315" y="1563"/>
                  <a:pt x="19948" y="881"/>
                  <a:pt x="21600" y="752"/>
                </a:cubicBezTo>
                <a:cubicBezTo>
                  <a:pt x="19679" y="-172"/>
                  <a:pt x="17699" y="-245"/>
                  <a:pt x="15766" y="536"/>
                </a:cubicBezTo>
                <a:cubicBezTo>
                  <a:pt x="12681" y="1782"/>
                  <a:pt x="9885" y="5061"/>
                  <a:pt x="7276" y="8797"/>
                </a:cubicBezTo>
                <a:cubicBezTo>
                  <a:pt x="4722" y="12456"/>
                  <a:pt x="2286" y="16641"/>
                  <a:pt x="0" y="21335"/>
                </a:cubicBezTo>
                <a:close/>
              </a:path>
            </a:pathLst>
          </a:custGeom>
          <a:solidFill>
            <a:srgbClr val="92222C"/>
          </a:solidFill>
          <a:ln w="12700">
            <a:miter lim="400000"/>
          </a:ln>
        </p:spPr>
        <p:txBody>
          <a:bodyPr lIns="50800" tIns="50800" rIns="50800" bIns="50800" anchor="ctr"/>
          <a:lstStyle/>
          <a:p>
            <a:pPr defTabSz="2438338">
              <a:lnSpc>
                <a:spcPct val="90000"/>
              </a:lnSpc>
              <a:spcBef>
                <a:spcPts val="4500"/>
              </a:spcBef>
              <a:defRPr sz="4800">
                <a:latin typeface="Helvetica Neue"/>
                <a:ea typeface="Helvetica Neue"/>
                <a:cs typeface="Helvetica Neue"/>
                <a:sym typeface="Helvetica Neue"/>
              </a:defRPr>
            </a:pPr>
          </a:p>
        </p:txBody>
      </p:sp>
      <p:sp>
        <p:nvSpPr>
          <p:cNvPr id="21" name="Text 1"/>
          <p:cNvSpPr txBox="1"/>
          <p:nvPr/>
        </p:nvSpPr>
        <p:spPr>
          <a:xfrm>
            <a:off x="254000" y="2385060"/>
            <a:ext cx="5074599" cy="123825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lnSpc>
                <a:spcPct val="110000"/>
              </a:lnSpc>
              <a:defRPr b="1" sz="3600">
                <a:solidFill>
                  <a:srgbClr val="FFFFFF"/>
                </a:solidFill>
                <a:latin typeface="Outfit"/>
                <a:ea typeface="Outfit"/>
                <a:cs typeface="Outfit"/>
                <a:sym typeface="Outfit"/>
              </a:defRPr>
            </a:pPr>
            <a:r>
              <a:t>AI &amp; Digital Workflows</a:t>
            </a:r>
          </a:p>
          <a:p>
            <a:pPr>
              <a:lnSpc>
                <a:spcPct val="110000"/>
              </a:lnSpc>
              <a:defRPr b="1" sz="3600">
                <a:solidFill>
                  <a:srgbClr val="FFFFFF"/>
                </a:solidFill>
                <a:latin typeface="Outfit"/>
                <a:ea typeface="Outfit"/>
                <a:cs typeface="Outfit"/>
                <a:sym typeface="Outfit"/>
              </a:defRPr>
            </a:pPr>
            <a:r>
              <a:t>Bootcamp</a:t>
            </a:r>
          </a:p>
        </p:txBody>
      </p:sp>
      <p:sp>
        <p:nvSpPr>
          <p:cNvPr id="22" name="Text 2"/>
          <p:cNvSpPr txBox="1"/>
          <p:nvPr/>
        </p:nvSpPr>
        <p:spPr>
          <a:xfrm>
            <a:off x="254000" y="3831589"/>
            <a:ext cx="7223760" cy="3073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400">
                <a:solidFill>
                  <a:srgbClr val="FFFFFF"/>
                </a:solidFill>
                <a:latin typeface="Outfit"/>
                <a:ea typeface="Outfit"/>
                <a:cs typeface="Outfit"/>
                <a:sym typeface="Outfit"/>
              </a:defRPr>
            </a:lvl1pPr>
          </a:lstStyle>
          <a:p>
            <a:pPr/>
            <a:r>
              <a:t>Session 4: “Ship It &amp; Own It”  |  7 Contact Hours</a:t>
            </a:r>
          </a:p>
        </p:txBody>
      </p:sp>
      <p:sp>
        <p:nvSpPr>
          <p:cNvPr id="23" name="Shape 3"/>
          <p:cNvSpPr/>
          <p:nvPr/>
        </p:nvSpPr>
        <p:spPr>
          <a:xfrm>
            <a:off x="0" y="4800600"/>
            <a:ext cx="9144000" cy="342900"/>
          </a:xfrm>
          <a:prstGeom prst="rect">
            <a:avLst/>
          </a:prstGeom>
          <a:solidFill>
            <a:srgbClr val="367875"/>
          </a:solidFill>
          <a:ln w="12700">
            <a:miter lim="400000"/>
          </a:ln>
        </p:spPr>
        <p:txBody>
          <a:bodyPr lIns="45719" rIns="45719"/>
          <a:lstStyle/>
          <a:p>
            <a:pPr/>
          </a:p>
        </p:txBody>
      </p:sp>
      <p:sp>
        <p:nvSpPr>
          <p:cNvPr id="24" name="Text 4"/>
          <p:cNvSpPr txBox="1"/>
          <p:nvPr/>
        </p:nvSpPr>
        <p:spPr>
          <a:xfrm>
            <a:off x="685800" y="4850129"/>
            <a:ext cx="7223760" cy="2438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300" sz="1000">
                <a:solidFill>
                  <a:srgbClr val="FFFFFF"/>
                </a:solidFill>
                <a:latin typeface="Outfit"/>
                <a:ea typeface="Outfit"/>
                <a:cs typeface="Outfit"/>
                <a:sym typeface="Outfit"/>
              </a:defRPr>
            </a:lvl1pPr>
          </a:lstStyle>
          <a:p>
            <a:pPr/>
            <a:r>
              <a:t>AMERICAN LANGUAGE CENTERS</a:t>
            </a:r>
          </a:p>
        </p:txBody>
      </p:sp>
      <p:pic>
        <p:nvPicPr>
          <p:cNvPr id="25" name="ALC logo.png" descr="ALC logo.png"/>
          <p:cNvPicPr>
            <a:picLocks noChangeAspect="1"/>
          </p:cNvPicPr>
          <p:nvPr/>
        </p:nvPicPr>
        <p:blipFill>
          <a:blip r:embed="rId2">
            <a:alphaModFix amt="23325"/>
            <a:extLst/>
          </a:blip>
          <a:stretch>
            <a:fillRect/>
          </a:stretch>
        </p:blipFill>
        <p:spPr>
          <a:xfrm>
            <a:off x="-107129" y="385925"/>
            <a:ext cx="3913429" cy="2608953"/>
          </a:xfrm>
          <a:prstGeom prst="rect">
            <a:avLst/>
          </a:prstGeom>
          <a:ln w="12700">
            <a:miter lim="400000"/>
          </a:ln>
        </p:spPr>
      </p:pic>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852B2F"/>
        </a:solidFill>
      </p:bgPr>
    </p:bg>
    <p:spTree>
      <p:nvGrpSpPr>
        <p:cNvPr id="1" name=""/>
        <p:cNvGrpSpPr/>
        <p:nvPr/>
      </p:nvGrpSpPr>
      <p:grpSpPr>
        <a:xfrm>
          <a:off x="0" y="0"/>
          <a:ext cx="0" cy="0"/>
          <a:chOff x="0" y="0"/>
          <a:chExt cx="0" cy="0"/>
        </a:xfrm>
      </p:grpSpPr>
      <p:sp>
        <p:nvSpPr>
          <p:cNvPr id="27" name="Text 0"/>
          <p:cNvSpPr txBox="1"/>
          <p:nvPr/>
        </p:nvSpPr>
        <p:spPr>
          <a:xfrm>
            <a:off x="673100" y="621030"/>
            <a:ext cx="4480560" cy="3073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400" sz="1400">
                <a:solidFill>
                  <a:srgbClr val="FFFFFF"/>
                </a:solidFill>
                <a:latin typeface="Outfit"/>
                <a:ea typeface="Outfit"/>
                <a:cs typeface="Outfit"/>
                <a:sym typeface="Outfit"/>
              </a:defRPr>
            </a:lvl1pPr>
          </a:lstStyle>
          <a:p>
            <a:pPr/>
            <a:r>
              <a:t>SESSION 04</a:t>
            </a:r>
          </a:p>
        </p:txBody>
      </p:sp>
      <p:sp>
        <p:nvSpPr>
          <p:cNvPr id="28" name="Text 2"/>
          <p:cNvSpPr txBox="1"/>
          <p:nvPr/>
        </p:nvSpPr>
        <p:spPr>
          <a:xfrm>
            <a:off x="673100" y="3136900"/>
            <a:ext cx="4480560" cy="294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300">
                <a:solidFill>
                  <a:srgbClr val="FFFFFF"/>
                </a:solidFill>
                <a:latin typeface="Outfit"/>
                <a:ea typeface="Outfit"/>
                <a:cs typeface="Outfit"/>
                <a:sym typeface="Outfit"/>
              </a:defRPr>
            </a:lvl1pPr>
          </a:lstStyle>
          <a:p>
            <a:pPr/>
            <a:r>
              <a:t>Sunday, Weekend 2  |  10:00 AM – 5:45 PM</a:t>
            </a:r>
          </a:p>
        </p:txBody>
      </p:sp>
      <p:grpSp>
        <p:nvGrpSpPr>
          <p:cNvPr id="32" name="Group"/>
          <p:cNvGrpSpPr/>
          <p:nvPr/>
        </p:nvGrpSpPr>
        <p:grpSpPr>
          <a:xfrm>
            <a:off x="4318000" y="517388"/>
            <a:ext cx="4893608" cy="4108724"/>
            <a:chOff x="0" y="0"/>
            <a:chExt cx="4893607" cy="4108722"/>
          </a:xfrm>
        </p:grpSpPr>
        <p:sp>
          <p:nvSpPr>
            <p:cNvPr id="29" name="Shape"/>
            <p:cNvSpPr/>
            <p:nvPr/>
          </p:nvSpPr>
          <p:spPr>
            <a:xfrm>
              <a:off x="2917162" y="2278530"/>
              <a:ext cx="1681224" cy="183019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4152"/>
                  </a:moveTo>
                  <a:lnTo>
                    <a:pt x="8118" y="21600"/>
                  </a:lnTo>
                  <a:lnTo>
                    <a:pt x="21600" y="21354"/>
                  </a:lnTo>
                  <a:lnTo>
                    <a:pt x="10990" y="0"/>
                  </a:lnTo>
                  <a:cubicBezTo>
                    <a:pt x="9106" y="161"/>
                    <a:pt x="7257" y="563"/>
                    <a:pt x="5495" y="1195"/>
                  </a:cubicBezTo>
                  <a:cubicBezTo>
                    <a:pt x="3505" y="1908"/>
                    <a:pt x="1650" y="2907"/>
                    <a:pt x="0" y="4152"/>
                  </a:cubicBezTo>
                  <a:close/>
                </a:path>
              </a:pathLst>
            </a:custGeom>
            <a:solidFill>
              <a:srgbClr val="212E49"/>
            </a:solidFill>
            <a:ln w="12700" cap="flat">
              <a:noFill/>
              <a:miter lim="400000"/>
            </a:ln>
            <a:effectLst/>
          </p:spPr>
          <p:txBody>
            <a:bodyPr wrap="square" lIns="50800" tIns="50800" rIns="50800" bIns="50800" numCol="1" anchor="ctr">
              <a:noAutofit/>
            </a:bodyPr>
            <a:lstStyle/>
            <a:p>
              <a:pPr defTabSz="2438338">
                <a:lnSpc>
                  <a:spcPct val="90000"/>
                </a:lnSpc>
                <a:spcBef>
                  <a:spcPts val="4500"/>
                </a:spcBef>
                <a:defRPr sz="4800">
                  <a:latin typeface="Helvetica Neue"/>
                  <a:ea typeface="Helvetica Neue"/>
                  <a:cs typeface="Helvetica Neue"/>
                  <a:sym typeface="Helvetica Neue"/>
                </a:defRPr>
              </a:pPr>
            </a:p>
          </p:txBody>
        </p:sp>
        <p:sp>
          <p:nvSpPr>
            <p:cNvPr id="30" name="Shape"/>
            <p:cNvSpPr/>
            <p:nvPr/>
          </p:nvSpPr>
          <p:spPr>
            <a:xfrm>
              <a:off x="125900" y="0"/>
              <a:ext cx="3480352" cy="380073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cubicBezTo>
                    <a:pt x="1458" y="20419"/>
                    <a:pt x="2979" y="19305"/>
                    <a:pt x="4557" y="18262"/>
                  </a:cubicBezTo>
                  <a:cubicBezTo>
                    <a:pt x="6038" y="17283"/>
                    <a:pt x="7568" y="16368"/>
                    <a:pt x="9142" y="15519"/>
                  </a:cubicBezTo>
                  <a:lnTo>
                    <a:pt x="13288" y="6462"/>
                  </a:lnTo>
                  <a:lnTo>
                    <a:pt x="16064" y="12325"/>
                  </a:lnTo>
                  <a:cubicBezTo>
                    <a:pt x="16934" y="11896"/>
                    <a:pt x="17852" y="11555"/>
                    <a:pt x="18803" y="11308"/>
                  </a:cubicBezTo>
                  <a:cubicBezTo>
                    <a:pt x="19716" y="11072"/>
                    <a:pt x="20653" y="10923"/>
                    <a:pt x="21600" y="10865"/>
                  </a:cubicBezTo>
                  <a:lnTo>
                    <a:pt x="16471" y="154"/>
                  </a:lnTo>
                  <a:lnTo>
                    <a:pt x="10278" y="0"/>
                  </a:lnTo>
                  <a:lnTo>
                    <a:pt x="0" y="21600"/>
                  </a:lnTo>
                  <a:close/>
                </a:path>
              </a:pathLst>
            </a:custGeom>
            <a:solidFill>
              <a:srgbClr val="212E49"/>
            </a:solidFill>
            <a:ln w="12700" cap="flat">
              <a:noFill/>
              <a:miter lim="400000"/>
            </a:ln>
            <a:effectLst/>
          </p:spPr>
          <p:txBody>
            <a:bodyPr wrap="square" lIns="50800" tIns="50800" rIns="50800" bIns="50800" numCol="1" anchor="ctr">
              <a:noAutofit/>
            </a:bodyPr>
            <a:lstStyle/>
            <a:p>
              <a:pPr defTabSz="2438338">
                <a:lnSpc>
                  <a:spcPct val="90000"/>
                </a:lnSpc>
                <a:spcBef>
                  <a:spcPts val="4500"/>
                </a:spcBef>
                <a:defRPr sz="4800">
                  <a:latin typeface="Helvetica Neue"/>
                  <a:ea typeface="Helvetica Neue"/>
                  <a:cs typeface="Helvetica Neue"/>
                  <a:sym typeface="Helvetica Neue"/>
                </a:defRPr>
              </a:pPr>
            </a:p>
          </p:txBody>
        </p:sp>
        <p:sp>
          <p:nvSpPr>
            <p:cNvPr id="31" name="Shape"/>
            <p:cNvSpPr/>
            <p:nvPr/>
          </p:nvSpPr>
          <p:spPr>
            <a:xfrm>
              <a:off x="0" y="2001950"/>
              <a:ext cx="4893608" cy="2092645"/>
            </a:xfrm>
            <a:custGeom>
              <a:avLst/>
              <a:gdLst/>
              <a:ahLst/>
              <a:cxnLst>
                <a:cxn ang="0">
                  <a:pos x="wd2" y="hd2"/>
                </a:cxn>
                <a:cxn ang="5400000">
                  <a:pos x="wd2" y="hd2"/>
                </a:cxn>
                <a:cxn ang="10800000">
                  <a:pos x="wd2" y="hd2"/>
                </a:cxn>
                <a:cxn ang="16200000">
                  <a:pos x="wd2" y="hd2"/>
                </a:cxn>
              </a:cxnLst>
              <a:rect l="0" t="0" r="r" b="b"/>
              <a:pathLst>
                <a:path w="21600" h="21355" fill="norm" stroke="1" extrusionOk="0">
                  <a:moveTo>
                    <a:pt x="0" y="21335"/>
                  </a:moveTo>
                  <a:lnTo>
                    <a:pt x="4588" y="21355"/>
                  </a:lnTo>
                  <a:cubicBezTo>
                    <a:pt x="6886" y="16099"/>
                    <a:pt x="9456" y="11518"/>
                    <a:pt x="12239" y="7716"/>
                  </a:cubicBezTo>
                  <a:cubicBezTo>
                    <a:pt x="13679" y="5748"/>
                    <a:pt x="15173" y="3997"/>
                    <a:pt x="16753" y="2773"/>
                  </a:cubicBezTo>
                  <a:cubicBezTo>
                    <a:pt x="18315" y="1563"/>
                    <a:pt x="19948" y="881"/>
                    <a:pt x="21600" y="752"/>
                  </a:cubicBezTo>
                  <a:cubicBezTo>
                    <a:pt x="19679" y="-172"/>
                    <a:pt x="17699" y="-245"/>
                    <a:pt x="15766" y="536"/>
                  </a:cubicBezTo>
                  <a:cubicBezTo>
                    <a:pt x="12681" y="1782"/>
                    <a:pt x="9885" y="5061"/>
                    <a:pt x="7276" y="8797"/>
                  </a:cubicBezTo>
                  <a:cubicBezTo>
                    <a:pt x="4722" y="12456"/>
                    <a:pt x="2286" y="16641"/>
                    <a:pt x="0" y="21335"/>
                  </a:cubicBezTo>
                  <a:close/>
                </a:path>
              </a:pathLst>
            </a:custGeom>
            <a:solidFill>
              <a:srgbClr val="212E49"/>
            </a:solidFill>
            <a:ln w="12700" cap="flat">
              <a:noFill/>
              <a:miter lim="400000"/>
            </a:ln>
            <a:effectLst/>
          </p:spPr>
          <p:txBody>
            <a:bodyPr wrap="square" lIns="50800" tIns="50800" rIns="50800" bIns="50800" numCol="1" anchor="ctr">
              <a:noAutofit/>
            </a:bodyPr>
            <a:lstStyle/>
            <a:p>
              <a:pPr defTabSz="2438338">
                <a:lnSpc>
                  <a:spcPct val="90000"/>
                </a:lnSpc>
                <a:spcBef>
                  <a:spcPts val="4500"/>
                </a:spcBef>
                <a:defRPr sz="4800">
                  <a:latin typeface="Helvetica Neue"/>
                  <a:ea typeface="Helvetica Neue"/>
                  <a:cs typeface="Helvetica Neue"/>
                  <a:sym typeface="Helvetica Neue"/>
                </a:defRPr>
              </a:pPr>
            </a:p>
          </p:txBody>
        </p:sp>
      </p:grpSp>
      <p:sp>
        <p:nvSpPr>
          <p:cNvPr id="33" name="Text 1"/>
          <p:cNvSpPr txBox="1"/>
          <p:nvPr/>
        </p:nvSpPr>
        <p:spPr>
          <a:xfrm>
            <a:off x="673100" y="1160144"/>
            <a:ext cx="5394960" cy="151511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nSpc>
                <a:spcPct val="90000"/>
              </a:lnSpc>
              <a:defRPr b="1" sz="4900">
                <a:solidFill>
                  <a:srgbClr val="FFFFFF"/>
                </a:solidFill>
                <a:latin typeface="Outfit"/>
                <a:ea typeface="Outfit"/>
                <a:cs typeface="Outfit"/>
                <a:sym typeface="Outfit"/>
              </a:defRPr>
            </a:lvl1pPr>
          </a:lstStyle>
          <a:p>
            <a:pPr/>
            <a:r>
              <a:t>“SHIP IT &amp; OWN IT”</a:t>
            </a:r>
          </a:p>
        </p:txBody>
      </p:sp>
      <p:sp>
        <p:nvSpPr>
          <p:cNvPr id="34" name="Rectangle"/>
          <p:cNvSpPr/>
          <p:nvPr/>
        </p:nvSpPr>
        <p:spPr>
          <a:xfrm>
            <a:off x="698500" y="2831018"/>
            <a:ext cx="3653929" cy="150119"/>
          </a:xfrm>
          <a:prstGeom prst="rect">
            <a:avLst/>
          </a:prstGeom>
          <a:solidFill>
            <a:srgbClr val="367875"/>
          </a:solidFill>
          <a:ln w="12700">
            <a:miter lim="400000"/>
          </a:ln>
        </p:spPr>
        <p:txBody>
          <a:bodyPr lIns="45719" rIns="45719" anchor="ctr"/>
          <a:lstStyle/>
          <a:p>
            <a:pPr/>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6" name="Shape 0"/>
          <p:cNvSpPr/>
          <p:nvPr/>
        </p:nvSpPr>
        <p:spPr>
          <a:xfrm>
            <a:off x="0" y="-1"/>
            <a:ext cx="9144000" cy="822962"/>
          </a:xfrm>
          <a:prstGeom prst="rect">
            <a:avLst/>
          </a:prstGeom>
          <a:solidFill>
            <a:srgbClr val="243554"/>
          </a:solidFill>
          <a:ln w="12700">
            <a:miter lim="400000"/>
          </a:ln>
        </p:spPr>
        <p:txBody>
          <a:bodyPr lIns="45719" rIns="45719"/>
          <a:lstStyle/>
          <a:p>
            <a:pPr/>
          </a:p>
        </p:txBody>
      </p:sp>
      <p:sp>
        <p:nvSpPr>
          <p:cNvPr id="37" name="Text 1"/>
          <p:cNvSpPr txBox="1"/>
          <p:nvPr/>
        </p:nvSpPr>
        <p:spPr>
          <a:xfrm>
            <a:off x="685800" y="226060"/>
            <a:ext cx="7223760" cy="3708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200">
                <a:solidFill>
                  <a:srgbClr val="FFFFFF"/>
                </a:solidFill>
                <a:latin typeface="Outfit"/>
                <a:ea typeface="Outfit"/>
                <a:cs typeface="Outfit"/>
                <a:sym typeface="Outfit"/>
              </a:defRPr>
            </a:lvl1pPr>
          </a:lstStyle>
          <a:p>
            <a:pPr/>
            <a:r>
              <a:t>LEARNING OBJECTIVES</a:t>
            </a:r>
          </a:p>
        </p:txBody>
      </p:sp>
      <p:sp>
        <p:nvSpPr>
          <p:cNvPr id="38" name="Text 2"/>
          <p:cNvSpPr txBox="1"/>
          <p:nvPr/>
        </p:nvSpPr>
        <p:spPr>
          <a:xfrm>
            <a:off x="640080" y="1188719"/>
            <a:ext cx="365761" cy="2667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a:solidFill>
                  <a:srgbClr val="852B2F"/>
                </a:solidFill>
                <a:latin typeface="Outfit"/>
                <a:ea typeface="Outfit"/>
                <a:cs typeface="Outfit"/>
                <a:sym typeface="Outfit"/>
              </a:defRPr>
            </a:lvl1pPr>
          </a:lstStyle>
          <a:p>
            <a:pPr/>
            <a:r>
              <a:t>▸</a:t>
            </a:r>
          </a:p>
        </p:txBody>
      </p:sp>
      <p:sp>
        <p:nvSpPr>
          <p:cNvPr id="39" name="Text 3"/>
          <p:cNvSpPr txBox="1"/>
          <p:nvPr/>
        </p:nvSpPr>
        <p:spPr>
          <a:xfrm>
            <a:off x="1097280" y="1188719"/>
            <a:ext cx="7223760" cy="3327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1600">
                <a:solidFill>
                  <a:srgbClr val="2F2F2F"/>
                </a:solidFill>
                <a:latin typeface="Outfit"/>
                <a:ea typeface="Outfit"/>
                <a:cs typeface="Outfit"/>
                <a:sym typeface="Outfit"/>
              </a:defRPr>
            </a:lvl1pPr>
          </a:lstStyle>
          <a:p>
            <a:pPr/>
            <a:r>
              <a:t>Complete a capstone project that demonstrates integrated AI skills</a:t>
            </a:r>
          </a:p>
        </p:txBody>
      </p:sp>
      <p:sp>
        <p:nvSpPr>
          <p:cNvPr id="40" name="Text 4"/>
          <p:cNvSpPr txBox="1"/>
          <p:nvPr/>
        </p:nvSpPr>
        <p:spPr>
          <a:xfrm>
            <a:off x="640080" y="2057400"/>
            <a:ext cx="365761" cy="2667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a:solidFill>
                  <a:srgbClr val="852B2F"/>
                </a:solidFill>
                <a:latin typeface="Outfit"/>
                <a:ea typeface="Outfit"/>
                <a:cs typeface="Outfit"/>
                <a:sym typeface="Outfit"/>
              </a:defRPr>
            </a:lvl1pPr>
          </a:lstStyle>
          <a:p>
            <a:pPr/>
            <a:r>
              <a:t>▸</a:t>
            </a:r>
          </a:p>
        </p:txBody>
      </p:sp>
      <p:sp>
        <p:nvSpPr>
          <p:cNvPr id="41" name="Text 5"/>
          <p:cNvSpPr txBox="1"/>
          <p:nvPr/>
        </p:nvSpPr>
        <p:spPr>
          <a:xfrm>
            <a:off x="1097280" y="2057400"/>
            <a:ext cx="7223760" cy="33274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1600">
                <a:solidFill>
                  <a:srgbClr val="2F2F2F"/>
                </a:solidFill>
                <a:latin typeface="Outfit"/>
                <a:ea typeface="Outfit"/>
                <a:cs typeface="Outfit"/>
                <a:sym typeface="Outfit"/>
              </a:defRPr>
            </a:lvl1pPr>
          </a:lstStyle>
          <a:p>
            <a:pPr/>
            <a:r>
              <a:t>Assemble and present a professional portfolio of AI-produced work</a:t>
            </a:r>
          </a:p>
        </p:txBody>
      </p:sp>
      <p:sp>
        <p:nvSpPr>
          <p:cNvPr id="42" name="Text 6"/>
          <p:cNvSpPr txBox="1"/>
          <p:nvPr/>
        </p:nvSpPr>
        <p:spPr>
          <a:xfrm>
            <a:off x="640080" y="2926079"/>
            <a:ext cx="365761" cy="2667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a:solidFill>
                  <a:srgbClr val="852B2F"/>
                </a:solidFill>
                <a:latin typeface="Outfit"/>
                <a:ea typeface="Outfit"/>
                <a:cs typeface="Outfit"/>
                <a:sym typeface="Outfit"/>
              </a:defRPr>
            </a:lvl1pPr>
          </a:lstStyle>
          <a:p>
            <a:pPr/>
            <a:r>
              <a:t>▸</a:t>
            </a:r>
          </a:p>
        </p:txBody>
      </p:sp>
      <p:sp>
        <p:nvSpPr>
          <p:cNvPr id="43" name="Text 7"/>
          <p:cNvSpPr txBox="1"/>
          <p:nvPr/>
        </p:nvSpPr>
        <p:spPr>
          <a:xfrm>
            <a:off x="1097280" y="2926079"/>
            <a:ext cx="7223760" cy="3327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1600">
                <a:solidFill>
                  <a:srgbClr val="2F2F2F"/>
                </a:solidFill>
                <a:latin typeface="Outfit"/>
                <a:ea typeface="Outfit"/>
                <a:cs typeface="Outfit"/>
                <a:sym typeface="Outfit"/>
              </a:defRPr>
            </a:lvl1pPr>
          </a:lstStyle>
          <a:p>
            <a:pPr/>
            <a:r>
              <a:t>Give and receive structured feedback using an evaluation rubric</a:t>
            </a:r>
          </a:p>
        </p:txBody>
      </p:sp>
      <p:sp>
        <p:nvSpPr>
          <p:cNvPr id="44" name="Text 8"/>
          <p:cNvSpPr txBox="1"/>
          <p:nvPr/>
        </p:nvSpPr>
        <p:spPr>
          <a:xfrm>
            <a:off x="640080" y="3794759"/>
            <a:ext cx="365761" cy="2667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a:solidFill>
                  <a:srgbClr val="852B2F"/>
                </a:solidFill>
                <a:latin typeface="Outfit"/>
                <a:ea typeface="Outfit"/>
                <a:cs typeface="Outfit"/>
                <a:sym typeface="Outfit"/>
              </a:defRPr>
            </a:lvl1pPr>
          </a:lstStyle>
          <a:p>
            <a:pPr/>
            <a:r>
              <a:t>▸</a:t>
            </a:r>
          </a:p>
        </p:txBody>
      </p:sp>
      <p:sp>
        <p:nvSpPr>
          <p:cNvPr id="45" name="Text 9"/>
          <p:cNvSpPr txBox="1"/>
          <p:nvPr/>
        </p:nvSpPr>
        <p:spPr>
          <a:xfrm>
            <a:off x="1097280" y="3794759"/>
            <a:ext cx="7223760" cy="3327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1600">
                <a:solidFill>
                  <a:srgbClr val="2F2F2F"/>
                </a:solidFill>
                <a:latin typeface="Outfit"/>
                <a:ea typeface="Outfit"/>
                <a:cs typeface="Outfit"/>
                <a:sym typeface="Outfit"/>
              </a:defRPr>
            </a:lvl1pPr>
          </a:lstStyle>
          <a:p>
            <a:pPr/>
            <a:r>
              <a:t>Articulate their AI learning journey and the process behind their work (metacognition)</a:t>
            </a:r>
          </a:p>
        </p:txBody>
      </p:sp>
      <p:sp>
        <p:nvSpPr>
          <p:cNvPr id="46" name="Shape 10"/>
          <p:cNvSpPr/>
          <p:nvPr/>
        </p:nvSpPr>
        <p:spPr>
          <a:xfrm>
            <a:off x="0" y="4892040"/>
            <a:ext cx="9144000" cy="251460"/>
          </a:xfrm>
          <a:prstGeom prst="rect">
            <a:avLst/>
          </a:prstGeom>
          <a:solidFill>
            <a:srgbClr val="367875"/>
          </a:solidFill>
          <a:ln w="12700">
            <a:miter lim="400000"/>
          </a:ln>
        </p:spPr>
        <p:txBody>
          <a:bodyPr lIns="45719" rIns="45719"/>
          <a:lstStyle/>
          <a:p>
            <a:pPr/>
          </a:p>
        </p:txBody>
      </p:sp>
      <p:sp>
        <p:nvSpPr>
          <p:cNvPr id="47" name="Text 11"/>
          <p:cNvSpPr txBox="1"/>
          <p:nvPr/>
        </p:nvSpPr>
        <p:spPr>
          <a:xfrm>
            <a:off x="685800" y="4902199"/>
            <a:ext cx="5394960" cy="2311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900">
                <a:solidFill>
                  <a:srgbClr val="FFFFFF"/>
                </a:solidFill>
                <a:latin typeface="Outfit"/>
                <a:ea typeface="Outfit"/>
                <a:cs typeface="Outfit"/>
                <a:sym typeface="Outfit"/>
              </a:defRPr>
            </a:lvl1pPr>
          </a:lstStyle>
          <a:p>
            <a:pPr/>
            <a:r>
              <a:t>Session 4: “Ship It &amp; Own It”</a:t>
            </a:r>
          </a:p>
        </p:txBody>
      </p:sp>
      <p:sp>
        <p:nvSpPr>
          <p:cNvPr id="48" name="Text 12"/>
          <p:cNvSpPr txBox="1"/>
          <p:nvPr/>
        </p:nvSpPr>
        <p:spPr>
          <a:xfrm>
            <a:off x="7360919" y="4902199"/>
            <a:ext cx="1280161" cy="2311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r">
              <a:defRPr b="1" sz="900">
                <a:solidFill>
                  <a:srgbClr val="FFFFFF"/>
                </a:solidFill>
                <a:latin typeface="Outfit"/>
                <a:ea typeface="Outfit"/>
                <a:cs typeface="Outfit"/>
                <a:sym typeface="Outfit"/>
              </a:defRPr>
            </a:lvl1pPr>
          </a:lstStyle>
          <a:p>
            <a:pPr/>
            <a:r>
              <a:t>ALC</a:t>
            </a:r>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0" name="Shape 0"/>
          <p:cNvSpPr/>
          <p:nvPr/>
        </p:nvSpPr>
        <p:spPr>
          <a:xfrm>
            <a:off x="0" y="-1"/>
            <a:ext cx="9144000" cy="822962"/>
          </a:xfrm>
          <a:prstGeom prst="rect">
            <a:avLst/>
          </a:prstGeom>
          <a:solidFill>
            <a:srgbClr val="243554"/>
          </a:solidFill>
          <a:ln w="12700">
            <a:miter lim="400000"/>
          </a:ln>
        </p:spPr>
        <p:txBody>
          <a:bodyPr lIns="45719" rIns="45719"/>
          <a:lstStyle/>
          <a:p>
            <a:pPr/>
          </a:p>
        </p:txBody>
      </p:sp>
      <p:sp>
        <p:nvSpPr>
          <p:cNvPr id="51" name="Text 1"/>
          <p:cNvSpPr txBox="1"/>
          <p:nvPr/>
        </p:nvSpPr>
        <p:spPr>
          <a:xfrm>
            <a:off x="685800" y="226060"/>
            <a:ext cx="7223760" cy="3708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200">
                <a:solidFill>
                  <a:srgbClr val="FFFFFF"/>
                </a:solidFill>
                <a:latin typeface="Outfit"/>
                <a:ea typeface="Outfit"/>
                <a:cs typeface="Outfit"/>
                <a:sym typeface="Outfit"/>
              </a:defRPr>
            </a:lvl1pPr>
          </a:lstStyle>
          <a:p>
            <a:pPr/>
            <a:r>
              <a:t>KEY VOCABULARY</a:t>
            </a:r>
          </a:p>
        </p:txBody>
      </p:sp>
      <p:sp>
        <p:nvSpPr>
          <p:cNvPr id="52" name="Text 2"/>
          <p:cNvSpPr txBox="1"/>
          <p:nvPr/>
        </p:nvSpPr>
        <p:spPr>
          <a:xfrm>
            <a:off x="685800" y="1083310"/>
            <a:ext cx="3566160" cy="2565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200" sz="1100">
                <a:solidFill>
                  <a:srgbClr val="367875"/>
                </a:solidFill>
                <a:latin typeface="Outfit"/>
                <a:ea typeface="Outfit"/>
                <a:cs typeface="Outfit"/>
                <a:sym typeface="Outfit"/>
              </a:defRPr>
            </a:lvl1pPr>
          </a:lstStyle>
          <a:p>
            <a:pPr/>
            <a:r>
              <a:t>TERMS</a:t>
            </a:r>
          </a:p>
        </p:txBody>
      </p:sp>
      <p:sp>
        <p:nvSpPr>
          <p:cNvPr id="53" name="Text 3"/>
          <p:cNvSpPr txBox="1"/>
          <p:nvPr/>
        </p:nvSpPr>
        <p:spPr>
          <a:xfrm>
            <a:off x="685800" y="1463039"/>
            <a:ext cx="3566160" cy="5232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b="1" sz="1500">
                <a:solidFill>
                  <a:srgbClr val="243554"/>
                </a:solidFill>
                <a:latin typeface="Outfit"/>
                <a:ea typeface="Outfit"/>
                <a:cs typeface="Outfit"/>
                <a:sym typeface="Outfit"/>
              </a:defRPr>
            </a:pPr>
            <a:r>
              <a:t>capstone</a:t>
            </a:r>
          </a:p>
          <a:p>
            <a:pPr>
              <a:defRPr sz="1300">
                <a:solidFill>
                  <a:srgbClr val="2F2F2F"/>
                </a:solidFill>
                <a:latin typeface="Outfit"/>
                <a:ea typeface="Outfit"/>
                <a:cs typeface="Outfit"/>
                <a:sym typeface="Outfit"/>
              </a:defRPr>
            </a:pPr>
            <a:r>
              <a:t>Culminating project showing integrated skills</a:t>
            </a:r>
          </a:p>
        </p:txBody>
      </p:sp>
      <p:sp>
        <p:nvSpPr>
          <p:cNvPr id="54" name="Text 4"/>
          <p:cNvSpPr txBox="1"/>
          <p:nvPr/>
        </p:nvSpPr>
        <p:spPr>
          <a:xfrm>
            <a:off x="685800" y="2240279"/>
            <a:ext cx="3566160" cy="5232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b="1" sz="1500">
                <a:solidFill>
                  <a:srgbClr val="243554"/>
                </a:solidFill>
                <a:latin typeface="Outfit"/>
                <a:ea typeface="Outfit"/>
                <a:cs typeface="Outfit"/>
                <a:sym typeface="Outfit"/>
              </a:defRPr>
            </a:pPr>
            <a:r>
              <a:t>portfolio</a:t>
            </a:r>
          </a:p>
          <a:p>
            <a:pPr>
              <a:defRPr sz="1300">
                <a:solidFill>
                  <a:srgbClr val="2F2F2F"/>
                </a:solidFill>
                <a:latin typeface="Outfit"/>
                <a:ea typeface="Outfit"/>
                <a:cs typeface="Outfit"/>
                <a:sym typeface="Outfit"/>
              </a:defRPr>
            </a:pPr>
            <a:r>
              <a:t>Curated collection of work artifacts</a:t>
            </a:r>
          </a:p>
        </p:txBody>
      </p:sp>
      <p:sp>
        <p:nvSpPr>
          <p:cNvPr id="55" name="Text 5"/>
          <p:cNvSpPr txBox="1"/>
          <p:nvPr/>
        </p:nvSpPr>
        <p:spPr>
          <a:xfrm>
            <a:off x="685800" y="3017520"/>
            <a:ext cx="3566160" cy="5232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b="1" sz="1500">
                <a:solidFill>
                  <a:srgbClr val="243554"/>
                </a:solidFill>
                <a:latin typeface="Outfit"/>
                <a:ea typeface="Outfit"/>
                <a:cs typeface="Outfit"/>
                <a:sym typeface="Outfit"/>
              </a:defRPr>
            </a:pPr>
            <a:r>
              <a:t>Making Of</a:t>
            </a:r>
          </a:p>
          <a:p>
            <a:pPr>
              <a:defRPr sz="1300">
                <a:solidFill>
                  <a:srgbClr val="2F2F2F"/>
                </a:solidFill>
                <a:latin typeface="Outfit"/>
                <a:ea typeface="Outfit"/>
                <a:cs typeface="Outfit"/>
                <a:sym typeface="Outfit"/>
              </a:defRPr>
            </a:pPr>
            <a:r>
              <a:t>Documentation of process and AI's role</a:t>
            </a:r>
          </a:p>
        </p:txBody>
      </p:sp>
      <p:sp>
        <p:nvSpPr>
          <p:cNvPr id="56" name="Text 6"/>
          <p:cNvSpPr txBox="1"/>
          <p:nvPr/>
        </p:nvSpPr>
        <p:spPr>
          <a:xfrm>
            <a:off x="685800" y="3794759"/>
            <a:ext cx="3566160" cy="5232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b="1" sz="1500">
                <a:solidFill>
                  <a:srgbClr val="243554"/>
                </a:solidFill>
                <a:latin typeface="Outfit"/>
                <a:ea typeface="Outfit"/>
                <a:cs typeface="Outfit"/>
                <a:sym typeface="Outfit"/>
              </a:defRPr>
            </a:pPr>
            <a:r>
              <a:t>peer review</a:t>
            </a:r>
          </a:p>
          <a:p>
            <a:pPr>
              <a:defRPr sz="1300">
                <a:solidFill>
                  <a:srgbClr val="2F2F2F"/>
                </a:solidFill>
                <a:latin typeface="Outfit"/>
                <a:ea typeface="Outfit"/>
                <a:cs typeface="Outfit"/>
                <a:sym typeface="Outfit"/>
              </a:defRPr>
            </a:pPr>
            <a:r>
              <a:t>Structured evaluation using a rubric</a:t>
            </a:r>
          </a:p>
        </p:txBody>
      </p:sp>
      <p:sp>
        <p:nvSpPr>
          <p:cNvPr id="57" name="Shape 7"/>
          <p:cNvSpPr/>
          <p:nvPr/>
        </p:nvSpPr>
        <p:spPr>
          <a:xfrm flipH="1">
            <a:off x="4663440" y="1051560"/>
            <a:ext cx="1" cy="3474721"/>
          </a:xfrm>
          <a:prstGeom prst="line">
            <a:avLst/>
          </a:prstGeom>
          <a:ln w="12700">
            <a:solidFill>
              <a:srgbClr val="6E8D9A"/>
            </a:solidFill>
          </a:ln>
        </p:spPr>
        <p:txBody>
          <a:bodyPr lIns="45719" rIns="45719"/>
          <a:lstStyle/>
          <a:p>
            <a:r>
              <a:t>"Solve a real problem using multiple AI tools."</a:t>
            </a:r>
          </a:p>
        </p:txBody>
      </p:sp>
      <p:sp>
        <p:nvSpPr>
          <p:cNvPr id="58" name="Text 8"/>
          <p:cNvSpPr txBox="1"/>
          <p:nvPr/>
        </p:nvSpPr>
        <p:spPr>
          <a:xfrm>
            <a:off x="5074920" y="1083310"/>
            <a:ext cx="3566160" cy="2565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200" sz="1100">
                <a:solidFill>
                  <a:srgbClr val="367875"/>
                </a:solidFill>
                <a:latin typeface="Outfit"/>
                <a:ea typeface="Outfit"/>
                <a:cs typeface="Outfit"/>
                <a:sym typeface="Outfit"/>
              </a:defRPr>
            </a:lvl1pPr>
          </a:lstStyle>
          <a:p>
            <a:pPr/>
            <a:r>
              <a:t>IN CONTEXT</a:t>
            </a:r>
          </a:p>
        </p:txBody>
      </p:sp>
      <p:sp>
        <p:nvSpPr>
          <p:cNvPr id="59" name="Text 9"/>
          <p:cNvSpPr txBox="1"/>
          <p:nvPr/>
        </p:nvSpPr>
        <p:spPr>
          <a:xfrm>
            <a:off x="5074920" y="1463039"/>
            <a:ext cx="3566160" cy="4978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i="1" sz="1300">
                <a:solidFill>
                  <a:srgbClr val="2F2F2F"/>
                </a:solidFill>
                <a:latin typeface="Outfit"/>
                <a:ea typeface="Outfit"/>
                <a:cs typeface="Outfit"/>
                <a:sym typeface="Outfit"/>
              </a:defRPr>
            </a:lvl1pPr>
          </a:lstStyle>
          <a:p>
            <a:pPr/>
            <a:r>
              <a:t>"Playbook, analysis, automation docs, and capstone."</a:t>
            </a:r>
          </a:p>
        </p:txBody>
      </p:sp>
      <p:sp>
        <p:nvSpPr>
          <p:cNvPr id="60" name="Text 10"/>
          <p:cNvSpPr txBox="1"/>
          <p:nvPr/>
        </p:nvSpPr>
        <p:spPr>
          <a:xfrm>
            <a:off x="5074920" y="2240279"/>
            <a:ext cx="3566160" cy="4978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i="1" sz="1300">
                <a:solidFill>
                  <a:srgbClr val="2F2F2F"/>
                </a:solidFill>
                <a:latin typeface="Outfit"/>
                <a:ea typeface="Outfit"/>
                <a:cs typeface="Outfit"/>
                <a:sym typeface="Outfit"/>
              </a:defRPr>
            </a:lvl1pPr>
          </a:lstStyle>
          <a:p>
            <a:pPr/>
            <a:r>
              <a:t>"What did AI do well? What did you fix or override?"</a:t>
            </a:r>
          </a:p>
        </p:txBody>
      </p:sp>
      <p:sp>
        <p:nvSpPr>
          <p:cNvPr id="61" name="Text 11"/>
          <p:cNvSpPr txBox="1"/>
          <p:nvPr/>
        </p:nvSpPr>
        <p:spPr>
          <a:xfrm>
            <a:off x="5074920" y="3017520"/>
            <a:ext cx="3566160" cy="2946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i="1" sz="1300">
                <a:solidFill>
                  <a:srgbClr val="2F2F2F"/>
                </a:solidFill>
                <a:latin typeface="Outfit"/>
                <a:ea typeface="Outfit"/>
                <a:cs typeface="Outfit"/>
                <a:sym typeface="Outfit"/>
              </a:defRPr>
            </a:lvl1pPr>
          </a:lstStyle>
          <a:p>
            <a:pPr/>
            <a:r>
              <a:t>"Does it solve a real problem? Is AI usage transparent?"</a:t>
            </a:r>
          </a:p>
        </p:txBody>
      </p:sp>
      <p:sp>
        <p:nvSpPr>
          <p:cNvPr id="62" name="Text 12"/>
          <p:cNvSpPr txBox="1"/>
          <p:nvPr/>
        </p:nvSpPr>
        <p:spPr>
          <a:xfrm>
            <a:off x="5074920" y="3794759"/>
            <a:ext cx="3566160" cy="4978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i="1" sz="1300">
                <a:solidFill>
                  <a:srgbClr val="2F2F2F"/>
                </a:solidFill>
                <a:latin typeface="Outfit"/>
                <a:ea typeface="Outfit"/>
                <a:cs typeface="Outfit"/>
                <a:sym typeface="Outfit"/>
              </a:defRPr>
            </a:lvl1pPr>
          </a:lstStyle>
          <a:p>
            <a:pPr/>
            <a:r>
              <a:t/>
            </a:r>
          </a:p>
        </p:txBody>
      </p:sp>
      <p:sp>
        <p:nvSpPr>
          <p:cNvPr id="63" name="Shape 13"/>
          <p:cNvSpPr/>
          <p:nvPr/>
        </p:nvSpPr>
        <p:spPr>
          <a:xfrm>
            <a:off x="0" y="4892040"/>
            <a:ext cx="9144000" cy="251460"/>
          </a:xfrm>
          <a:prstGeom prst="rect">
            <a:avLst/>
          </a:prstGeom>
          <a:solidFill>
            <a:srgbClr val="367875"/>
          </a:solidFill>
          <a:ln w="12700">
            <a:miter lim="400000"/>
          </a:ln>
        </p:spPr>
        <p:txBody>
          <a:bodyPr lIns="45719" rIns="45719"/>
          <a:lstStyle/>
          <a:p>
            <a:pPr/>
          </a:p>
        </p:txBody>
      </p:sp>
      <p:sp>
        <p:nvSpPr>
          <p:cNvPr id="64" name="Text 14"/>
          <p:cNvSpPr txBox="1"/>
          <p:nvPr/>
        </p:nvSpPr>
        <p:spPr>
          <a:xfrm>
            <a:off x="685800" y="4902199"/>
            <a:ext cx="5394960" cy="2311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900">
                <a:solidFill>
                  <a:srgbClr val="FFFFFF"/>
                </a:solidFill>
                <a:latin typeface="Outfit"/>
                <a:ea typeface="Outfit"/>
                <a:cs typeface="Outfit"/>
                <a:sym typeface="Outfit"/>
              </a:defRPr>
            </a:lvl1pPr>
          </a:lstStyle>
          <a:p>
            <a:pPr/>
            <a:r>
              <a:t>Session 4: “Ship It &amp; Own It”</a:t>
            </a:r>
          </a:p>
        </p:txBody>
      </p:sp>
      <p:sp>
        <p:nvSpPr>
          <p:cNvPr id="65" name="Text 15"/>
          <p:cNvSpPr txBox="1"/>
          <p:nvPr/>
        </p:nvSpPr>
        <p:spPr>
          <a:xfrm>
            <a:off x="7360919" y="4902199"/>
            <a:ext cx="1280161" cy="2311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r">
              <a:defRPr b="1" sz="900">
                <a:solidFill>
                  <a:srgbClr val="FFFFFF"/>
                </a:solidFill>
                <a:latin typeface="Outfit"/>
                <a:ea typeface="Outfit"/>
                <a:cs typeface="Outfit"/>
                <a:sym typeface="Outfit"/>
              </a:defRPr>
            </a:lvl1pPr>
          </a:lstStyle>
          <a:p>
            <a:pPr/>
            <a:r>
              <a:t>ALC</a:t>
            </a:r>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7" name="Shape 0"/>
          <p:cNvSpPr/>
          <p:nvPr/>
        </p:nvSpPr>
        <p:spPr>
          <a:xfrm>
            <a:off x="0" y="-1"/>
            <a:ext cx="9144000" cy="822962"/>
          </a:xfrm>
          <a:prstGeom prst="rect">
            <a:avLst/>
          </a:prstGeom>
          <a:solidFill>
            <a:srgbClr val="243554"/>
          </a:solidFill>
          <a:ln w="12700">
            <a:miter lim="400000"/>
          </a:ln>
        </p:spPr>
        <p:txBody>
          <a:bodyPr lIns="45719" rIns="45719"/>
          <a:lstStyle/>
          <a:p>
            <a:pPr/>
          </a:p>
        </p:txBody>
      </p:sp>
      <p:sp>
        <p:nvSpPr>
          <p:cNvPr id="68" name="Text 1"/>
          <p:cNvSpPr txBox="1"/>
          <p:nvPr/>
        </p:nvSpPr>
        <p:spPr>
          <a:xfrm>
            <a:off x="685800" y="226060"/>
            <a:ext cx="3566160" cy="3708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200">
                <a:solidFill>
                  <a:srgbClr val="FFFFFF"/>
                </a:solidFill>
                <a:latin typeface="Outfit"/>
                <a:ea typeface="Outfit"/>
                <a:cs typeface="Outfit"/>
                <a:sym typeface="Outfit"/>
              </a:defRPr>
            </a:lvl1pPr>
          </a:lstStyle>
          <a:p>
            <a:pPr/>
            <a:r>
              <a:t>ACTIVITY</a:t>
            </a:r>
          </a:p>
        </p:txBody>
      </p:sp>
      <p:sp>
        <p:nvSpPr>
          <p:cNvPr id="69" name="Text 2"/>
          <p:cNvSpPr txBox="1"/>
          <p:nvPr/>
        </p:nvSpPr>
        <p:spPr>
          <a:xfrm>
            <a:off x="4617720" y="264160"/>
            <a:ext cx="4023360" cy="294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r">
              <a:defRPr sz="1300">
                <a:solidFill>
                  <a:srgbClr val="6E8D9A"/>
                </a:solidFill>
                <a:latin typeface="Outfit"/>
                <a:ea typeface="Outfit"/>
                <a:cs typeface="Outfit"/>
                <a:sym typeface="Outfit"/>
              </a:defRPr>
            </a:lvl1pPr>
          </a:lstStyle>
          <a:p>
            <a:pPr/>
            <a:r>
              <a:t>Individual or teams, focused build time  •  75 min</a:t>
            </a:r>
          </a:p>
        </p:txBody>
      </p:sp>
      <p:sp>
        <p:nvSpPr>
          <p:cNvPr id="70" name="Shape 3"/>
          <p:cNvSpPr/>
          <p:nvPr/>
        </p:nvSpPr>
        <p:spPr>
          <a:xfrm>
            <a:off x="640079" y="1097280"/>
            <a:ext cx="7863842" cy="1005840"/>
          </a:xfrm>
          <a:prstGeom prst="rect">
            <a:avLst/>
          </a:prstGeom>
          <a:solidFill>
            <a:srgbClr val="243554"/>
          </a:solidFill>
          <a:ln w="12700">
            <a:miter lim="400000"/>
          </a:ln>
        </p:spPr>
        <p:txBody>
          <a:bodyPr lIns="45719" rIns="45719"/>
          <a:lstStyle/>
          <a:p>
            <a:pPr/>
          </a:p>
        </p:txBody>
      </p:sp>
      <p:sp>
        <p:nvSpPr>
          <p:cNvPr id="71" name="Text 4"/>
          <p:cNvSpPr txBox="1"/>
          <p:nvPr/>
        </p:nvSpPr>
        <p:spPr>
          <a:xfrm>
            <a:off x="960119" y="1160779"/>
            <a:ext cx="7223761" cy="421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2200">
                <a:solidFill>
                  <a:srgbClr val="FFFFFF"/>
                </a:solidFill>
                <a:latin typeface="Outfit"/>
                <a:ea typeface="Outfit"/>
                <a:cs typeface="Outfit"/>
                <a:sym typeface="Outfit"/>
              </a:defRPr>
            </a:lvl1pPr>
          </a:lstStyle>
          <a:p>
            <a:pPr/>
            <a:r>
              <a:t>Capstone Build Sprint</a:t>
            </a:r>
          </a:p>
        </p:txBody>
      </p:sp>
      <p:sp>
        <p:nvSpPr>
          <p:cNvPr id="72" name="Text 5"/>
          <p:cNvSpPr txBox="1"/>
          <p:nvPr/>
        </p:nvSpPr>
        <p:spPr>
          <a:xfrm>
            <a:off x="960119" y="1658619"/>
            <a:ext cx="7223761" cy="294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300">
                <a:solidFill>
                  <a:srgbClr val="6E8D9A"/>
                </a:solidFill>
                <a:latin typeface="Outfit"/>
                <a:ea typeface="Outfit"/>
                <a:cs typeface="Outfit"/>
                <a:sym typeface="Outfit"/>
              </a:defRPr>
            </a:lvl1pPr>
          </a:lstStyle>
          <a:p>
            <a:pPr/>
            <a:r>
              <a:t>This is the longest unbroken production block in the bootcamp. Protect it. No announcements, no mini-lessons, no...</a:t>
            </a:r>
          </a:p>
        </p:txBody>
      </p:sp>
      <p:sp>
        <p:nvSpPr>
          <p:cNvPr id="73" name="Shape 6"/>
          <p:cNvSpPr/>
          <p:nvPr/>
        </p:nvSpPr>
        <p:spPr>
          <a:xfrm>
            <a:off x="640080" y="2423160"/>
            <a:ext cx="292609" cy="292609"/>
          </a:xfrm>
          <a:prstGeom prst="ellipse">
            <a:avLst/>
          </a:prstGeom>
          <a:solidFill>
            <a:srgbClr val="367875"/>
          </a:solidFill>
          <a:ln w="12700">
            <a:miter lim="400000"/>
          </a:ln>
        </p:spPr>
        <p:txBody>
          <a:bodyPr lIns="45719" rIns="45719"/>
          <a:lstStyle/>
          <a:p>
            <a:pPr/>
          </a:p>
        </p:txBody>
      </p:sp>
      <p:sp>
        <p:nvSpPr>
          <p:cNvPr id="74" name="Text 7"/>
          <p:cNvSpPr txBox="1"/>
          <p:nvPr/>
        </p:nvSpPr>
        <p:spPr>
          <a:xfrm>
            <a:off x="685800" y="2441194"/>
            <a:ext cx="201169" cy="2565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100">
                <a:solidFill>
                  <a:srgbClr val="FFFFFF"/>
                </a:solidFill>
                <a:latin typeface="Outfit"/>
                <a:ea typeface="Outfit"/>
                <a:cs typeface="Outfit"/>
                <a:sym typeface="Outfit"/>
              </a:defRPr>
            </a:lvl1pPr>
          </a:lstStyle>
          <a:p>
            <a:pPr/>
            <a:r>
              <a:t>1</a:t>
            </a:r>
          </a:p>
        </p:txBody>
      </p:sp>
      <p:sp>
        <p:nvSpPr>
          <p:cNvPr id="75" name="Text 8"/>
          <p:cNvSpPr txBox="1"/>
          <p:nvPr/>
        </p:nvSpPr>
        <p:spPr>
          <a:xfrm>
            <a:off x="1143000" y="2449575"/>
            <a:ext cx="7223760" cy="294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300">
                <a:solidFill>
                  <a:srgbClr val="2F2F2F"/>
                </a:solidFill>
                <a:latin typeface="Outfit"/>
                <a:ea typeface="Outfit"/>
                <a:cs typeface="Outfit"/>
                <a:sym typeface="Outfit"/>
              </a:defRPr>
            </a:lvl1pPr>
          </a:lstStyle>
          <a:p>
            <a:pPr/>
            <a:r>
              <a:t>No announcements, no mini-lessons, no interruptions.</a:t>
            </a:r>
          </a:p>
        </p:txBody>
      </p:sp>
      <p:sp>
        <p:nvSpPr>
          <p:cNvPr id="76" name="Shape 9"/>
          <p:cNvSpPr/>
          <p:nvPr/>
        </p:nvSpPr>
        <p:spPr>
          <a:xfrm>
            <a:off x="640080" y="2898648"/>
            <a:ext cx="292609" cy="292609"/>
          </a:xfrm>
          <a:prstGeom prst="ellipse">
            <a:avLst/>
          </a:prstGeom>
          <a:solidFill>
            <a:srgbClr val="367875"/>
          </a:solidFill>
          <a:ln w="12700">
            <a:miter lim="400000"/>
          </a:ln>
        </p:spPr>
        <p:txBody>
          <a:bodyPr lIns="45719" rIns="45719"/>
          <a:lstStyle/>
          <a:p>
            <a:pPr/>
          </a:p>
        </p:txBody>
      </p:sp>
      <p:sp>
        <p:nvSpPr>
          <p:cNvPr id="77" name="Text 10"/>
          <p:cNvSpPr txBox="1"/>
          <p:nvPr/>
        </p:nvSpPr>
        <p:spPr>
          <a:xfrm>
            <a:off x="685800" y="2916682"/>
            <a:ext cx="201169" cy="2565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100">
                <a:solidFill>
                  <a:srgbClr val="FFFFFF"/>
                </a:solidFill>
                <a:latin typeface="Outfit"/>
                <a:ea typeface="Outfit"/>
                <a:cs typeface="Outfit"/>
                <a:sym typeface="Outfit"/>
              </a:defRPr>
            </a:lvl1pPr>
          </a:lstStyle>
          <a:p>
            <a:pPr/>
            <a:r>
              <a:t>2</a:t>
            </a:r>
          </a:p>
        </p:txBody>
      </p:sp>
      <p:sp>
        <p:nvSpPr>
          <p:cNvPr id="78" name="Text 11"/>
          <p:cNvSpPr txBox="1"/>
          <p:nvPr/>
        </p:nvSpPr>
        <p:spPr>
          <a:xfrm>
            <a:off x="1143000" y="2925063"/>
            <a:ext cx="7223760" cy="294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300">
                <a:solidFill>
                  <a:srgbClr val="2F2F2F"/>
                </a:solidFill>
                <a:latin typeface="Outfit"/>
                <a:ea typeface="Outfit"/>
                <a:cs typeface="Outfit"/>
                <a:sym typeface="Outfit"/>
              </a:defRPr>
            </a:lvl1pPr>
          </a:lstStyle>
          <a:p>
            <a:pPr/>
            <a:r>
              <a:t>Instructor does 1-on-1 coaching rotations: spend 3–5 minutes with each student/team, ask what they’re stuck on, give one specific suggestion, move on.</a:t>
            </a:r>
          </a:p>
        </p:txBody>
      </p:sp>
      <p:sp>
        <p:nvSpPr>
          <p:cNvPr id="79" name="Shape 12"/>
          <p:cNvSpPr/>
          <p:nvPr/>
        </p:nvSpPr>
        <p:spPr>
          <a:xfrm>
            <a:off x="640080" y="3374135"/>
            <a:ext cx="292609" cy="292609"/>
          </a:xfrm>
          <a:prstGeom prst="ellipse">
            <a:avLst/>
          </a:prstGeom>
          <a:solidFill>
            <a:srgbClr val="367875"/>
          </a:solidFill>
          <a:ln w="12700">
            <a:miter lim="400000"/>
          </a:ln>
        </p:spPr>
        <p:txBody>
          <a:bodyPr lIns="45719" rIns="45719"/>
          <a:lstStyle/>
          <a:p>
            <a:pPr/>
          </a:p>
        </p:txBody>
      </p:sp>
      <p:sp>
        <p:nvSpPr>
          <p:cNvPr id="80" name="Text 13"/>
          <p:cNvSpPr txBox="1"/>
          <p:nvPr/>
        </p:nvSpPr>
        <p:spPr>
          <a:xfrm>
            <a:off x="685800" y="3392169"/>
            <a:ext cx="201169" cy="2565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100">
                <a:solidFill>
                  <a:srgbClr val="FFFFFF"/>
                </a:solidFill>
                <a:latin typeface="Outfit"/>
                <a:ea typeface="Outfit"/>
                <a:cs typeface="Outfit"/>
                <a:sym typeface="Outfit"/>
              </a:defRPr>
            </a:lvl1pPr>
          </a:lstStyle>
          <a:p>
            <a:pPr/>
            <a:r>
              <a:t>3</a:t>
            </a:r>
          </a:p>
        </p:txBody>
      </p:sp>
      <p:sp>
        <p:nvSpPr>
          <p:cNvPr id="81" name="Text 14"/>
          <p:cNvSpPr txBox="1"/>
          <p:nvPr/>
        </p:nvSpPr>
        <p:spPr>
          <a:xfrm>
            <a:off x="1143000" y="3400551"/>
            <a:ext cx="7223760" cy="294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300">
                <a:solidFill>
                  <a:srgbClr val="2F2F2F"/>
                </a:solidFill>
                <a:latin typeface="Outfit"/>
                <a:ea typeface="Outfit"/>
                <a:cs typeface="Outfit"/>
                <a:sym typeface="Outfit"/>
              </a:defRPr>
            </a:lvl1pPr>
          </a:lstStyle>
          <a:p>
            <a:pPr/>
            <a:r>
              <a:t>With 15–20 students and 75 minutes, the instructor can visit each student/team twice.</a:t>
            </a:r>
          </a:p>
        </p:txBody>
      </p:sp>
      <p:sp>
        <p:nvSpPr>
          <p:cNvPr id="82" name="Shape 15"/>
          <p:cNvSpPr/>
          <p:nvPr/>
        </p:nvSpPr>
        <p:spPr>
          <a:xfrm>
            <a:off x="640080" y="3849623"/>
            <a:ext cx="292609" cy="292609"/>
          </a:xfrm>
          <a:prstGeom prst="ellipse">
            <a:avLst/>
          </a:prstGeom>
          <a:solidFill>
            <a:srgbClr val="367875"/>
          </a:solidFill>
          <a:ln w="12700">
            <a:miter lim="400000"/>
          </a:ln>
        </p:spPr>
        <p:txBody>
          <a:bodyPr lIns="45719" rIns="45719"/>
          <a:lstStyle/>
          <a:p>
            <a:pPr/>
          </a:p>
        </p:txBody>
      </p:sp>
      <p:sp>
        <p:nvSpPr>
          <p:cNvPr id="83" name="Text 16"/>
          <p:cNvSpPr txBox="1"/>
          <p:nvPr/>
        </p:nvSpPr>
        <p:spPr>
          <a:xfrm>
            <a:off x="685800" y="3867657"/>
            <a:ext cx="201169" cy="2565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100">
                <a:solidFill>
                  <a:srgbClr val="FFFFFF"/>
                </a:solidFill>
                <a:latin typeface="Outfit"/>
                <a:ea typeface="Outfit"/>
                <a:cs typeface="Outfit"/>
                <a:sym typeface="Outfit"/>
              </a:defRPr>
            </a:lvl1pPr>
          </a:lstStyle>
          <a:p>
            <a:pPr/>
            <a:r>
              <a:t>4</a:t>
            </a:r>
          </a:p>
        </p:txBody>
      </p:sp>
      <p:sp>
        <p:nvSpPr>
          <p:cNvPr id="84" name="Text 17"/>
          <p:cNvSpPr txBox="1"/>
          <p:nvPr/>
        </p:nvSpPr>
        <p:spPr>
          <a:xfrm>
            <a:off x="1143000" y="3876039"/>
            <a:ext cx="7223760" cy="294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300">
                <a:solidFill>
                  <a:srgbClr val="2F2F2F"/>
                </a:solidFill>
                <a:latin typeface="Outfit"/>
                <a:ea typeface="Outfit"/>
                <a:cs typeface="Outfit"/>
                <a:sym typeface="Outfit"/>
              </a:defRPr>
            </a:lvl1pPr>
          </a:lstStyle>
          <a:p>
            <a:pPr/>
            <a:r>
              <a:t/>
            </a:r>
          </a:p>
        </p:txBody>
      </p:sp>
      <p:sp>
        <p:nvSpPr>
          <p:cNvPr id="85" name="Shape 18"/>
          <p:cNvSpPr/>
          <p:nvPr/>
        </p:nvSpPr>
        <p:spPr>
          <a:xfrm>
            <a:off x="640079" y="4434840"/>
            <a:ext cx="7863842" cy="365761"/>
          </a:xfrm>
          <a:prstGeom prst="rect">
            <a:avLst/>
          </a:prstGeom>
          <a:solidFill>
            <a:srgbClr val="F0F4F5"/>
          </a:solidFill>
          <a:ln w="12700">
            <a:miter lim="400000"/>
          </a:ln>
        </p:spPr>
        <p:txBody>
          <a:bodyPr lIns="45719" rIns="45719"/>
          <a:lstStyle/>
          <a:p>
            <a:r>
              <a:t>💡 Teacher tip: Students who arrived with their capstone 70%+ complete (as instructed yesterday) will use this time for polish and iteration. Students who didn’t will be scrambling. Triage: help the scramblers scope </a:t>
            </a:r>
          </a:p>
        </p:txBody>
      </p:sp>
      <p:sp>
        <p:nvSpPr>
          <p:cNvPr id="86" name="Text 19"/>
          <p:cNvSpPr txBox="1"/>
          <p:nvPr/>
        </p:nvSpPr>
        <p:spPr>
          <a:xfrm>
            <a:off x="960119" y="4464050"/>
            <a:ext cx="7223761" cy="3073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i="1" sz="1000">
                <a:solidFill>
                  <a:srgbClr val="6E8D9A"/>
                </a:solidFill>
                <a:latin typeface="Outfit"/>
                <a:ea typeface="Outfit"/>
                <a:cs typeface="Outfit"/>
                <a:sym typeface="Outfit"/>
              </a:defRPr>
            </a:lvl1pPr>
          </a:lstStyle>
          <a:p>
            <a:pPr/>
            <a:r>
              <a:t>💡 Teacher tip: Students who arrived with their capstone 70%+ complete (as instructed yesterday) will use this time for polish and iteration. Students who didn’t will be scrambling. Triage: help the scramblers scope </a:t>
            </a:r>
          </a:p>
        </p:txBody>
      </p:sp>
      <p:sp>
        <p:nvSpPr>
          <p:cNvPr id="87" name="Shape 20"/>
          <p:cNvSpPr/>
          <p:nvPr/>
        </p:nvSpPr>
        <p:spPr>
          <a:xfrm>
            <a:off x="0" y="4892040"/>
            <a:ext cx="9144000" cy="251460"/>
          </a:xfrm>
          <a:prstGeom prst="rect">
            <a:avLst/>
          </a:prstGeom>
          <a:solidFill>
            <a:srgbClr val="367875"/>
          </a:solidFill>
          <a:ln w="12700">
            <a:miter lim="400000"/>
          </a:ln>
        </p:spPr>
        <p:txBody>
          <a:bodyPr lIns="45719" rIns="45719"/>
          <a:lstStyle/>
          <a:p>
            <a:r>
              <a:t>Session 4: “Ship It &amp; Own It”</a:t>
            </a:r>
          </a:p>
        </p:txBody>
      </p:sp>
      <p:sp>
        <p:nvSpPr>
          <p:cNvPr id="88" name="Text 21"/>
          <p:cNvSpPr txBox="1"/>
          <p:nvPr/>
        </p:nvSpPr>
        <p:spPr>
          <a:xfrm>
            <a:off x="685800" y="4902199"/>
            <a:ext cx="5394960" cy="2311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900">
                <a:solidFill>
                  <a:srgbClr val="FFFFFF"/>
                </a:solidFill>
                <a:latin typeface="Outfit"/>
                <a:ea typeface="Outfit"/>
                <a:cs typeface="Outfit"/>
                <a:sym typeface="Outfit"/>
              </a:defRPr>
            </a:lvl1pPr>
          </a:lstStyle>
          <a:p>
            <a:pPr/>
            <a:r>
              <a:t>Session 4: “Ship It &amp; Own It”</a:t>
            </a:r>
          </a:p>
        </p:txBody>
      </p:sp>
      <p:sp>
        <p:nvSpPr>
          <p:cNvPr id="89" name="Text 22"/>
          <p:cNvSpPr txBox="1"/>
          <p:nvPr/>
        </p:nvSpPr>
        <p:spPr>
          <a:xfrm>
            <a:off x="7360919" y="4902199"/>
            <a:ext cx="1280161" cy="2311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r">
              <a:defRPr b="1" sz="900">
                <a:solidFill>
                  <a:srgbClr val="FFFFFF"/>
                </a:solidFill>
                <a:latin typeface="Outfit"/>
                <a:ea typeface="Outfit"/>
                <a:cs typeface="Outfit"/>
                <a:sym typeface="Outfit"/>
              </a:defRPr>
            </a:lvl1pPr>
          </a:lstStyle>
          <a:p>
            <a:pPr/>
            <a:r>
              <a:t>ALC</a:t>
            </a:r>
          </a:p>
        </p:txBody>
      </p:sp>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1" name="Shape 0"/>
          <p:cNvSpPr/>
          <p:nvPr/>
        </p:nvSpPr>
        <p:spPr>
          <a:xfrm>
            <a:off x="0" y="-1"/>
            <a:ext cx="9144000" cy="822962"/>
          </a:xfrm>
          <a:prstGeom prst="rect">
            <a:avLst/>
          </a:prstGeom>
          <a:solidFill>
            <a:srgbClr val="243554"/>
          </a:solidFill>
          <a:ln w="12700">
            <a:miter lim="400000"/>
          </a:ln>
        </p:spPr>
        <p:txBody>
          <a:bodyPr lIns="45719" rIns="45719"/>
          <a:lstStyle/>
          <a:p>
            <a:pPr/>
          </a:p>
        </p:txBody>
      </p:sp>
      <p:sp>
        <p:nvSpPr>
          <p:cNvPr id="92" name="Text 1"/>
          <p:cNvSpPr txBox="1"/>
          <p:nvPr/>
        </p:nvSpPr>
        <p:spPr>
          <a:xfrm>
            <a:off x="685800" y="226060"/>
            <a:ext cx="7223760" cy="3708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200">
                <a:solidFill>
                  <a:srgbClr val="FFFFFF"/>
                </a:solidFill>
                <a:latin typeface="Outfit"/>
                <a:ea typeface="Outfit"/>
                <a:cs typeface="Outfit"/>
                <a:sym typeface="Outfit"/>
              </a:defRPr>
            </a:lvl1pPr>
          </a:lstStyle>
          <a:p>
            <a:pPr/>
            <a:r>
              <a:t>ASSESSMENT CRITERIA</a:t>
            </a:r>
          </a:p>
        </p:txBody>
      </p:sp>
      <p:graphicFrame>
        <p:nvGraphicFramePr>
          <p:cNvPr id="93" name="Table 0"/>
          <p:cNvGraphicFramePr/>
          <p:nvPr/>
        </p:nvGraphicFramePr>
        <p:xfrm>
          <a:off x="640080" y="1097280"/>
          <a:ext cx="7863841" cy="2788921"/>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1965960"/>
                <a:gridCol w="1965960"/>
                <a:gridCol w="1965960"/>
                <a:gridCol w="1965960"/>
              </a:tblGrid>
              <a:tr h="411480">
                <a:tc>
                  <a:txBody>
                    <a:bodyPr/>
                    <a:lstStyle/>
                    <a:p>
                      <a:pPr algn="l">
                        <a:defRPr sz="1800"/>
                      </a:pPr>
                      <a:r>
                        <a:rPr b="1" sz="1200">
                          <a:solidFill>
                            <a:srgbClr val="FFFFFF"/>
                          </a:solidFill>
                          <a:latin typeface="Outfit"/>
                          <a:ea typeface="Outfit"/>
                          <a:cs typeface="Outfit"/>
                          <a:sym typeface="Outfit"/>
                        </a:rPr>
                        <a:t>Criterion</a:t>
                      </a:r>
                    </a:p>
                  </a:txBody>
                  <a:tcPr marL="45720" marR="45720" marT="45720" marB="45720" anchor="ctr" anchorCtr="0" horzOverflow="overflow">
                    <a:lnL w="6350">
                      <a:solidFill>
                        <a:srgbClr val="6E8D9A"/>
                      </a:solidFill>
                    </a:lnL>
                    <a:lnR w="6350">
                      <a:solidFill>
                        <a:srgbClr val="6E8D9A"/>
                      </a:solidFill>
                    </a:lnR>
                    <a:lnT w="6350">
                      <a:solidFill>
                        <a:srgbClr val="6E8D9A"/>
                      </a:solidFill>
                    </a:lnT>
                    <a:lnB w="6350">
                      <a:solidFill>
                        <a:srgbClr val="6E8D9A"/>
                      </a:solidFill>
                    </a:lnB>
                    <a:solidFill>
                      <a:srgbClr val="243554"/>
                    </a:solidFill>
                  </a:tcPr>
                </a:tc>
                <a:tc>
                  <a:txBody>
                    <a:bodyPr/>
                    <a:lstStyle/>
                    <a:p>
                      <a:pPr algn="ctr">
                        <a:defRPr sz="1800"/>
                      </a:pPr>
                      <a:r>
                        <a:rPr b="1" sz="1200">
                          <a:solidFill>
                            <a:srgbClr val="FFFFFF"/>
                          </a:solidFill>
                          <a:latin typeface="Outfit"/>
                          <a:ea typeface="Outfit"/>
                          <a:cs typeface="Outfit"/>
                          <a:sym typeface="Outfit"/>
                        </a:rPr>
                        <a:t>Developing</a:t>
                      </a:r>
                    </a:p>
                  </a:txBody>
                  <a:tcPr marL="45720" marR="45720" marT="45720" marB="45720" anchor="ctr" anchorCtr="0" horzOverflow="overflow">
                    <a:lnL w="6350">
                      <a:solidFill>
                        <a:srgbClr val="6E8D9A"/>
                      </a:solidFill>
                    </a:lnL>
                    <a:lnR w="6350">
                      <a:solidFill>
                        <a:srgbClr val="6E8D9A"/>
                      </a:solidFill>
                    </a:lnR>
                    <a:lnT w="6350">
                      <a:solidFill>
                        <a:srgbClr val="6E8D9A"/>
                      </a:solidFill>
                    </a:lnT>
                    <a:lnB w="6350">
                      <a:solidFill>
                        <a:srgbClr val="6E8D9A"/>
                      </a:solidFill>
                    </a:lnB>
                    <a:solidFill>
                      <a:srgbClr val="243554"/>
                    </a:solidFill>
                  </a:tcPr>
                </a:tc>
                <a:tc>
                  <a:txBody>
                    <a:bodyPr/>
                    <a:lstStyle/>
                    <a:p>
                      <a:pPr algn="ctr">
                        <a:defRPr sz="1800"/>
                      </a:pPr>
                      <a:r>
                        <a:rPr b="1" sz="1200">
                          <a:solidFill>
                            <a:srgbClr val="FFFFFF"/>
                          </a:solidFill>
                          <a:latin typeface="Outfit"/>
                          <a:ea typeface="Outfit"/>
                          <a:cs typeface="Outfit"/>
                          <a:sym typeface="Outfit"/>
                        </a:rPr>
                        <a:t>Competent</a:t>
                      </a:r>
                    </a:p>
                  </a:txBody>
                  <a:tcPr marL="45720" marR="45720" marT="45720" marB="45720" anchor="ctr" anchorCtr="0" horzOverflow="overflow">
                    <a:lnL w="6350">
                      <a:solidFill>
                        <a:srgbClr val="6E8D9A"/>
                      </a:solidFill>
                    </a:lnL>
                    <a:lnR w="6350">
                      <a:solidFill>
                        <a:srgbClr val="6E8D9A"/>
                      </a:solidFill>
                    </a:lnR>
                    <a:lnT w="6350">
                      <a:solidFill>
                        <a:srgbClr val="6E8D9A"/>
                      </a:solidFill>
                    </a:lnT>
                    <a:lnB w="6350">
                      <a:solidFill>
                        <a:srgbClr val="6E8D9A"/>
                      </a:solidFill>
                    </a:lnB>
                    <a:solidFill>
                      <a:srgbClr val="243554"/>
                    </a:solidFill>
                  </a:tcPr>
                </a:tc>
                <a:tc>
                  <a:txBody>
                    <a:bodyPr/>
                    <a:lstStyle/>
                    <a:p>
                      <a:pPr algn="ctr">
                        <a:defRPr sz="1800"/>
                      </a:pPr>
                      <a:r>
                        <a:rPr b="1" sz="1200">
                          <a:solidFill>
                            <a:srgbClr val="FFFFFF"/>
                          </a:solidFill>
                          <a:latin typeface="Outfit"/>
                          <a:ea typeface="Outfit"/>
                          <a:cs typeface="Outfit"/>
                          <a:sym typeface="Outfit"/>
                        </a:rPr>
                        <a:t>Proficient</a:t>
                      </a:r>
                    </a:p>
                  </a:txBody>
                  <a:tcPr marL="45720" marR="45720" marT="45720" marB="45720" anchor="ctr" anchorCtr="0" horzOverflow="overflow">
                    <a:lnL w="6350">
                      <a:solidFill>
                        <a:srgbClr val="6E8D9A"/>
                      </a:solidFill>
                    </a:lnL>
                    <a:lnR w="6350">
                      <a:solidFill>
                        <a:srgbClr val="6E8D9A"/>
                      </a:solidFill>
                    </a:lnR>
                    <a:lnT w="6350">
                      <a:solidFill>
                        <a:srgbClr val="6E8D9A"/>
                      </a:solidFill>
                    </a:lnT>
                    <a:lnB w="6350">
                      <a:solidFill>
                        <a:srgbClr val="6E8D9A"/>
                      </a:solidFill>
                    </a:lnB>
                    <a:solidFill>
                      <a:srgbClr val="243554"/>
                    </a:solidFill>
                  </a:tcPr>
                </a:tc>
              </a:tr>
              <a:tr h="594360">
                <a:tc>
                  <a:txBody>
                    <a:bodyPr/>
                    <a:lstStyle/>
                    <a:p>
                      <a:pPr algn="l">
                        <a:defRPr sz="1800"/>
                      </a:pPr>
                      <a:r>
                        <a:rPr b="1" sz="1100">
                          <a:solidFill>
                            <a:srgbClr val="2F2F2F"/>
                          </a:solidFill>
                          <a:latin typeface="Outfit"/>
                          <a:ea typeface="Outfit"/>
                          <a:cs typeface="Outfit"/>
                          <a:sym typeface="Outfit"/>
                        </a:rPr>
                        <a:t>Capstone quality</a:t>
                      </a:r>
                    </a:p>
                  </a:txBody>
                  <a:tcPr marL="45720" marR="45720" marT="45720" marB="45720" anchor="ctr" anchorCtr="0" horzOverflow="overflow">
                    <a:lnL w="6350">
                      <a:solidFill>
                        <a:srgbClr val="6E8D9A"/>
                      </a:solidFill>
                    </a:lnL>
                    <a:lnR w="6350">
                      <a:solidFill>
                        <a:srgbClr val="6E8D9A"/>
                      </a:solidFill>
                    </a:lnR>
                    <a:lnT w="6350">
                      <a:solidFill>
                        <a:srgbClr val="6E8D9A"/>
                      </a:solidFill>
                    </a:lnT>
                    <a:lnB w="6350">
                      <a:solidFill>
                        <a:srgbClr val="6E8D9A"/>
                      </a:solidFill>
                    </a:lnB>
                    <a:solidFill>
                      <a:srgbClr val="FFFFFF"/>
                    </a:solidFill>
                  </a:tcPr>
                </a:tc>
                <a:tc>
                  <a:txBody>
                    <a:bodyPr/>
                    <a:lstStyle/>
                    <a:p>
                      <a:pPr algn="ctr">
                        <a:defRPr sz="1800"/>
                      </a:pPr>
                      <a:r>
                        <a:rPr sz="1100">
                          <a:solidFill>
                            <a:srgbClr val="2F2F2F"/>
                          </a:solidFill>
                          <a:latin typeface="Outfit"/>
                          <a:ea typeface="Outfit"/>
                          <a:cs typeface="Outfit"/>
                          <a:sym typeface="Outfit"/>
                        </a:rPr>
                        <a:t>Incomplete project</a:t>
                      </a:r>
                    </a:p>
                  </a:txBody>
                  <a:tcPr marL="45720" marR="45720" marT="45720" marB="45720" anchor="ctr" anchorCtr="0" horzOverflow="overflow">
                    <a:lnL w="6350">
                      <a:solidFill>
                        <a:srgbClr val="6E8D9A"/>
                      </a:solidFill>
                    </a:lnL>
                    <a:lnR w="6350">
                      <a:solidFill>
                        <a:srgbClr val="6E8D9A"/>
                      </a:solidFill>
                    </a:lnR>
                    <a:lnT w="6350">
                      <a:solidFill>
                        <a:srgbClr val="6E8D9A"/>
                      </a:solidFill>
                    </a:lnT>
                    <a:lnB w="6350">
                      <a:solidFill>
                        <a:srgbClr val="6E8D9A"/>
                      </a:solidFill>
                    </a:lnB>
                    <a:solidFill>
                      <a:srgbClr val="FFFFFF"/>
                    </a:solidFill>
                  </a:tcPr>
                </a:tc>
                <a:tc>
                  <a:txBody>
                    <a:bodyPr/>
                    <a:lstStyle/>
                    <a:p>
                      <a:pPr algn="ctr">
                        <a:defRPr sz="1800"/>
                      </a:pPr>
                      <a:r>
                        <a:rPr sz="1100">
                          <a:solidFill>
                            <a:srgbClr val="2F2F2F"/>
                          </a:solidFill>
                          <a:latin typeface="Outfit"/>
                          <a:ea typeface="Outfit"/>
                          <a:cs typeface="Outfit"/>
                          <a:sym typeface="Outfit"/>
                        </a:rPr>
                        <a:t>Functional but basic</a:t>
                      </a:r>
                    </a:p>
                  </a:txBody>
                  <a:tcPr marL="45720" marR="45720" marT="45720" marB="45720" anchor="ctr" anchorCtr="0" horzOverflow="overflow">
                    <a:lnL w="6350">
                      <a:solidFill>
                        <a:srgbClr val="6E8D9A"/>
                      </a:solidFill>
                    </a:lnL>
                    <a:lnR w="6350">
                      <a:solidFill>
                        <a:srgbClr val="6E8D9A"/>
                      </a:solidFill>
                    </a:lnR>
                    <a:lnT w="6350">
                      <a:solidFill>
                        <a:srgbClr val="6E8D9A"/>
                      </a:solidFill>
                    </a:lnT>
                    <a:lnB w="6350">
                      <a:solidFill>
                        <a:srgbClr val="6E8D9A"/>
                      </a:solidFill>
                    </a:lnB>
                    <a:solidFill>
                      <a:srgbClr val="FFFFFF"/>
                    </a:solidFill>
                  </a:tcPr>
                </a:tc>
                <a:tc>
                  <a:txBody>
                    <a:bodyPr/>
                    <a:lstStyle/>
                    <a:p>
                      <a:pPr algn="ctr">
                        <a:defRPr sz="1800"/>
                      </a:pPr>
                      <a:r>
                        <a:rPr sz="1100">
                          <a:solidFill>
                            <a:srgbClr val="2F2F2F"/>
                          </a:solidFill>
                          <a:latin typeface="Outfit"/>
                          <a:ea typeface="Outfit"/>
                          <a:cs typeface="Outfit"/>
                          <a:sym typeface="Outfit"/>
                        </a:rPr>
                        <a:t>Solves real problem</a:t>
                      </a:r>
                    </a:p>
                  </a:txBody>
                  <a:tcPr marL="45720" marR="45720" marT="45720" marB="45720" anchor="ctr" anchorCtr="0" horzOverflow="overflow">
                    <a:lnL w="6350">
                      <a:solidFill>
                        <a:srgbClr val="6E8D9A"/>
                      </a:solidFill>
                    </a:lnL>
                    <a:lnR w="6350">
                      <a:solidFill>
                        <a:srgbClr val="6E8D9A"/>
                      </a:solidFill>
                    </a:lnR>
                    <a:lnT w="6350">
                      <a:solidFill>
                        <a:srgbClr val="6E8D9A"/>
                      </a:solidFill>
                    </a:lnT>
                    <a:lnB w="6350">
                      <a:solidFill>
                        <a:srgbClr val="6E8D9A"/>
                      </a:solidFill>
                    </a:lnB>
                    <a:solidFill>
                      <a:srgbClr val="FFFFFF"/>
                    </a:solidFill>
                  </a:tcPr>
                </a:tc>
              </a:tr>
              <a:tr h="594360">
                <a:tc>
                  <a:txBody>
                    <a:bodyPr/>
                    <a:lstStyle/>
                    <a:p>
                      <a:pPr algn="l">
                        <a:defRPr sz="1800"/>
                      </a:pPr>
                      <a:r>
                        <a:rPr b="1" sz="1100">
                          <a:solidFill>
                            <a:srgbClr val="2F2F2F"/>
                          </a:solidFill>
                          <a:latin typeface="Outfit"/>
                          <a:ea typeface="Outfit"/>
                          <a:cs typeface="Outfit"/>
                          <a:sym typeface="Outfit"/>
                        </a:rPr>
                        <a:t>Portfolio</a:t>
                      </a:r>
                    </a:p>
                  </a:txBody>
                  <a:tcPr marL="45720" marR="45720" marT="45720" marB="45720" anchor="ctr" anchorCtr="0" horzOverflow="overflow">
                    <a:lnL w="6350">
                      <a:solidFill>
                        <a:srgbClr val="6E8D9A"/>
                      </a:solidFill>
                    </a:lnL>
                    <a:lnR w="6350">
                      <a:solidFill>
                        <a:srgbClr val="6E8D9A"/>
                      </a:solidFill>
                    </a:lnR>
                    <a:lnT w="6350">
                      <a:solidFill>
                        <a:srgbClr val="6E8D9A"/>
                      </a:solidFill>
                    </a:lnT>
                    <a:lnB w="6350">
                      <a:solidFill>
                        <a:srgbClr val="6E8D9A"/>
                      </a:solidFill>
                    </a:lnB>
                    <a:solidFill>
                      <a:srgbClr val="F0F4F5"/>
                    </a:solidFill>
                  </a:tcPr>
                </a:tc>
                <a:tc>
                  <a:txBody>
                    <a:bodyPr/>
                    <a:lstStyle/>
                    <a:p>
                      <a:pPr algn="ctr">
                        <a:defRPr sz="1800"/>
                      </a:pPr>
                      <a:r>
                        <a:rPr sz="1100">
                          <a:solidFill>
                            <a:srgbClr val="2F2F2F"/>
                          </a:solidFill>
                          <a:latin typeface="Outfit"/>
                          <a:ea typeface="Outfit"/>
                          <a:cs typeface="Outfit"/>
                          <a:sym typeface="Outfit"/>
                        </a:rPr>
                        <a:t>Missing artifacts</a:t>
                      </a:r>
                    </a:p>
                  </a:txBody>
                  <a:tcPr marL="45720" marR="45720" marT="45720" marB="45720" anchor="ctr" anchorCtr="0" horzOverflow="overflow">
                    <a:lnL w="6350">
                      <a:solidFill>
                        <a:srgbClr val="6E8D9A"/>
                      </a:solidFill>
                    </a:lnL>
                    <a:lnR w="6350">
                      <a:solidFill>
                        <a:srgbClr val="6E8D9A"/>
                      </a:solidFill>
                    </a:lnR>
                    <a:lnT w="6350">
                      <a:solidFill>
                        <a:srgbClr val="6E8D9A"/>
                      </a:solidFill>
                    </a:lnT>
                    <a:lnB w="6350">
                      <a:solidFill>
                        <a:srgbClr val="6E8D9A"/>
                      </a:solidFill>
                    </a:lnB>
                    <a:solidFill>
                      <a:srgbClr val="F0F4F5"/>
                    </a:solidFill>
                  </a:tcPr>
                </a:tc>
                <a:tc>
                  <a:txBody>
                    <a:bodyPr/>
                    <a:lstStyle/>
                    <a:p>
                      <a:pPr algn="ctr">
                        <a:defRPr sz="1800"/>
                      </a:pPr>
                      <a:r>
                        <a:rPr sz="1100">
                          <a:solidFill>
                            <a:srgbClr val="2F2F2F"/>
                          </a:solidFill>
                          <a:latin typeface="Outfit"/>
                          <a:ea typeface="Outfit"/>
                          <a:cs typeface="Outfit"/>
                          <a:sym typeface="Outfit"/>
                        </a:rPr>
                        <a:t>All items present</a:t>
                      </a:r>
                    </a:p>
                  </a:txBody>
                  <a:tcPr marL="45720" marR="45720" marT="45720" marB="45720" anchor="ctr" anchorCtr="0" horzOverflow="overflow">
                    <a:lnL w="6350">
                      <a:solidFill>
                        <a:srgbClr val="6E8D9A"/>
                      </a:solidFill>
                    </a:lnL>
                    <a:lnR w="6350">
                      <a:solidFill>
                        <a:srgbClr val="6E8D9A"/>
                      </a:solidFill>
                    </a:lnR>
                    <a:lnT w="6350">
                      <a:solidFill>
                        <a:srgbClr val="6E8D9A"/>
                      </a:solidFill>
                    </a:lnT>
                    <a:lnB w="6350">
                      <a:solidFill>
                        <a:srgbClr val="6E8D9A"/>
                      </a:solidFill>
                    </a:lnB>
                    <a:solidFill>
                      <a:srgbClr val="F0F4F5"/>
                    </a:solidFill>
                  </a:tcPr>
                </a:tc>
                <a:tc>
                  <a:txBody>
                    <a:bodyPr/>
                    <a:lstStyle/>
                    <a:p>
                      <a:pPr algn="ctr">
                        <a:defRPr sz="1800"/>
                      </a:pPr>
                      <a:r>
                        <a:rPr sz="1100">
                          <a:solidFill>
                            <a:srgbClr val="2F2F2F"/>
                          </a:solidFill>
                          <a:latin typeface="Outfit"/>
                          <a:ea typeface="Outfit"/>
                          <a:cs typeface="Outfit"/>
                          <a:sym typeface="Outfit"/>
                        </a:rPr>
                        <a:t>Curated w/ Making Of docs</a:t>
                      </a:r>
                    </a:p>
                  </a:txBody>
                  <a:tcPr marL="45720" marR="45720" marT="45720" marB="45720" anchor="ctr" anchorCtr="0" horzOverflow="overflow">
                    <a:lnL w="6350">
                      <a:solidFill>
                        <a:srgbClr val="6E8D9A"/>
                      </a:solidFill>
                    </a:lnL>
                    <a:lnR w="6350">
                      <a:solidFill>
                        <a:srgbClr val="6E8D9A"/>
                      </a:solidFill>
                    </a:lnR>
                    <a:lnT w="6350">
                      <a:solidFill>
                        <a:srgbClr val="6E8D9A"/>
                      </a:solidFill>
                    </a:lnT>
                    <a:lnB w="6350">
                      <a:solidFill>
                        <a:srgbClr val="6E8D9A"/>
                      </a:solidFill>
                    </a:lnB>
                    <a:solidFill>
                      <a:srgbClr val="F0F4F5"/>
                    </a:solidFill>
                  </a:tcPr>
                </a:tc>
              </a:tr>
              <a:tr h="594360">
                <a:tc>
                  <a:txBody>
                    <a:bodyPr/>
                    <a:lstStyle/>
                    <a:p>
                      <a:pPr algn="l">
                        <a:defRPr sz="1800"/>
                      </a:pPr>
                      <a:r>
                        <a:rPr b="1" sz="1100">
                          <a:solidFill>
                            <a:srgbClr val="2F2F2F"/>
                          </a:solidFill>
                          <a:latin typeface="Outfit"/>
                          <a:ea typeface="Outfit"/>
                          <a:cs typeface="Outfit"/>
                          <a:sym typeface="Outfit"/>
                        </a:rPr>
                        <a:t>Peer review</a:t>
                      </a:r>
                    </a:p>
                  </a:txBody>
                  <a:tcPr marL="45720" marR="45720" marT="45720" marB="45720" anchor="ctr" anchorCtr="0" horzOverflow="overflow">
                    <a:lnL w="6350">
                      <a:solidFill>
                        <a:srgbClr val="6E8D9A"/>
                      </a:solidFill>
                    </a:lnL>
                    <a:lnR w="6350">
                      <a:solidFill>
                        <a:srgbClr val="6E8D9A"/>
                      </a:solidFill>
                    </a:lnR>
                    <a:lnT w="6350">
                      <a:solidFill>
                        <a:srgbClr val="6E8D9A"/>
                      </a:solidFill>
                    </a:lnT>
                    <a:lnB w="6350">
                      <a:solidFill>
                        <a:srgbClr val="6E8D9A"/>
                      </a:solidFill>
                    </a:lnB>
                    <a:solidFill>
                      <a:srgbClr val="FFFFFF"/>
                    </a:solidFill>
                  </a:tcPr>
                </a:tc>
                <a:tc>
                  <a:txBody>
                    <a:bodyPr/>
                    <a:lstStyle/>
                    <a:p>
                      <a:pPr algn="ctr">
                        <a:defRPr sz="1800"/>
                      </a:pPr>
                      <a:r>
                        <a:rPr sz="1100">
                          <a:solidFill>
                            <a:srgbClr val="2F2F2F"/>
                          </a:solidFill>
                          <a:latin typeface="Outfit"/>
                          <a:ea typeface="Outfit"/>
                          <a:cs typeface="Outfit"/>
                          <a:sym typeface="Outfit"/>
                        </a:rPr>
                        <a:t>Surface-level</a:t>
                      </a:r>
                    </a:p>
                  </a:txBody>
                  <a:tcPr marL="45720" marR="45720" marT="45720" marB="45720" anchor="ctr" anchorCtr="0" horzOverflow="overflow">
                    <a:lnL w="6350">
                      <a:solidFill>
                        <a:srgbClr val="6E8D9A"/>
                      </a:solidFill>
                    </a:lnL>
                    <a:lnR w="6350">
                      <a:solidFill>
                        <a:srgbClr val="6E8D9A"/>
                      </a:solidFill>
                    </a:lnR>
                    <a:lnT w="6350">
                      <a:solidFill>
                        <a:srgbClr val="6E8D9A"/>
                      </a:solidFill>
                    </a:lnT>
                    <a:lnB w="6350">
                      <a:solidFill>
                        <a:srgbClr val="6E8D9A"/>
                      </a:solidFill>
                    </a:lnB>
                    <a:solidFill>
                      <a:srgbClr val="FFFFFF"/>
                    </a:solidFill>
                  </a:tcPr>
                </a:tc>
                <a:tc>
                  <a:txBody>
                    <a:bodyPr/>
                    <a:lstStyle/>
                    <a:p>
                      <a:pPr algn="ctr">
                        <a:defRPr sz="1800"/>
                      </a:pPr>
                      <a:r>
                        <a:rPr sz="1100">
                          <a:solidFill>
                            <a:srgbClr val="2F2F2F"/>
                          </a:solidFill>
                          <a:latin typeface="Outfit"/>
                          <a:ea typeface="Outfit"/>
                          <a:cs typeface="Outfit"/>
                          <a:sym typeface="Outfit"/>
                        </a:rPr>
                        <a:t>Uses rubric criteria</a:t>
                      </a:r>
                    </a:p>
                  </a:txBody>
                  <a:tcPr marL="45720" marR="45720" marT="45720" marB="45720" anchor="ctr" anchorCtr="0" horzOverflow="overflow">
                    <a:lnL w="6350">
                      <a:solidFill>
                        <a:srgbClr val="6E8D9A"/>
                      </a:solidFill>
                    </a:lnL>
                    <a:lnR w="6350">
                      <a:solidFill>
                        <a:srgbClr val="6E8D9A"/>
                      </a:solidFill>
                    </a:lnR>
                    <a:lnT w="6350">
                      <a:solidFill>
                        <a:srgbClr val="6E8D9A"/>
                      </a:solidFill>
                    </a:lnT>
                    <a:lnB w="6350">
                      <a:solidFill>
                        <a:srgbClr val="6E8D9A"/>
                      </a:solidFill>
                    </a:lnB>
                    <a:solidFill>
                      <a:srgbClr val="FFFFFF"/>
                    </a:solidFill>
                  </a:tcPr>
                </a:tc>
                <a:tc>
                  <a:txBody>
                    <a:bodyPr/>
                    <a:lstStyle/>
                    <a:p>
                      <a:pPr algn="ctr">
                        <a:defRPr sz="1800"/>
                      </a:pPr>
                      <a:r>
                        <a:rPr sz="1100">
                          <a:solidFill>
                            <a:srgbClr val="2F2F2F"/>
                          </a:solidFill>
                          <a:latin typeface="Outfit"/>
                          <a:ea typeface="Outfit"/>
                          <a:cs typeface="Outfit"/>
                          <a:sym typeface="Outfit"/>
                        </a:rPr>
                        <a:t>Actionable, specific feedback</a:t>
                      </a:r>
                    </a:p>
                  </a:txBody>
                  <a:tcPr marL="45720" marR="45720" marT="45720" marB="45720" anchor="ctr" anchorCtr="0" horzOverflow="overflow">
                    <a:lnL w="6350">
                      <a:solidFill>
                        <a:srgbClr val="6E8D9A"/>
                      </a:solidFill>
                    </a:lnL>
                    <a:lnR w="6350">
                      <a:solidFill>
                        <a:srgbClr val="6E8D9A"/>
                      </a:solidFill>
                    </a:lnR>
                    <a:lnT w="6350">
                      <a:solidFill>
                        <a:srgbClr val="6E8D9A"/>
                      </a:solidFill>
                    </a:lnT>
                    <a:lnB w="6350">
                      <a:solidFill>
                        <a:srgbClr val="6E8D9A"/>
                      </a:solidFill>
                    </a:lnB>
                    <a:solidFill>
                      <a:srgbClr val="FFFFFF"/>
                    </a:solidFill>
                  </a:tcPr>
                </a:tc>
              </a:tr>
              <a:tr h="594360">
                <a:tc>
                  <a:txBody>
                    <a:bodyPr/>
                    <a:lstStyle/>
                    <a:p>
                      <a:pPr algn="l">
                        <a:defRPr sz="1800"/>
                      </a:pPr>
                      <a:r>
                        <a:rPr b="1" sz="1100">
                          <a:solidFill>
                            <a:srgbClr val="2F2F2F"/>
                          </a:solidFill>
                          <a:latin typeface="Outfit"/>
                          <a:ea typeface="Outfit"/>
                          <a:cs typeface="Outfit"/>
                          <a:sym typeface="Outfit"/>
                        </a:rPr>
                        <a:t>Action plan</a:t>
                      </a:r>
                    </a:p>
                  </a:txBody>
                  <a:tcPr marL="45720" marR="45720" marT="45720" marB="45720" anchor="ctr" anchorCtr="0" horzOverflow="overflow">
                    <a:lnL w="6350">
                      <a:solidFill>
                        <a:srgbClr val="6E8D9A"/>
                      </a:solidFill>
                    </a:lnL>
                    <a:lnR w="6350">
                      <a:solidFill>
                        <a:srgbClr val="6E8D9A"/>
                      </a:solidFill>
                    </a:lnR>
                    <a:lnT w="6350">
                      <a:solidFill>
                        <a:srgbClr val="6E8D9A"/>
                      </a:solidFill>
                    </a:lnT>
                    <a:lnB w="6350">
                      <a:solidFill>
                        <a:srgbClr val="6E8D9A"/>
                      </a:solidFill>
                    </a:lnB>
                    <a:solidFill>
                      <a:srgbClr val="F0F4F5"/>
                    </a:solidFill>
                  </a:tcPr>
                </a:tc>
                <a:tc>
                  <a:txBody>
                    <a:bodyPr/>
                    <a:lstStyle/>
                    <a:p>
                      <a:pPr algn="ctr">
                        <a:defRPr sz="1800"/>
                      </a:pPr>
                      <a:r>
                        <a:rPr sz="1100">
                          <a:solidFill>
                            <a:srgbClr val="2F2F2F"/>
                          </a:solidFill>
                          <a:latin typeface="Outfit"/>
                          <a:ea typeface="Outfit"/>
                          <a:cs typeface="Outfit"/>
                          <a:sym typeface="Outfit"/>
                        </a:rPr>
                        <a:t>No commitments</a:t>
                      </a:r>
                    </a:p>
                  </a:txBody>
                  <a:tcPr marL="45720" marR="45720" marT="45720" marB="45720" anchor="ctr" anchorCtr="0" horzOverflow="overflow">
                    <a:lnL w="6350">
                      <a:solidFill>
                        <a:srgbClr val="6E8D9A"/>
                      </a:solidFill>
                    </a:lnL>
                    <a:lnR w="6350">
                      <a:solidFill>
                        <a:srgbClr val="6E8D9A"/>
                      </a:solidFill>
                    </a:lnR>
                    <a:lnT w="6350">
                      <a:solidFill>
                        <a:srgbClr val="6E8D9A"/>
                      </a:solidFill>
                    </a:lnT>
                    <a:lnB w="6350">
                      <a:solidFill>
                        <a:srgbClr val="6E8D9A"/>
                      </a:solidFill>
                    </a:lnB>
                    <a:solidFill>
                      <a:srgbClr val="F0F4F5"/>
                    </a:solidFill>
                  </a:tcPr>
                </a:tc>
                <a:tc>
                  <a:txBody>
                    <a:bodyPr/>
                    <a:lstStyle/>
                    <a:p>
                      <a:pPr algn="ctr">
                        <a:defRPr sz="1800"/>
                      </a:pPr>
                      <a:r>
                        <a:rPr sz="1100">
                          <a:solidFill>
                            <a:srgbClr val="2F2F2F"/>
                          </a:solidFill>
                          <a:latin typeface="Outfit"/>
                          <a:ea typeface="Outfit"/>
                          <a:cs typeface="Outfit"/>
                          <a:sym typeface="Outfit"/>
                        </a:rPr>
                        <a:t>General goals</a:t>
                      </a:r>
                    </a:p>
                  </a:txBody>
                  <a:tcPr marL="45720" marR="45720" marT="45720" marB="45720" anchor="ctr" anchorCtr="0" horzOverflow="overflow">
                    <a:lnL w="6350">
                      <a:solidFill>
                        <a:srgbClr val="6E8D9A"/>
                      </a:solidFill>
                    </a:lnL>
                    <a:lnR w="6350">
                      <a:solidFill>
                        <a:srgbClr val="6E8D9A"/>
                      </a:solidFill>
                    </a:lnR>
                    <a:lnT w="6350">
                      <a:solidFill>
                        <a:srgbClr val="6E8D9A"/>
                      </a:solidFill>
                    </a:lnT>
                    <a:lnB w="6350">
                      <a:solidFill>
                        <a:srgbClr val="6E8D9A"/>
                      </a:solidFill>
                    </a:lnB>
                    <a:solidFill>
                      <a:srgbClr val="F0F4F5"/>
                    </a:solidFill>
                  </a:tcPr>
                </a:tc>
                <a:tc>
                  <a:txBody>
                    <a:bodyPr/>
                    <a:lstStyle/>
                    <a:p>
                      <a:pPr algn="ctr">
                        <a:defRPr sz="1800"/>
                      </a:pPr>
                      <a:r>
                        <a:rPr sz="1100">
                          <a:solidFill>
                            <a:srgbClr val="2F2F2F"/>
                          </a:solidFill>
                          <a:latin typeface="Outfit"/>
                          <a:ea typeface="Outfit"/>
                          <a:cs typeface="Outfit"/>
                          <a:sym typeface="Outfit"/>
                        </a:rPr>
                        <a:t>Specific, time-bound actions</a:t>
                      </a:r>
                    </a:p>
                  </a:txBody>
                  <a:tcPr marL="45720" marR="45720" marT="45720" marB="45720" anchor="ctr" anchorCtr="0" horzOverflow="overflow">
                    <a:lnL w="6350">
                      <a:solidFill>
                        <a:srgbClr val="6E8D9A"/>
                      </a:solidFill>
                    </a:lnL>
                    <a:lnR w="6350">
                      <a:solidFill>
                        <a:srgbClr val="6E8D9A"/>
                      </a:solidFill>
                    </a:lnR>
                    <a:lnT w="6350">
                      <a:solidFill>
                        <a:srgbClr val="6E8D9A"/>
                      </a:solidFill>
                    </a:lnT>
                    <a:lnB w="6350">
                      <a:solidFill>
                        <a:srgbClr val="6E8D9A"/>
                      </a:solidFill>
                    </a:lnB>
                    <a:solidFill>
                      <a:srgbClr val="F0F4F5"/>
                    </a:solidFill>
                  </a:tcPr>
                </a:tc>
              </a:tr>
            </a:tbl>
          </a:graphicData>
        </a:graphic>
      </p:graphicFrame>
      <p:sp>
        <p:nvSpPr>
          <p:cNvPr id="94" name="Shape 2"/>
          <p:cNvSpPr/>
          <p:nvPr/>
        </p:nvSpPr>
        <p:spPr>
          <a:xfrm>
            <a:off x="0" y="4892040"/>
            <a:ext cx="9144000" cy="251460"/>
          </a:xfrm>
          <a:prstGeom prst="rect">
            <a:avLst/>
          </a:prstGeom>
          <a:solidFill>
            <a:srgbClr val="367875"/>
          </a:solidFill>
          <a:ln w="12700">
            <a:miter lim="400000"/>
          </a:ln>
        </p:spPr>
        <p:txBody>
          <a:bodyPr lIns="45719" rIns="45719"/>
          <a:lstStyle/>
          <a:p>
            <a:pPr/>
          </a:p>
        </p:txBody>
      </p:sp>
      <p:sp>
        <p:nvSpPr>
          <p:cNvPr id="95" name="Text 3"/>
          <p:cNvSpPr txBox="1"/>
          <p:nvPr/>
        </p:nvSpPr>
        <p:spPr>
          <a:xfrm>
            <a:off x="685800" y="4902199"/>
            <a:ext cx="5394960" cy="2311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900">
                <a:solidFill>
                  <a:srgbClr val="FFFFFF"/>
                </a:solidFill>
                <a:latin typeface="Outfit"/>
                <a:ea typeface="Outfit"/>
                <a:cs typeface="Outfit"/>
                <a:sym typeface="Outfit"/>
              </a:defRPr>
            </a:lvl1pPr>
          </a:lstStyle>
          <a:p>
            <a:pPr/>
            <a:r>
              <a:t>Session 4: “Ship It &amp; Own It”</a:t>
            </a:r>
          </a:p>
        </p:txBody>
      </p:sp>
      <p:sp>
        <p:nvSpPr>
          <p:cNvPr id="96" name="Text 4"/>
          <p:cNvSpPr txBox="1"/>
          <p:nvPr/>
        </p:nvSpPr>
        <p:spPr>
          <a:xfrm>
            <a:off x="7360919" y="4902199"/>
            <a:ext cx="1280161" cy="2311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r">
              <a:defRPr b="1" sz="900">
                <a:solidFill>
                  <a:srgbClr val="FFFFFF"/>
                </a:solidFill>
                <a:latin typeface="Outfit"/>
                <a:ea typeface="Outfit"/>
                <a:cs typeface="Outfit"/>
                <a:sym typeface="Outfit"/>
              </a:defRPr>
            </a:lvl1pPr>
          </a:lstStyle>
          <a:p>
            <a:pPr/>
            <a:r>
              <a:t>ALC</a:t>
            </a:r>
          </a:p>
        </p:txBody>
      </p:sp>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243554"/>
        </a:solidFill>
      </p:bgPr>
    </p:bg>
    <p:spTree>
      <p:nvGrpSpPr>
        <p:cNvPr id="1" name=""/>
        <p:cNvGrpSpPr/>
        <p:nvPr/>
      </p:nvGrpSpPr>
      <p:grpSpPr>
        <a:xfrm>
          <a:off x="0" y="0"/>
          <a:ext cx="0" cy="0"/>
          <a:chOff x="0" y="0"/>
          <a:chExt cx="0" cy="0"/>
        </a:xfrm>
      </p:grpSpPr>
      <p:sp>
        <p:nvSpPr>
          <p:cNvPr id="98" name="Text 1"/>
          <p:cNvSpPr txBox="1"/>
          <p:nvPr/>
        </p:nvSpPr>
        <p:spPr>
          <a:xfrm>
            <a:off x="960119" y="1912620"/>
            <a:ext cx="7223761" cy="10058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6000">
                <a:solidFill>
                  <a:srgbClr val="FFFFFF"/>
                </a:solidFill>
                <a:latin typeface="Outfit"/>
                <a:ea typeface="Outfit"/>
                <a:cs typeface="Outfit"/>
                <a:sym typeface="Outfit"/>
              </a:defRPr>
            </a:lvl1pPr>
          </a:lstStyle>
          <a:p>
            <a:pPr/>
            <a:r>
              <a:t>THANK YOU</a:t>
            </a:r>
          </a:p>
        </p:txBody>
      </p:sp>
      <p:sp>
        <p:nvSpPr>
          <p:cNvPr id="99" name="Text 2"/>
          <p:cNvSpPr txBox="1"/>
          <p:nvPr/>
        </p:nvSpPr>
        <p:spPr>
          <a:xfrm>
            <a:off x="1038279" y="3022183"/>
            <a:ext cx="7223761" cy="3073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z="1400">
                <a:solidFill>
                  <a:srgbClr val="6E8D9A"/>
                </a:solidFill>
                <a:latin typeface="Outfit"/>
                <a:ea typeface="Outfit"/>
                <a:cs typeface="Outfit"/>
                <a:sym typeface="Outfit"/>
              </a:defRPr>
            </a:lvl1pPr>
          </a:lstStyle>
          <a:p>
            <a:pPr/>
            <a:r>
              <a:t>Bootcamp Complete — Build Your Future with AI</a:t>
            </a:r>
          </a:p>
        </p:txBody>
      </p:sp>
      <p:sp>
        <p:nvSpPr>
          <p:cNvPr id="100" name="Shape 3"/>
          <p:cNvSpPr/>
          <p:nvPr/>
        </p:nvSpPr>
        <p:spPr>
          <a:xfrm>
            <a:off x="-38150" y="3859113"/>
            <a:ext cx="9182150" cy="128438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21439" y="16394"/>
                </a:lnTo>
                <a:lnTo>
                  <a:pt x="21600" y="21600"/>
                </a:lnTo>
                <a:lnTo>
                  <a:pt x="90" y="21600"/>
                </a:lnTo>
                <a:lnTo>
                  <a:pt x="0" y="0"/>
                </a:lnTo>
                <a:close/>
              </a:path>
            </a:pathLst>
          </a:custGeom>
          <a:solidFill>
            <a:srgbClr val="367875"/>
          </a:solidFill>
          <a:ln w="12700">
            <a:miter lim="400000"/>
          </a:ln>
        </p:spPr>
        <p:txBody>
          <a:bodyPr lIns="45719" rIns="45719"/>
          <a:lstStyle/>
          <a:p>
            <a:pPr/>
          </a:p>
        </p:txBody>
      </p:sp>
      <p:sp>
        <p:nvSpPr>
          <p:cNvPr id="101" name="Text 4"/>
          <p:cNvSpPr txBox="1"/>
          <p:nvPr/>
        </p:nvSpPr>
        <p:spPr>
          <a:xfrm>
            <a:off x="685800" y="4850129"/>
            <a:ext cx="7223760" cy="2438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lstStyle>
            <a:lvl1pPr algn="ctr">
              <a:defRPr b="1" spc="300" sz="1000">
                <a:solidFill>
                  <a:srgbClr val="FFFFFF"/>
                </a:solidFill>
                <a:latin typeface="Outfit"/>
                <a:ea typeface="Outfit"/>
                <a:cs typeface="Outfit"/>
                <a:sym typeface="Outfit"/>
              </a:defRPr>
            </a:lvl1pPr>
          </a:lstStyle>
          <a:p>
            <a:pPr/>
            <a:r>
              <a:t>AMERICAN LANGUAGE CENTERS</a:t>
            </a:r>
          </a:p>
        </p:txBody>
      </p:sp>
      <p:pic>
        <p:nvPicPr>
          <p:cNvPr id="102" name="ALC logo.png" descr="ALC logo.png"/>
          <p:cNvPicPr>
            <a:picLocks noChangeAspect="1"/>
          </p:cNvPicPr>
          <p:nvPr/>
        </p:nvPicPr>
        <p:blipFill>
          <a:blip r:embed="rId2">
            <a:alphaModFix amt="23325"/>
            <a:extLst/>
          </a:blip>
          <a:stretch>
            <a:fillRect/>
          </a:stretch>
        </p:blipFill>
        <p:spPr>
          <a:xfrm>
            <a:off x="2615285" y="-116359"/>
            <a:ext cx="3913430" cy="2608953"/>
          </a:xfrm>
          <a:prstGeom prst="rect">
            <a:avLst/>
          </a:prstGeom>
          <a:ln w="12700">
            <a:miter lim="400000"/>
          </a:ln>
        </p:spPr>
      </p:pic>
      <p:sp>
        <p:nvSpPr>
          <p:cNvPr id="103" name="Shape 3"/>
          <p:cNvSpPr/>
          <p:nvPr/>
        </p:nvSpPr>
        <p:spPr>
          <a:xfrm flipH="1">
            <a:off x="137244" y="3859113"/>
            <a:ext cx="9025831" cy="154677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cubicBezTo>
                  <a:pt x="3516" y="3918"/>
                  <a:pt x="7044" y="7467"/>
                  <a:pt x="10583" y="10644"/>
                </a:cubicBezTo>
                <a:cubicBezTo>
                  <a:pt x="14217" y="13907"/>
                  <a:pt x="17862" y="16778"/>
                  <a:pt x="21515" y="19255"/>
                </a:cubicBezTo>
                <a:lnTo>
                  <a:pt x="21600" y="21600"/>
                </a:lnTo>
                <a:lnTo>
                  <a:pt x="91" y="17936"/>
                </a:lnTo>
                <a:lnTo>
                  <a:pt x="0" y="0"/>
                </a:lnTo>
                <a:close/>
              </a:path>
            </a:pathLst>
          </a:custGeom>
          <a:solidFill>
            <a:srgbClr val="852B2F"/>
          </a:solidFill>
          <a:ln w="12700">
            <a:miter lim="400000"/>
          </a:ln>
        </p:spPr>
        <p:txBody>
          <a:bodyPr lIns="45719" rIns="45719"/>
          <a:lstStyle/>
          <a:p>
            <a:pPr/>
          </a:p>
        </p:txBody>
      </p:sp>
    </p:spTree>
  </p:cSld>
  <p:clrMapOvr>
    <a:masterClrMapping/>
  </p:clrMapOvr>
  <p:transition xmlns:p14="http://schemas.microsoft.com/office/powerpoint/2010/main" spd="med" advClick="1"/>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67" name="Shape 0"/>
          <p:cNvSpPr/>
          <p:nvPr/>
        </p:nvSpPr>
        <p:spPr>
          <a:xfrm>
            <a:off x="0" y="-1"/>
            <a:ext cx="9144000" cy="822962"/>
          </a:xfrm>
          <a:prstGeom prst="rect">
            <a:avLst/>
          </a:prstGeom>
          <a:solidFill>
            <a:srgbClr val="243554"/>
          </a:solidFill>
          <a:ln w="12700">
            <a:miter lim="400000"/>
          </a:ln>
        </p:spPr>
        <p:txBody>
          <a:bodyPr lIns="45719" rIns="45719"/>
          <a:lstStyle/>
          <a:p>
            <a:pPr/>
          </a:p>
        </p:txBody>
      </p:sp>
      <p:sp>
        <p:nvSpPr>
          <p:cNvPr id="68" name="Text 1"/>
          <p:cNvSpPr txBox="1"/>
          <p:nvPr/>
        </p:nvSpPr>
        <p:spPr>
          <a:xfrm>
            <a:off x="685800" y="226060"/>
            <a:ext cx="3566160" cy="3708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200">
                <a:solidFill>
                  <a:srgbClr val="FFFFFF"/>
                </a:solidFill>
                <a:latin typeface="Outfit"/>
                <a:ea typeface="Outfit"/>
                <a:cs typeface="Outfit"/>
                <a:sym typeface="Outfit"/>
              </a:defRPr>
            </a:lvl1pPr>
          </a:lstStyle>
          <a:p>
            <a:pPr/>
            <a:r>
              <a:t>ACTIVITY</a:t>
            </a:r>
          </a:p>
        </p:txBody>
      </p:sp>
      <p:sp>
        <p:nvSpPr>
          <p:cNvPr id="69" name="Text 2"/>
          <p:cNvSpPr txBox="1"/>
          <p:nvPr/>
        </p:nvSpPr>
        <p:spPr>
          <a:xfrm>
            <a:off x="4617720" y="264160"/>
            <a:ext cx="4023360" cy="294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r">
              <a:defRPr sz="1300">
                <a:solidFill>
                  <a:srgbClr val="6E8D9A"/>
                </a:solidFill>
                <a:latin typeface="Outfit"/>
                <a:ea typeface="Outfit"/>
                <a:cs typeface="Outfit"/>
                <a:sym typeface="Outfit"/>
              </a:defRPr>
            </a:lvl1pPr>
          </a:lstStyle>
          <a:p>
            <a:pPr/>
            <a:r>
              <a:t>Pairs, structured rubric  •  30 min</a:t>
            </a:r>
          </a:p>
        </p:txBody>
      </p:sp>
      <p:sp>
        <p:nvSpPr>
          <p:cNvPr id="70" name="Shape 3"/>
          <p:cNvSpPr/>
          <p:nvPr/>
        </p:nvSpPr>
        <p:spPr>
          <a:xfrm>
            <a:off x="640079" y="1097280"/>
            <a:ext cx="7863842" cy="1005840"/>
          </a:xfrm>
          <a:prstGeom prst="rect">
            <a:avLst/>
          </a:prstGeom>
          <a:solidFill>
            <a:srgbClr val="243554"/>
          </a:solidFill>
          <a:ln w="12700">
            <a:miter lim="400000"/>
          </a:ln>
        </p:spPr>
        <p:txBody>
          <a:bodyPr lIns="45719" rIns="45719"/>
          <a:lstStyle/>
          <a:p>
            <a:pPr/>
          </a:p>
        </p:txBody>
      </p:sp>
      <p:sp>
        <p:nvSpPr>
          <p:cNvPr id="71" name="Text 4"/>
          <p:cNvSpPr txBox="1"/>
          <p:nvPr/>
        </p:nvSpPr>
        <p:spPr>
          <a:xfrm>
            <a:off x="960119" y="1160779"/>
            <a:ext cx="7223761" cy="421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2200">
                <a:solidFill>
                  <a:srgbClr val="FFFFFF"/>
                </a:solidFill>
                <a:latin typeface="Outfit"/>
                <a:ea typeface="Outfit"/>
                <a:cs typeface="Outfit"/>
                <a:sym typeface="Outfit"/>
              </a:defRPr>
            </a:lvl1pPr>
          </a:lstStyle>
          <a:p>
            <a:pPr/>
            <a:r>
              <a:t>Structured Peer Review</a:t>
            </a:r>
          </a:p>
        </p:txBody>
      </p:sp>
      <p:sp>
        <p:nvSpPr>
          <p:cNvPr id="72" name="Text 5"/>
          <p:cNvSpPr txBox="1"/>
          <p:nvPr/>
        </p:nvSpPr>
        <p:spPr>
          <a:xfrm>
            <a:off x="960119" y="1658619"/>
            <a:ext cx="7223761" cy="294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300">
                <a:solidFill>
                  <a:srgbClr val="6E8D9A"/>
                </a:solidFill>
                <a:latin typeface="Outfit"/>
                <a:ea typeface="Outfit"/>
                <a:cs typeface="Outfit"/>
                <a:sym typeface="Outfit"/>
              </a:defRPr>
            </a:lvl1pPr>
          </a:lstStyle>
          <a:p>
            <a:pPr/>
            <a:r>
              <a:t>Swap projects with another team. Use the structured rubric (projected and printed): Does the project solve a real...</a:t>
            </a:r>
          </a:p>
        </p:txBody>
      </p:sp>
      <p:sp>
        <p:nvSpPr>
          <p:cNvPr id="73" name="Shape 6"/>
          <p:cNvSpPr/>
          <p:nvPr/>
        </p:nvSpPr>
        <p:spPr>
          <a:xfrm>
            <a:off x="640080" y="2423160"/>
            <a:ext cx="292609" cy="292609"/>
          </a:xfrm>
          <a:prstGeom prst="ellipse">
            <a:avLst/>
          </a:prstGeom>
          <a:solidFill>
            <a:srgbClr val="367875"/>
          </a:solidFill>
          <a:ln w="12700">
            <a:miter lim="400000"/>
          </a:ln>
        </p:spPr>
        <p:txBody>
          <a:bodyPr lIns="45719" rIns="45719"/>
          <a:lstStyle/>
          <a:p>
            <a:pPr/>
          </a:p>
        </p:txBody>
      </p:sp>
      <p:sp>
        <p:nvSpPr>
          <p:cNvPr id="74" name="Text 7"/>
          <p:cNvSpPr txBox="1"/>
          <p:nvPr/>
        </p:nvSpPr>
        <p:spPr>
          <a:xfrm>
            <a:off x="685800" y="2441194"/>
            <a:ext cx="201169" cy="2565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100">
                <a:solidFill>
                  <a:srgbClr val="FFFFFF"/>
                </a:solidFill>
                <a:latin typeface="Outfit"/>
                <a:ea typeface="Outfit"/>
                <a:cs typeface="Outfit"/>
                <a:sym typeface="Outfit"/>
              </a:defRPr>
            </a:lvl1pPr>
          </a:lstStyle>
          <a:p>
            <a:pPr/>
            <a:r>
              <a:t>1</a:t>
            </a:r>
          </a:p>
        </p:txBody>
      </p:sp>
      <p:sp>
        <p:nvSpPr>
          <p:cNvPr id="75" name="Text 8"/>
          <p:cNvSpPr txBox="1"/>
          <p:nvPr/>
        </p:nvSpPr>
        <p:spPr>
          <a:xfrm>
            <a:off x="1143000" y="2449575"/>
            <a:ext cx="7223760" cy="294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300">
                <a:solidFill>
                  <a:srgbClr val="2F2F2F"/>
                </a:solidFill>
                <a:latin typeface="Outfit"/>
                <a:ea typeface="Outfit"/>
                <a:cs typeface="Outfit"/>
                <a:sym typeface="Outfit"/>
              </a:defRPr>
            </a:lvl1pPr>
          </a:lstStyle>
          <a:p>
            <a:pPr/>
            <a:r>
              <a:t>Swap projects with another team.</a:t>
            </a:r>
          </a:p>
        </p:txBody>
      </p:sp>
      <p:sp>
        <p:nvSpPr>
          <p:cNvPr id="76" name="Shape 9"/>
          <p:cNvSpPr/>
          <p:nvPr/>
        </p:nvSpPr>
        <p:spPr>
          <a:xfrm>
            <a:off x="640080" y="2898648"/>
            <a:ext cx="292609" cy="292609"/>
          </a:xfrm>
          <a:prstGeom prst="ellipse">
            <a:avLst/>
          </a:prstGeom>
          <a:solidFill>
            <a:srgbClr val="367875"/>
          </a:solidFill>
          <a:ln w="12700">
            <a:miter lim="400000"/>
          </a:ln>
        </p:spPr>
        <p:txBody>
          <a:bodyPr lIns="45719" rIns="45719"/>
          <a:lstStyle/>
          <a:p>
            <a:pPr/>
          </a:p>
        </p:txBody>
      </p:sp>
      <p:sp>
        <p:nvSpPr>
          <p:cNvPr id="77" name="Text 10"/>
          <p:cNvSpPr txBox="1"/>
          <p:nvPr/>
        </p:nvSpPr>
        <p:spPr>
          <a:xfrm>
            <a:off x="685800" y="2916682"/>
            <a:ext cx="201169" cy="2565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100">
                <a:solidFill>
                  <a:srgbClr val="FFFFFF"/>
                </a:solidFill>
                <a:latin typeface="Outfit"/>
                <a:ea typeface="Outfit"/>
                <a:cs typeface="Outfit"/>
                <a:sym typeface="Outfit"/>
              </a:defRPr>
            </a:lvl1pPr>
          </a:lstStyle>
          <a:p>
            <a:pPr/>
            <a:r>
              <a:t>2</a:t>
            </a:r>
          </a:p>
        </p:txBody>
      </p:sp>
      <p:sp>
        <p:nvSpPr>
          <p:cNvPr id="78" name="Text 11"/>
          <p:cNvSpPr txBox="1"/>
          <p:nvPr/>
        </p:nvSpPr>
        <p:spPr>
          <a:xfrm>
            <a:off x="1143000" y="2925063"/>
            <a:ext cx="7223760" cy="294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300">
                <a:solidFill>
                  <a:srgbClr val="2F2F2F"/>
                </a:solidFill>
                <a:latin typeface="Outfit"/>
                <a:ea typeface="Outfit"/>
                <a:cs typeface="Outfit"/>
                <a:sym typeface="Outfit"/>
              </a:defRPr>
            </a:lvl1pPr>
          </a:lstStyle>
          <a:p>
            <a:pPr/>
            <a:r>
              <a:t>Use the structured rubric (projected and printed): Does the project solve a real problem? (1–5).</a:t>
            </a:r>
          </a:p>
        </p:txBody>
      </p:sp>
      <p:sp>
        <p:nvSpPr>
          <p:cNvPr id="79" name="Shape 12"/>
          <p:cNvSpPr/>
          <p:nvPr/>
        </p:nvSpPr>
        <p:spPr>
          <a:xfrm>
            <a:off x="640080" y="3374135"/>
            <a:ext cx="292609" cy="292609"/>
          </a:xfrm>
          <a:prstGeom prst="ellipse">
            <a:avLst/>
          </a:prstGeom>
          <a:solidFill>
            <a:srgbClr val="367875"/>
          </a:solidFill>
          <a:ln w="12700">
            <a:miter lim="400000"/>
          </a:ln>
        </p:spPr>
        <p:txBody>
          <a:bodyPr lIns="45719" rIns="45719"/>
          <a:lstStyle/>
          <a:p>
            <a:pPr/>
          </a:p>
        </p:txBody>
      </p:sp>
      <p:sp>
        <p:nvSpPr>
          <p:cNvPr id="80" name="Text 13"/>
          <p:cNvSpPr txBox="1"/>
          <p:nvPr/>
        </p:nvSpPr>
        <p:spPr>
          <a:xfrm>
            <a:off x="685800" y="3392169"/>
            <a:ext cx="201169" cy="2565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100">
                <a:solidFill>
                  <a:srgbClr val="FFFFFF"/>
                </a:solidFill>
                <a:latin typeface="Outfit"/>
                <a:ea typeface="Outfit"/>
                <a:cs typeface="Outfit"/>
                <a:sym typeface="Outfit"/>
              </a:defRPr>
            </a:lvl1pPr>
          </a:lstStyle>
          <a:p>
            <a:pPr/>
            <a:r>
              <a:t>3</a:t>
            </a:r>
          </a:p>
        </p:txBody>
      </p:sp>
      <p:sp>
        <p:nvSpPr>
          <p:cNvPr id="81" name="Text 14"/>
          <p:cNvSpPr txBox="1"/>
          <p:nvPr/>
        </p:nvSpPr>
        <p:spPr>
          <a:xfrm>
            <a:off x="1143000" y="3400551"/>
            <a:ext cx="7223760" cy="294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300">
                <a:solidFill>
                  <a:srgbClr val="2F2F2F"/>
                </a:solidFill>
                <a:latin typeface="Outfit"/>
                <a:ea typeface="Outfit"/>
                <a:cs typeface="Outfit"/>
                <a:sym typeface="Outfit"/>
              </a:defRPr>
            </a:lvl1pPr>
          </a:lstStyle>
          <a:p>
            <a:pPr/>
            <a:r>
              <a:t>Is AI usage transparent and intentional? (1–5).</a:t>
            </a:r>
          </a:p>
        </p:txBody>
      </p:sp>
      <p:sp>
        <p:nvSpPr>
          <p:cNvPr id="82" name="Shape 15"/>
          <p:cNvSpPr/>
          <p:nvPr/>
        </p:nvSpPr>
        <p:spPr>
          <a:xfrm>
            <a:off x="640080" y="3849623"/>
            <a:ext cx="292609" cy="292609"/>
          </a:xfrm>
          <a:prstGeom prst="ellipse">
            <a:avLst/>
          </a:prstGeom>
          <a:solidFill>
            <a:srgbClr val="367875"/>
          </a:solidFill>
          <a:ln w="12700">
            <a:miter lim="400000"/>
          </a:ln>
        </p:spPr>
        <p:txBody>
          <a:bodyPr lIns="45719" rIns="45719"/>
          <a:lstStyle/>
          <a:p>
            <a:pPr/>
          </a:p>
        </p:txBody>
      </p:sp>
      <p:sp>
        <p:nvSpPr>
          <p:cNvPr id="83" name="Text 16"/>
          <p:cNvSpPr txBox="1"/>
          <p:nvPr/>
        </p:nvSpPr>
        <p:spPr>
          <a:xfrm>
            <a:off x="685800" y="3867657"/>
            <a:ext cx="201169" cy="2565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100">
                <a:solidFill>
                  <a:srgbClr val="FFFFFF"/>
                </a:solidFill>
                <a:latin typeface="Outfit"/>
                <a:ea typeface="Outfit"/>
                <a:cs typeface="Outfit"/>
                <a:sym typeface="Outfit"/>
              </a:defRPr>
            </a:lvl1pPr>
          </a:lstStyle>
          <a:p>
            <a:pPr/>
            <a:r>
              <a:t>4</a:t>
            </a:r>
          </a:p>
        </p:txBody>
      </p:sp>
      <p:sp>
        <p:nvSpPr>
          <p:cNvPr id="84" name="Text 17"/>
          <p:cNvSpPr txBox="1"/>
          <p:nvPr/>
        </p:nvSpPr>
        <p:spPr>
          <a:xfrm>
            <a:off x="1143000" y="3876039"/>
            <a:ext cx="7223760" cy="294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300">
                <a:solidFill>
                  <a:srgbClr val="2F2F2F"/>
                </a:solidFill>
                <a:latin typeface="Outfit"/>
                <a:ea typeface="Outfit"/>
                <a:cs typeface="Outfit"/>
                <a:sym typeface="Outfit"/>
              </a:defRPr>
            </a:lvl1pPr>
          </a:lstStyle>
          <a:p>
            <a:pPr/>
            <a:r>
              <a:t/>
            </a:r>
          </a:p>
        </p:txBody>
      </p:sp>
      <p:sp>
        <p:nvSpPr>
          <p:cNvPr id="85" name="Shape 18"/>
          <p:cNvSpPr/>
          <p:nvPr/>
        </p:nvSpPr>
        <p:spPr>
          <a:xfrm>
            <a:off x="640079" y="4434840"/>
            <a:ext cx="7863842" cy="365761"/>
          </a:xfrm>
          <a:prstGeom prst="rect">
            <a:avLst/>
          </a:prstGeom>
          <a:solidFill>
            <a:srgbClr val="F0F4F5"/>
          </a:solidFill>
          <a:ln w="12700">
            <a:miter lim="400000"/>
          </a:ln>
        </p:spPr>
        <p:txBody>
          <a:bodyPr lIns="45719" rIns="45719"/>
          <a:lstStyle/>
          <a:p>
            <a:r>
              <a:t>💡 Teacher tip: Review partner’s project + fill rubric = 12 min. Receive review of your own project = (simultaneous). Face-to-face discussion of feedback = 10 min. No</a:t>
            </a:r>
          </a:p>
        </p:txBody>
      </p:sp>
      <p:sp>
        <p:nvSpPr>
          <p:cNvPr id="86" name="Text 19"/>
          <p:cNvSpPr txBox="1"/>
          <p:nvPr/>
        </p:nvSpPr>
        <p:spPr>
          <a:xfrm>
            <a:off x="960119" y="4464050"/>
            <a:ext cx="7223761" cy="3073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i="1" sz="1000">
                <a:solidFill>
                  <a:srgbClr val="6E8D9A"/>
                </a:solidFill>
                <a:latin typeface="Outfit"/>
                <a:ea typeface="Outfit"/>
                <a:cs typeface="Outfit"/>
                <a:sym typeface="Outfit"/>
              </a:defRPr>
            </a:lvl1pPr>
          </a:lstStyle>
          <a:p>
            <a:pPr/>
            <a:r>
              <a:t>💡 Teacher tip: Review partner’s project + fill rubric = 12 min. Receive review of your own project = (simultaneous). Face-to-face discussion of feedback = 10 min. No</a:t>
            </a:r>
          </a:p>
        </p:txBody>
      </p:sp>
      <p:sp>
        <p:nvSpPr>
          <p:cNvPr id="87" name="Shape 20"/>
          <p:cNvSpPr/>
          <p:nvPr/>
        </p:nvSpPr>
        <p:spPr>
          <a:xfrm>
            <a:off x="0" y="4892040"/>
            <a:ext cx="9144000" cy="251460"/>
          </a:xfrm>
          <a:prstGeom prst="rect">
            <a:avLst/>
          </a:prstGeom>
          <a:solidFill>
            <a:srgbClr val="367875"/>
          </a:solidFill>
          <a:ln w="12700">
            <a:miter lim="400000"/>
          </a:ln>
        </p:spPr>
        <p:txBody>
          <a:bodyPr lIns="45719" rIns="45719"/>
          <a:lstStyle/>
          <a:p>
            <a:r>
              <a:t>Session 4: “Ship It &amp; Own It”</a:t>
            </a:r>
          </a:p>
        </p:txBody>
      </p:sp>
      <p:sp>
        <p:nvSpPr>
          <p:cNvPr id="88" name="Text 21"/>
          <p:cNvSpPr txBox="1"/>
          <p:nvPr/>
        </p:nvSpPr>
        <p:spPr>
          <a:xfrm>
            <a:off x="685800" y="4902199"/>
            <a:ext cx="5394960" cy="2311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900">
                <a:solidFill>
                  <a:srgbClr val="FFFFFF"/>
                </a:solidFill>
                <a:latin typeface="Outfit"/>
                <a:ea typeface="Outfit"/>
                <a:cs typeface="Outfit"/>
                <a:sym typeface="Outfit"/>
              </a:defRPr>
            </a:lvl1pPr>
          </a:lstStyle>
          <a:p>
            <a:pPr/>
            <a:r>
              <a:t>Session 4: “Ship It &amp; Own It”</a:t>
            </a:r>
          </a:p>
        </p:txBody>
      </p:sp>
      <p:sp>
        <p:nvSpPr>
          <p:cNvPr id="89" name="Text 22"/>
          <p:cNvSpPr txBox="1"/>
          <p:nvPr/>
        </p:nvSpPr>
        <p:spPr>
          <a:xfrm>
            <a:off x="7360919" y="4902199"/>
            <a:ext cx="1280161" cy="2311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r">
              <a:defRPr b="1" sz="900">
                <a:solidFill>
                  <a:srgbClr val="FFFFFF"/>
                </a:solidFill>
                <a:latin typeface="Outfit"/>
                <a:ea typeface="Outfit"/>
                <a:cs typeface="Outfit"/>
                <a:sym typeface="Outfit"/>
              </a:defRPr>
            </a:lvl1pPr>
          </a:lstStyle>
          <a:p>
            <a:pPr/>
            <a:r>
              <a:t>ALC</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67" name="Shape 0"/>
          <p:cNvSpPr/>
          <p:nvPr/>
        </p:nvSpPr>
        <p:spPr>
          <a:xfrm>
            <a:off x="0" y="-1"/>
            <a:ext cx="9144000" cy="822962"/>
          </a:xfrm>
          <a:prstGeom prst="rect">
            <a:avLst/>
          </a:prstGeom>
          <a:solidFill>
            <a:srgbClr val="243554"/>
          </a:solidFill>
          <a:ln w="12700">
            <a:miter lim="400000"/>
          </a:ln>
        </p:spPr>
        <p:txBody>
          <a:bodyPr lIns="45719" rIns="45719"/>
          <a:lstStyle/>
          <a:p>
            <a:pPr/>
          </a:p>
        </p:txBody>
      </p:sp>
      <p:sp>
        <p:nvSpPr>
          <p:cNvPr id="68" name="Text 1"/>
          <p:cNvSpPr txBox="1"/>
          <p:nvPr/>
        </p:nvSpPr>
        <p:spPr>
          <a:xfrm>
            <a:off x="685800" y="226060"/>
            <a:ext cx="3566160" cy="3708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200">
                <a:solidFill>
                  <a:srgbClr val="FFFFFF"/>
                </a:solidFill>
                <a:latin typeface="Outfit"/>
                <a:ea typeface="Outfit"/>
                <a:cs typeface="Outfit"/>
                <a:sym typeface="Outfit"/>
              </a:defRPr>
            </a:lvl1pPr>
          </a:lstStyle>
          <a:p>
            <a:pPr/>
            <a:r>
              <a:t>ACTIVITY</a:t>
            </a:r>
          </a:p>
        </p:txBody>
      </p:sp>
      <p:sp>
        <p:nvSpPr>
          <p:cNvPr id="69" name="Text 2"/>
          <p:cNvSpPr txBox="1"/>
          <p:nvPr/>
        </p:nvSpPr>
        <p:spPr>
          <a:xfrm>
            <a:off x="4617720" y="264160"/>
            <a:ext cx="4023360" cy="294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r">
              <a:defRPr sz="1300">
                <a:solidFill>
                  <a:srgbClr val="6E8D9A"/>
                </a:solidFill>
                <a:latin typeface="Outfit"/>
                <a:ea typeface="Outfit"/>
                <a:cs typeface="Outfit"/>
                <a:sym typeface="Outfit"/>
              </a:defRPr>
            </a:lvl1pPr>
          </a:lstStyle>
          <a:p>
            <a:pPr/>
            <a:r>
              <a:t>Individual/teams, focused work  •  45 min</a:t>
            </a:r>
          </a:p>
        </p:txBody>
      </p:sp>
      <p:sp>
        <p:nvSpPr>
          <p:cNvPr id="70" name="Shape 3"/>
          <p:cNvSpPr/>
          <p:nvPr/>
        </p:nvSpPr>
        <p:spPr>
          <a:xfrm>
            <a:off x="640079" y="1097280"/>
            <a:ext cx="7863842" cy="1005840"/>
          </a:xfrm>
          <a:prstGeom prst="rect">
            <a:avLst/>
          </a:prstGeom>
          <a:solidFill>
            <a:srgbClr val="243554"/>
          </a:solidFill>
          <a:ln w="12700">
            <a:miter lim="400000"/>
          </a:ln>
        </p:spPr>
        <p:txBody>
          <a:bodyPr lIns="45719" rIns="45719"/>
          <a:lstStyle/>
          <a:p>
            <a:pPr/>
          </a:p>
        </p:txBody>
      </p:sp>
      <p:sp>
        <p:nvSpPr>
          <p:cNvPr id="71" name="Text 4"/>
          <p:cNvSpPr txBox="1"/>
          <p:nvPr/>
        </p:nvSpPr>
        <p:spPr>
          <a:xfrm>
            <a:off x="960119" y="1160779"/>
            <a:ext cx="7223761" cy="421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2200">
                <a:solidFill>
                  <a:srgbClr val="FFFFFF"/>
                </a:solidFill>
                <a:latin typeface="Outfit"/>
                <a:ea typeface="Outfit"/>
                <a:cs typeface="Outfit"/>
                <a:sym typeface="Outfit"/>
              </a:defRPr>
            </a:lvl1pPr>
          </a:lstStyle>
          <a:p>
            <a:pPr/>
            <a:r>
              <a:t>Final Polish</a:t>
            </a:r>
          </a:p>
        </p:txBody>
      </p:sp>
      <p:sp>
        <p:nvSpPr>
          <p:cNvPr id="72" name="Text 5"/>
          <p:cNvSpPr txBox="1"/>
          <p:nvPr/>
        </p:nvSpPr>
        <p:spPr>
          <a:xfrm>
            <a:off x="960119" y="1658619"/>
            <a:ext cx="7223761" cy="294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300">
                <a:solidFill>
                  <a:srgbClr val="6E8D9A"/>
                </a:solidFill>
                <a:latin typeface="Outfit"/>
                <a:ea typeface="Outfit"/>
                <a:cs typeface="Outfit"/>
                <a:sym typeface="Outfit"/>
              </a:defRPr>
            </a:lvl1pPr>
          </a:lstStyle>
          <a:p>
            <a:pPr/>
            <a:r>
              <a:t>Incorporate peer review feedback. Prepare a 5-minute presentation. Provide a presentation template: (1) What problem...</a:t>
            </a:r>
          </a:p>
        </p:txBody>
      </p:sp>
      <p:sp>
        <p:nvSpPr>
          <p:cNvPr id="73" name="Shape 6"/>
          <p:cNvSpPr/>
          <p:nvPr/>
        </p:nvSpPr>
        <p:spPr>
          <a:xfrm>
            <a:off x="640080" y="2423160"/>
            <a:ext cx="292609" cy="292609"/>
          </a:xfrm>
          <a:prstGeom prst="ellipse">
            <a:avLst/>
          </a:prstGeom>
          <a:solidFill>
            <a:srgbClr val="367875"/>
          </a:solidFill>
          <a:ln w="12700">
            <a:miter lim="400000"/>
          </a:ln>
        </p:spPr>
        <p:txBody>
          <a:bodyPr lIns="45719" rIns="45719"/>
          <a:lstStyle/>
          <a:p>
            <a:pPr/>
          </a:p>
        </p:txBody>
      </p:sp>
      <p:sp>
        <p:nvSpPr>
          <p:cNvPr id="74" name="Text 7"/>
          <p:cNvSpPr txBox="1"/>
          <p:nvPr/>
        </p:nvSpPr>
        <p:spPr>
          <a:xfrm>
            <a:off x="685800" y="2441194"/>
            <a:ext cx="201169" cy="2565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100">
                <a:solidFill>
                  <a:srgbClr val="FFFFFF"/>
                </a:solidFill>
                <a:latin typeface="Outfit"/>
                <a:ea typeface="Outfit"/>
                <a:cs typeface="Outfit"/>
                <a:sym typeface="Outfit"/>
              </a:defRPr>
            </a:lvl1pPr>
          </a:lstStyle>
          <a:p>
            <a:pPr/>
            <a:r>
              <a:t>1</a:t>
            </a:r>
          </a:p>
        </p:txBody>
      </p:sp>
      <p:sp>
        <p:nvSpPr>
          <p:cNvPr id="75" name="Text 8"/>
          <p:cNvSpPr txBox="1"/>
          <p:nvPr/>
        </p:nvSpPr>
        <p:spPr>
          <a:xfrm>
            <a:off x="1143000" y="2449575"/>
            <a:ext cx="7223760" cy="294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300">
                <a:solidFill>
                  <a:srgbClr val="2F2F2F"/>
                </a:solidFill>
                <a:latin typeface="Outfit"/>
                <a:ea typeface="Outfit"/>
                <a:cs typeface="Outfit"/>
                <a:sym typeface="Outfit"/>
              </a:defRPr>
            </a:lvl1pPr>
          </a:lstStyle>
          <a:p>
            <a:pPr/>
            <a:r>
              <a:t>Incorporate peer review feedback.</a:t>
            </a:r>
          </a:p>
        </p:txBody>
      </p:sp>
      <p:sp>
        <p:nvSpPr>
          <p:cNvPr id="76" name="Shape 9"/>
          <p:cNvSpPr/>
          <p:nvPr/>
        </p:nvSpPr>
        <p:spPr>
          <a:xfrm>
            <a:off x="640080" y="2898648"/>
            <a:ext cx="292609" cy="292609"/>
          </a:xfrm>
          <a:prstGeom prst="ellipse">
            <a:avLst/>
          </a:prstGeom>
          <a:solidFill>
            <a:srgbClr val="367875"/>
          </a:solidFill>
          <a:ln w="12700">
            <a:miter lim="400000"/>
          </a:ln>
        </p:spPr>
        <p:txBody>
          <a:bodyPr lIns="45719" rIns="45719"/>
          <a:lstStyle/>
          <a:p>
            <a:pPr/>
          </a:p>
        </p:txBody>
      </p:sp>
      <p:sp>
        <p:nvSpPr>
          <p:cNvPr id="77" name="Text 10"/>
          <p:cNvSpPr txBox="1"/>
          <p:nvPr/>
        </p:nvSpPr>
        <p:spPr>
          <a:xfrm>
            <a:off x="685800" y="2916682"/>
            <a:ext cx="201169" cy="2565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100">
                <a:solidFill>
                  <a:srgbClr val="FFFFFF"/>
                </a:solidFill>
                <a:latin typeface="Outfit"/>
                <a:ea typeface="Outfit"/>
                <a:cs typeface="Outfit"/>
                <a:sym typeface="Outfit"/>
              </a:defRPr>
            </a:lvl1pPr>
          </a:lstStyle>
          <a:p>
            <a:pPr/>
            <a:r>
              <a:t>2</a:t>
            </a:r>
          </a:p>
        </p:txBody>
      </p:sp>
      <p:sp>
        <p:nvSpPr>
          <p:cNvPr id="78" name="Text 11"/>
          <p:cNvSpPr txBox="1"/>
          <p:nvPr/>
        </p:nvSpPr>
        <p:spPr>
          <a:xfrm>
            <a:off x="1143000" y="2925063"/>
            <a:ext cx="7223760" cy="294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300">
                <a:solidFill>
                  <a:srgbClr val="2F2F2F"/>
                </a:solidFill>
                <a:latin typeface="Outfit"/>
                <a:ea typeface="Outfit"/>
                <a:cs typeface="Outfit"/>
                <a:sym typeface="Outfit"/>
              </a:defRPr>
            </a:lvl1pPr>
          </a:lstStyle>
          <a:p>
            <a:pPr/>
            <a:r>
              <a:t>Prepare a 5-minute presentation.</a:t>
            </a:r>
          </a:p>
        </p:txBody>
      </p:sp>
      <p:sp>
        <p:nvSpPr>
          <p:cNvPr id="79" name="Shape 12"/>
          <p:cNvSpPr/>
          <p:nvPr/>
        </p:nvSpPr>
        <p:spPr>
          <a:xfrm>
            <a:off x="640080" y="3374135"/>
            <a:ext cx="292609" cy="292609"/>
          </a:xfrm>
          <a:prstGeom prst="ellipse">
            <a:avLst/>
          </a:prstGeom>
          <a:solidFill>
            <a:srgbClr val="367875"/>
          </a:solidFill>
          <a:ln w="12700">
            <a:miter lim="400000"/>
          </a:ln>
        </p:spPr>
        <p:txBody>
          <a:bodyPr lIns="45719" rIns="45719"/>
          <a:lstStyle/>
          <a:p>
            <a:pPr/>
          </a:p>
        </p:txBody>
      </p:sp>
      <p:sp>
        <p:nvSpPr>
          <p:cNvPr id="80" name="Text 13"/>
          <p:cNvSpPr txBox="1"/>
          <p:nvPr/>
        </p:nvSpPr>
        <p:spPr>
          <a:xfrm>
            <a:off x="685800" y="3392169"/>
            <a:ext cx="201169" cy="2565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100">
                <a:solidFill>
                  <a:srgbClr val="FFFFFF"/>
                </a:solidFill>
                <a:latin typeface="Outfit"/>
                <a:ea typeface="Outfit"/>
                <a:cs typeface="Outfit"/>
                <a:sym typeface="Outfit"/>
              </a:defRPr>
            </a:lvl1pPr>
          </a:lstStyle>
          <a:p>
            <a:pPr/>
            <a:r>
              <a:t>3</a:t>
            </a:r>
          </a:p>
        </p:txBody>
      </p:sp>
      <p:sp>
        <p:nvSpPr>
          <p:cNvPr id="81" name="Text 14"/>
          <p:cNvSpPr txBox="1"/>
          <p:nvPr/>
        </p:nvSpPr>
        <p:spPr>
          <a:xfrm>
            <a:off x="1143000" y="3400551"/>
            <a:ext cx="7223760" cy="294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300">
                <a:solidFill>
                  <a:srgbClr val="2F2F2F"/>
                </a:solidFill>
                <a:latin typeface="Outfit"/>
                <a:ea typeface="Outfit"/>
                <a:cs typeface="Outfit"/>
                <a:sym typeface="Outfit"/>
              </a:defRPr>
            </a:lvl1pPr>
          </a:lstStyle>
          <a:p>
            <a:pPr/>
            <a:r>
              <a:t>Provide a presentation template: (1) What problem does your project solve? (2) Demo or walkthrough.</a:t>
            </a:r>
          </a:p>
        </p:txBody>
      </p:sp>
      <p:sp>
        <p:nvSpPr>
          <p:cNvPr id="82" name="Shape 15"/>
          <p:cNvSpPr/>
          <p:nvPr/>
        </p:nvSpPr>
        <p:spPr>
          <a:xfrm>
            <a:off x="640080" y="3849623"/>
            <a:ext cx="292609" cy="292609"/>
          </a:xfrm>
          <a:prstGeom prst="ellipse">
            <a:avLst/>
          </a:prstGeom>
          <a:solidFill>
            <a:srgbClr val="367875"/>
          </a:solidFill>
          <a:ln w="12700">
            <a:miter lim="400000"/>
          </a:ln>
        </p:spPr>
        <p:txBody>
          <a:bodyPr lIns="45719" rIns="45719"/>
          <a:lstStyle/>
          <a:p>
            <a:pPr/>
          </a:p>
        </p:txBody>
      </p:sp>
      <p:sp>
        <p:nvSpPr>
          <p:cNvPr id="83" name="Text 16"/>
          <p:cNvSpPr txBox="1"/>
          <p:nvPr/>
        </p:nvSpPr>
        <p:spPr>
          <a:xfrm>
            <a:off x="685800" y="3867657"/>
            <a:ext cx="201169" cy="2565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100">
                <a:solidFill>
                  <a:srgbClr val="FFFFFF"/>
                </a:solidFill>
                <a:latin typeface="Outfit"/>
                <a:ea typeface="Outfit"/>
                <a:cs typeface="Outfit"/>
                <a:sym typeface="Outfit"/>
              </a:defRPr>
            </a:lvl1pPr>
          </a:lstStyle>
          <a:p>
            <a:pPr/>
            <a:r>
              <a:t>4</a:t>
            </a:r>
          </a:p>
        </p:txBody>
      </p:sp>
      <p:sp>
        <p:nvSpPr>
          <p:cNvPr id="84" name="Text 17"/>
          <p:cNvSpPr txBox="1"/>
          <p:nvPr/>
        </p:nvSpPr>
        <p:spPr>
          <a:xfrm>
            <a:off x="1143000" y="3876039"/>
            <a:ext cx="7223760" cy="294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300">
                <a:solidFill>
                  <a:srgbClr val="2F2F2F"/>
                </a:solidFill>
                <a:latin typeface="Outfit"/>
                <a:ea typeface="Outfit"/>
                <a:cs typeface="Outfit"/>
                <a:sym typeface="Outfit"/>
              </a:defRPr>
            </a:lvl1pPr>
          </a:lstStyle>
          <a:p>
            <a:pPr/>
            <a:r>
              <a:t/>
            </a:r>
          </a:p>
        </p:txBody>
      </p:sp>
      <p:sp>
        <p:nvSpPr>
          <p:cNvPr id="85" name="Shape 18"/>
          <p:cNvSpPr/>
          <p:nvPr/>
        </p:nvSpPr>
        <p:spPr>
          <a:xfrm>
            <a:off x="640079" y="4434840"/>
            <a:ext cx="7863842" cy="365761"/>
          </a:xfrm>
          <a:prstGeom prst="rect">
            <a:avLst/>
          </a:prstGeom>
          <a:solidFill>
            <a:srgbClr val="F0F4F5"/>
          </a:solidFill>
          <a:ln w="12700">
            <a:miter lim="400000"/>
          </a:ln>
        </p:spPr>
        <p:txBody>
          <a:bodyPr lIns="45719" rIns="45719"/>
          <a:lstStyle/>
          <a:p>
            <a:r>
              <a:t>💡 Teacher tip: Incorporate feedback = 20 min. Build presentation = 15 min. Practice run-through = 10 min.</a:t>
            </a:r>
          </a:p>
        </p:txBody>
      </p:sp>
      <p:sp>
        <p:nvSpPr>
          <p:cNvPr id="86" name="Text 19"/>
          <p:cNvSpPr txBox="1"/>
          <p:nvPr/>
        </p:nvSpPr>
        <p:spPr>
          <a:xfrm>
            <a:off x="960119" y="4464050"/>
            <a:ext cx="7223761" cy="3073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i="1" sz="1000">
                <a:solidFill>
                  <a:srgbClr val="6E8D9A"/>
                </a:solidFill>
                <a:latin typeface="Outfit"/>
                <a:ea typeface="Outfit"/>
                <a:cs typeface="Outfit"/>
                <a:sym typeface="Outfit"/>
              </a:defRPr>
            </a:lvl1pPr>
          </a:lstStyle>
          <a:p>
            <a:pPr/>
            <a:r>
              <a:t>💡 Teacher tip: Incorporate feedback = 20 min. Build presentation = 15 min. Practice run-through = 10 min.</a:t>
            </a:r>
          </a:p>
        </p:txBody>
      </p:sp>
      <p:sp>
        <p:nvSpPr>
          <p:cNvPr id="87" name="Shape 20"/>
          <p:cNvSpPr/>
          <p:nvPr/>
        </p:nvSpPr>
        <p:spPr>
          <a:xfrm>
            <a:off x="0" y="4892040"/>
            <a:ext cx="9144000" cy="251460"/>
          </a:xfrm>
          <a:prstGeom prst="rect">
            <a:avLst/>
          </a:prstGeom>
          <a:solidFill>
            <a:srgbClr val="367875"/>
          </a:solidFill>
          <a:ln w="12700">
            <a:miter lim="400000"/>
          </a:ln>
        </p:spPr>
        <p:txBody>
          <a:bodyPr lIns="45719" rIns="45719"/>
          <a:lstStyle/>
          <a:p>
            <a:r>
              <a:t>Session 4: “Ship It &amp; Own It”</a:t>
            </a:r>
          </a:p>
        </p:txBody>
      </p:sp>
      <p:sp>
        <p:nvSpPr>
          <p:cNvPr id="88" name="Text 21"/>
          <p:cNvSpPr txBox="1"/>
          <p:nvPr/>
        </p:nvSpPr>
        <p:spPr>
          <a:xfrm>
            <a:off x="685800" y="4902199"/>
            <a:ext cx="5394960" cy="2311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900">
                <a:solidFill>
                  <a:srgbClr val="FFFFFF"/>
                </a:solidFill>
                <a:latin typeface="Outfit"/>
                <a:ea typeface="Outfit"/>
                <a:cs typeface="Outfit"/>
                <a:sym typeface="Outfit"/>
              </a:defRPr>
            </a:lvl1pPr>
          </a:lstStyle>
          <a:p>
            <a:pPr/>
            <a:r>
              <a:t>Session 4: “Ship It &amp; Own It”</a:t>
            </a:r>
          </a:p>
        </p:txBody>
      </p:sp>
      <p:sp>
        <p:nvSpPr>
          <p:cNvPr id="89" name="Text 22"/>
          <p:cNvSpPr txBox="1"/>
          <p:nvPr/>
        </p:nvSpPr>
        <p:spPr>
          <a:xfrm>
            <a:off x="7360919" y="4902199"/>
            <a:ext cx="1280161" cy="2311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r">
              <a:defRPr b="1" sz="900">
                <a:solidFill>
                  <a:srgbClr val="FFFFFF"/>
                </a:solidFill>
                <a:latin typeface="Outfit"/>
                <a:ea typeface="Outfit"/>
                <a:cs typeface="Outfit"/>
                <a:sym typeface="Outfit"/>
              </a:defRPr>
            </a:lvl1pPr>
          </a:lstStyle>
          <a:p>
            <a:pPr/>
            <a:r>
              <a:t>ALC</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67" name="Shape 0"/>
          <p:cNvSpPr/>
          <p:nvPr/>
        </p:nvSpPr>
        <p:spPr>
          <a:xfrm>
            <a:off x="0" y="-1"/>
            <a:ext cx="9144000" cy="822962"/>
          </a:xfrm>
          <a:prstGeom prst="rect">
            <a:avLst/>
          </a:prstGeom>
          <a:solidFill>
            <a:srgbClr val="243554"/>
          </a:solidFill>
          <a:ln w="12700">
            <a:miter lim="400000"/>
          </a:ln>
        </p:spPr>
        <p:txBody>
          <a:bodyPr lIns="45719" rIns="45719"/>
          <a:lstStyle/>
          <a:p>
            <a:pPr/>
          </a:p>
        </p:txBody>
      </p:sp>
      <p:sp>
        <p:nvSpPr>
          <p:cNvPr id="68" name="Text 1"/>
          <p:cNvSpPr txBox="1"/>
          <p:nvPr/>
        </p:nvSpPr>
        <p:spPr>
          <a:xfrm>
            <a:off x="685800" y="226060"/>
            <a:ext cx="3566160" cy="3708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200">
                <a:solidFill>
                  <a:srgbClr val="FFFFFF"/>
                </a:solidFill>
                <a:latin typeface="Outfit"/>
                <a:ea typeface="Outfit"/>
                <a:cs typeface="Outfit"/>
                <a:sym typeface="Outfit"/>
              </a:defRPr>
            </a:lvl1pPr>
          </a:lstStyle>
          <a:p>
            <a:pPr/>
            <a:r>
              <a:t>ACTIVITY</a:t>
            </a:r>
          </a:p>
        </p:txBody>
      </p:sp>
      <p:sp>
        <p:nvSpPr>
          <p:cNvPr id="69" name="Text 2"/>
          <p:cNvSpPr txBox="1"/>
          <p:nvPr/>
        </p:nvSpPr>
        <p:spPr>
          <a:xfrm>
            <a:off x="4617720" y="264160"/>
            <a:ext cx="4023360" cy="294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r">
              <a:defRPr sz="1300">
                <a:solidFill>
                  <a:srgbClr val="6E8D9A"/>
                </a:solidFill>
                <a:latin typeface="Outfit"/>
                <a:ea typeface="Outfit"/>
                <a:cs typeface="Outfit"/>
                <a:sym typeface="Outfit"/>
              </a:defRPr>
            </a:lvl1pPr>
          </a:lstStyle>
          <a:p>
            <a:pPr/>
            <a:r>
              <a:t>Individual, self-directed  •  30 min</a:t>
            </a:r>
          </a:p>
        </p:txBody>
      </p:sp>
      <p:sp>
        <p:nvSpPr>
          <p:cNvPr id="70" name="Shape 3"/>
          <p:cNvSpPr/>
          <p:nvPr/>
        </p:nvSpPr>
        <p:spPr>
          <a:xfrm>
            <a:off x="640079" y="1097280"/>
            <a:ext cx="7863842" cy="1005840"/>
          </a:xfrm>
          <a:prstGeom prst="rect">
            <a:avLst/>
          </a:prstGeom>
          <a:solidFill>
            <a:srgbClr val="243554"/>
          </a:solidFill>
          <a:ln w="12700">
            <a:miter lim="400000"/>
          </a:ln>
        </p:spPr>
        <p:txBody>
          <a:bodyPr lIns="45719" rIns="45719"/>
          <a:lstStyle/>
          <a:p>
            <a:pPr/>
          </a:p>
        </p:txBody>
      </p:sp>
      <p:sp>
        <p:nvSpPr>
          <p:cNvPr id="71" name="Text 4"/>
          <p:cNvSpPr txBox="1"/>
          <p:nvPr/>
        </p:nvSpPr>
        <p:spPr>
          <a:xfrm>
            <a:off x="960119" y="1160779"/>
            <a:ext cx="7223761" cy="421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2200">
                <a:solidFill>
                  <a:srgbClr val="FFFFFF"/>
                </a:solidFill>
                <a:latin typeface="Outfit"/>
                <a:ea typeface="Outfit"/>
                <a:cs typeface="Outfit"/>
                <a:sym typeface="Outfit"/>
              </a:defRPr>
            </a:lvl1pPr>
          </a:lstStyle>
          <a:p>
            <a:pPr/>
            <a:r>
              <a:t>Portfolio Assembly</a:t>
            </a:r>
          </a:p>
        </p:txBody>
      </p:sp>
      <p:sp>
        <p:nvSpPr>
          <p:cNvPr id="72" name="Text 5"/>
          <p:cNvSpPr txBox="1"/>
          <p:nvPr/>
        </p:nvSpPr>
        <p:spPr>
          <a:xfrm>
            <a:off x="960119" y="1658619"/>
            <a:ext cx="7223761" cy="294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300">
                <a:solidFill>
                  <a:srgbClr val="6E8D9A"/>
                </a:solidFill>
                <a:latin typeface="Outfit"/>
                <a:ea typeface="Outfit"/>
                <a:cs typeface="Outfit"/>
                <a:sym typeface="Outfit"/>
              </a:defRPr>
            </a:lvl1pPr>
          </a:lstStyle>
          <a:p>
            <a:pPr/>
            <a:r>
              <a:t>Compile all bootcamp artifacts into a shareable digital portfolio (Google Drive folder, Notion page, or simple website...</a:t>
            </a:r>
          </a:p>
        </p:txBody>
      </p:sp>
      <p:sp>
        <p:nvSpPr>
          <p:cNvPr id="73" name="Shape 6"/>
          <p:cNvSpPr/>
          <p:nvPr/>
        </p:nvSpPr>
        <p:spPr>
          <a:xfrm>
            <a:off x="640080" y="2423160"/>
            <a:ext cx="292609" cy="292609"/>
          </a:xfrm>
          <a:prstGeom prst="ellipse">
            <a:avLst/>
          </a:prstGeom>
          <a:solidFill>
            <a:srgbClr val="367875"/>
          </a:solidFill>
          <a:ln w="12700">
            <a:miter lim="400000"/>
          </a:ln>
        </p:spPr>
        <p:txBody>
          <a:bodyPr lIns="45719" rIns="45719"/>
          <a:lstStyle/>
          <a:p>
            <a:pPr/>
          </a:p>
        </p:txBody>
      </p:sp>
      <p:sp>
        <p:nvSpPr>
          <p:cNvPr id="74" name="Text 7"/>
          <p:cNvSpPr txBox="1"/>
          <p:nvPr/>
        </p:nvSpPr>
        <p:spPr>
          <a:xfrm>
            <a:off x="685800" y="2441194"/>
            <a:ext cx="201169" cy="2565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100">
                <a:solidFill>
                  <a:srgbClr val="FFFFFF"/>
                </a:solidFill>
                <a:latin typeface="Outfit"/>
                <a:ea typeface="Outfit"/>
                <a:cs typeface="Outfit"/>
                <a:sym typeface="Outfit"/>
              </a:defRPr>
            </a:lvl1pPr>
          </a:lstStyle>
          <a:p>
            <a:pPr/>
            <a:r>
              <a:t>1</a:t>
            </a:r>
          </a:p>
        </p:txBody>
      </p:sp>
      <p:sp>
        <p:nvSpPr>
          <p:cNvPr id="75" name="Text 8"/>
          <p:cNvSpPr txBox="1"/>
          <p:nvPr/>
        </p:nvSpPr>
        <p:spPr>
          <a:xfrm>
            <a:off x="1143000" y="2449575"/>
            <a:ext cx="7223760" cy="294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300">
                <a:solidFill>
                  <a:srgbClr val="2F2F2F"/>
                </a:solidFill>
                <a:latin typeface="Outfit"/>
                <a:ea typeface="Outfit"/>
                <a:cs typeface="Outfit"/>
                <a:sym typeface="Outfit"/>
              </a:defRPr>
            </a:lvl1pPr>
          </a:lstStyle>
          <a:p>
            <a:pPr/>
            <a:r>
              <a:t>Compile all bootcamp artifacts into a shareable digital portfolio (Google Drive folder, Notion page, or simple website built with AI in Session 2).</a:t>
            </a:r>
          </a:p>
        </p:txBody>
      </p:sp>
      <p:sp>
        <p:nvSpPr>
          <p:cNvPr id="76" name="Shape 9"/>
          <p:cNvSpPr/>
          <p:nvPr/>
        </p:nvSpPr>
        <p:spPr>
          <a:xfrm>
            <a:off x="640080" y="2898648"/>
            <a:ext cx="292609" cy="292609"/>
          </a:xfrm>
          <a:prstGeom prst="ellipse">
            <a:avLst/>
          </a:prstGeom>
          <a:solidFill>
            <a:srgbClr val="367875"/>
          </a:solidFill>
          <a:ln w="12700">
            <a:miter lim="400000"/>
          </a:ln>
        </p:spPr>
        <p:txBody>
          <a:bodyPr lIns="45719" rIns="45719"/>
          <a:lstStyle/>
          <a:p>
            <a:pPr/>
          </a:p>
        </p:txBody>
      </p:sp>
      <p:sp>
        <p:nvSpPr>
          <p:cNvPr id="77" name="Text 10"/>
          <p:cNvSpPr txBox="1"/>
          <p:nvPr/>
        </p:nvSpPr>
        <p:spPr>
          <a:xfrm>
            <a:off x="685800" y="2916682"/>
            <a:ext cx="201169" cy="2565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100">
                <a:solidFill>
                  <a:srgbClr val="FFFFFF"/>
                </a:solidFill>
                <a:latin typeface="Outfit"/>
                <a:ea typeface="Outfit"/>
                <a:cs typeface="Outfit"/>
                <a:sym typeface="Outfit"/>
              </a:defRPr>
            </a:lvl1pPr>
          </a:lstStyle>
          <a:p>
            <a:pPr/>
            <a:r>
              <a:t>2</a:t>
            </a:r>
          </a:p>
        </p:txBody>
      </p:sp>
      <p:sp>
        <p:nvSpPr>
          <p:cNvPr id="78" name="Text 11"/>
          <p:cNvSpPr txBox="1"/>
          <p:nvPr/>
        </p:nvSpPr>
        <p:spPr>
          <a:xfrm>
            <a:off x="1143000" y="2925063"/>
            <a:ext cx="7223760" cy="294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300">
                <a:solidFill>
                  <a:srgbClr val="2F2F2F"/>
                </a:solidFill>
                <a:latin typeface="Outfit"/>
                <a:ea typeface="Outfit"/>
                <a:cs typeface="Outfit"/>
                <a:sym typeface="Outfit"/>
              </a:defRPr>
            </a:lvl1pPr>
          </a:lstStyle>
          <a:p>
            <a:pPr/>
            <a:r>
              <a:t>Checklist projected on screen: Prompt Playbook, writing piece with before/after, data analysis summary, image generation work, presentation, automation documentation, career strategy profile, capstone project.</a:t>
            </a:r>
          </a:p>
        </p:txBody>
      </p:sp>
      <p:sp>
        <p:nvSpPr>
          <p:cNvPr id="79" name="Shape 12"/>
          <p:cNvSpPr/>
          <p:nvPr/>
        </p:nvSpPr>
        <p:spPr>
          <a:xfrm>
            <a:off x="640080" y="3374135"/>
            <a:ext cx="292609" cy="292609"/>
          </a:xfrm>
          <a:prstGeom prst="ellipse">
            <a:avLst/>
          </a:prstGeom>
          <a:solidFill>
            <a:srgbClr val="367875"/>
          </a:solidFill>
          <a:ln w="12700">
            <a:miter lim="400000"/>
          </a:ln>
        </p:spPr>
        <p:txBody>
          <a:bodyPr lIns="45719" rIns="45719"/>
          <a:lstStyle/>
          <a:p>
            <a:pPr/>
          </a:p>
        </p:txBody>
      </p:sp>
      <p:sp>
        <p:nvSpPr>
          <p:cNvPr id="80" name="Text 13"/>
          <p:cNvSpPr txBox="1"/>
          <p:nvPr/>
        </p:nvSpPr>
        <p:spPr>
          <a:xfrm>
            <a:off x="685800" y="3392169"/>
            <a:ext cx="201169" cy="2565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100">
                <a:solidFill>
                  <a:srgbClr val="FFFFFF"/>
                </a:solidFill>
                <a:latin typeface="Outfit"/>
                <a:ea typeface="Outfit"/>
                <a:cs typeface="Outfit"/>
                <a:sym typeface="Outfit"/>
              </a:defRPr>
            </a:lvl1pPr>
          </a:lstStyle>
          <a:p>
            <a:pPr/>
            <a:r>
              <a:t>3</a:t>
            </a:r>
          </a:p>
        </p:txBody>
      </p:sp>
      <p:sp>
        <p:nvSpPr>
          <p:cNvPr id="81" name="Text 14"/>
          <p:cNvSpPr txBox="1"/>
          <p:nvPr/>
        </p:nvSpPr>
        <p:spPr>
          <a:xfrm>
            <a:off x="1143000" y="3400551"/>
            <a:ext cx="7223760" cy="294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300">
                <a:solidFill>
                  <a:srgbClr val="2F2F2F"/>
                </a:solidFill>
                <a:latin typeface="Outfit"/>
                <a:ea typeface="Outfit"/>
                <a:cs typeface="Outfit"/>
                <a:sym typeface="Outfit"/>
              </a:defRPr>
            </a:lvl1pPr>
          </a:lstStyle>
          <a:p>
            <a:pPr/>
            <a:r>
              <a:t>Students check off each item and add any missing pieces.</a:t>
            </a:r>
          </a:p>
        </p:txBody>
      </p:sp>
      <p:sp>
        <p:nvSpPr>
          <p:cNvPr id="82" name="Shape 15"/>
          <p:cNvSpPr/>
          <p:nvPr/>
        </p:nvSpPr>
        <p:spPr>
          <a:xfrm>
            <a:off x="640080" y="3849623"/>
            <a:ext cx="292609" cy="292609"/>
          </a:xfrm>
          <a:prstGeom prst="ellipse">
            <a:avLst/>
          </a:prstGeom>
          <a:solidFill>
            <a:srgbClr val="367875"/>
          </a:solidFill>
          <a:ln w="12700">
            <a:miter lim="400000"/>
          </a:ln>
        </p:spPr>
        <p:txBody>
          <a:bodyPr lIns="45719" rIns="45719"/>
          <a:lstStyle/>
          <a:p>
            <a:pPr/>
          </a:p>
        </p:txBody>
      </p:sp>
      <p:sp>
        <p:nvSpPr>
          <p:cNvPr id="83" name="Text 16"/>
          <p:cNvSpPr txBox="1"/>
          <p:nvPr/>
        </p:nvSpPr>
        <p:spPr>
          <a:xfrm>
            <a:off x="685800" y="3867657"/>
            <a:ext cx="201169" cy="2565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100">
                <a:solidFill>
                  <a:srgbClr val="FFFFFF"/>
                </a:solidFill>
                <a:latin typeface="Outfit"/>
                <a:ea typeface="Outfit"/>
                <a:cs typeface="Outfit"/>
                <a:sym typeface="Outfit"/>
              </a:defRPr>
            </a:lvl1pPr>
          </a:lstStyle>
          <a:p>
            <a:pPr/>
            <a:r>
              <a:t>4</a:t>
            </a:r>
          </a:p>
        </p:txBody>
      </p:sp>
      <p:sp>
        <p:nvSpPr>
          <p:cNvPr id="84" name="Text 17"/>
          <p:cNvSpPr txBox="1"/>
          <p:nvPr/>
        </p:nvSpPr>
        <p:spPr>
          <a:xfrm>
            <a:off x="1143000" y="3876039"/>
            <a:ext cx="7223760" cy="294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300">
                <a:solidFill>
                  <a:srgbClr val="2F2F2F"/>
                </a:solidFill>
                <a:latin typeface="Outfit"/>
                <a:ea typeface="Outfit"/>
                <a:cs typeface="Outfit"/>
                <a:sym typeface="Outfit"/>
              </a:defRPr>
            </a:lvl1pPr>
          </a:lstStyle>
          <a:p>
            <a:pPr/>
            <a:r>
              <a:t/>
            </a:r>
          </a:p>
        </p:txBody>
      </p:sp>
      <p:sp>
        <p:nvSpPr>
          <p:cNvPr id="85" name="Shape 18"/>
          <p:cNvSpPr/>
          <p:nvPr/>
        </p:nvSpPr>
        <p:spPr>
          <a:xfrm>
            <a:off x="640079" y="4434840"/>
            <a:ext cx="7863842" cy="365761"/>
          </a:xfrm>
          <a:prstGeom prst="rect">
            <a:avLst/>
          </a:prstGeom>
          <a:solidFill>
            <a:srgbClr val="F0F4F5"/>
          </a:solidFill>
          <a:ln w="12700">
            <a:miter lim="400000"/>
          </a:ln>
        </p:spPr>
        <p:txBody>
          <a:bodyPr lIns="45719" rIns="45719"/>
          <a:lstStyle/>
          <a:p>
            <a:r>
              <a:t/>
            </a:r>
          </a:p>
        </p:txBody>
      </p:sp>
      <p:sp>
        <p:nvSpPr>
          <p:cNvPr id="86" name="Text 19"/>
          <p:cNvSpPr txBox="1"/>
          <p:nvPr/>
        </p:nvSpPr>
        <p:spPr>
          <a:xfrm>
            <a:off x="960119" y="4464050"/>
            <a:ext cx="7223761" cy="3073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i="1" sz="1000">
                <a:solidFill>
                  <a:srgbClr val="6E8D9A"/>
                </a:solidFill>
                <a:latin typeface="Outfit"/>
                <a:ea typeface="Outfit"/>
                <a:cs typeface="Outfit"/>
                <a:sym typeface="Outfit"/>
              </a:defRPr>
            </a:lvl1pPr>
          </a:lstStyle>
          <a:p>
            <a:pPr/>
            <a:r>
              <a:t/>
            </a:r>
          </a:p>
        </p:txBody>
      </p:sp>
      <p:sp>
        <p:nvSpPr>
          <p:cNvPr id="87" name="Shape 20"/>
          <p:cNvSpPr/>
          <p:nvPr/>
        </p:nvSpPr>
        <p:spPr>
          <a:xfrm>
            <a:off x="0" y="4892040"/>
            <a:ext cx="9144000" cy="251460"/>
          </a:xfrm>
          <a:prstGeom prst="rect">
            <a:avLst/>
          </a:prstGeom>
          <a:solidFill>
            <a:srgbClr val="367875"/>
          </a:solidFill>
          <a:ln w="12700">
            <a:miter lim="400000"/>
          </a:ln>
        </p:spPr>
        <p:txBody>
          <a:bodyPr lIns="45719" rIns="45719"/>
          <a:lstStyle/>
          <a:p>
            <a:r>
              <a:t>Session 4: “Ship It &amp; Own It”</a:t>
            </a:r>
          </a:p>
        </p:txBody>
      </p:sp>
      <p:sp>
        <p:nvSpPr>
          <p:cNvPr id="88" name="Text 21"/>
          <p:cNvSpPr txBox="1"/>
          <p:nvPr/>
        </p:nvSpPr>
        <p:spPr>
          <a:xfrm>
            <a:off x="685800" y="4902199"/>
            <a:ext cx="5394960" cy="2311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900">
                <a:solidFill>
                  <a:srgbClr val="FFFFFF"/>
                </a:solidFill>
                <a:latin typeface="Outfit"/>
                <a:ea typeface="Outfit"/>
                <a:cs typeface="Outfit"/>
                <a:sym typeface="Outfit"/>
              </a:defRPr>
            </a:lvl1pPr>
          </a:lstStyle>
          <a:p>
            <a:pPr/>
            <a:r>
              <a:t>Session 4: “Ship It &amp; Own It”</a:t>
            </a:r>
          </a:p>
        </p:txBody>
      </p:sp>
      <p:sp>
        <p:nvSpPr>
          <p:cNvPr id="89" name="Text 22"/>
          <p:cNvSpPr txBox="1"/>
          <p:nvPr/>
        </p:nvSpPr>
        <p:spPr>
          <a:xfrm>
            <a:off x="7360919" y="4902199"/>
            <a:ext cx="1280161" cy="2311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r">
              <a:defRPr b="1" sz="900">
                <a:solidFill>
                  <a:srgbClr val="FFFFFF"/>
                </a:solidFill>
                <a:latin typeface="Outfit"/>
                <a:ea typeface="Outfit"/>
                <a:cs typeface="Outfit"/>
                <a:sym typeface="Outfit"/>
              </a:defRPr>
            </a:lvl1pPr>
          </a:lstStyle>
          <a:p>
            <a:pPr/>
            <a:r>
              <a:t>ALC</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67" name="Shape 0"/>
          <p:cNvSpPr/>
          <p:nvPr/>
        </p:nvSpPr>
        <p:spPr>
          <a:xfrm>
            <a:off x="0" y="-1"/>
            <a:ext cx="9144000" cy="822962"/>
          </a:xfrm>
          <a:prstGeom prst="rect">
            <a:avLst/>
          </a:prstGeom>
          <a:solidFill>
            <a:srgbClr val="243554"/>
          </a:solidFill>
          <a:ln w="12700">
            <a:miter lim="400000"/>
          </a:ln>
        </p:spPr>
        <p:txBody>
          <a:bodyPr lIns="45719" rIns="45719"/>
          <a:lstStyle/>
          <a:p>
            <a:pPr/>
          </a:p>
        </p:txBody>
      </p:sp>
      <p:sp>
        <p:nvSpPr>
          <p:cNvPr id="68" name="Text 1"/>
          <p:cNvSpPr txBox="1"/>
          <p:nvPr/>
        </p:nvSpPr>
        <p:spPr>
          <a:xfrm>
            <a:off x="685800" y="226060"/>
            <a:ext cx="3566160" cy="3708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200">
                <a:solidFill>
                  <a:srgbClr val="FFFFFF"/>
                </a:solidFill>
                <a:latin typeface="Outfit"/>
                <a:ea typeface="Outfit"/>
                <a:cs typeface="Outfit"/>
                <a:sym typeface="Outfit"/>
              </a:defRPr>
            </a:lvl1pPr>
          </a:lstStyle>
          <a:p>
            <a:pPr/>
            <a:r>
              <a:t>ACTIVITY</a:t>
            </a:r>
          </a:p>
        </p:txBody>
      </p:sp>
      <p:sp>
        <p:nvSpPr>
          <p:cNvPr id="69" name="Text 2"/>
          <p:cNvSpPr txBox="1"/>
          <p:nvPr/>
        </p:nvSpPr>
        <p:spPr>
          <a:xfrm>
            <a:off x="4617720" y="264160"/>
            <a:ext cx="4023360" cy="294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r">
              <a:defRPr sz="1300">
                <a:solidFill>
                  <a:srgbClr val="6E8D9A"/>
                </a:solidFill>
                <a:latin typeface="Outfit"/>
                <a:ea typeface="Outfit"/>
                <a:cs typeface="Outfit"/>
                <a:sym typeface="Outfit"/>
              </a:defRPr>
            </a:lvl1pPr>
          </a:lstStyle>
          <a:p>
            <a:pPr/>
            <a:r>
              <a:t>Individual, structured writing  •  45 min</a:t>
            </a:r>
          </a:p>
        </p:txBody>
      </p:sp>
      <p:sp>
        <p:nvSpPr>
          <p:cNvPr id="70" name="Shape 3"/>
          <p:cNvSpPr/>
          <p:nvPr/>
        </p:nvSpPr>
        <p:spPr>
          <a:xfrm>
            <a:off x="640079" y="1097280"/>
            <a:ext cx="7863842" cy="1005840"/>
          </a:xfrm>
          <a:prstGeom prst="rect">
            <a:avLst/>
          </a:prstGeom>
          <a:solidFill>
            <a:srgbClr val="243554"/>
          </a:solidFill>
          <a:ln w="12700">
            <a:miter lim="400000"/>
          </a:ln>
        </p:spPr>
        <p:txBody>
          <a:bodyPr lIns="45719" rIns="45719"/>
          <a:lstStyle/>
          <a:p>
            <a:pPr/>
          </a:p>
        </p:txBody>
      </p:sp>
      <p:sp>
        <p:nvSpPr>
          <p:cNvPr id="71" name="Text 4"/>
          <p:cNvSpPr txBox="1"/>
          <p:nvPr/>
        </p:nvSpPr>
        <p:spPr>
          <a:xfrm>
            <a:off x="960119" y="1160779"/>
            <a:ext cx="7223761" cy="421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2200">
                <a:solidFill>
                  <a:srgbClr val="FFFFFF"/>
                </a:solidFill>
                <a:latin typeface="Outfit"/>
                <a:ea typeface="Outfit"/>
                <a:cs typeface="Outfit"/>
                <a:sym typeface="Outfit"/>
              </a:defRPr>
            </a:lvl1pPr>
          </a:lstStyle>
          <a:p>
            <a:pPr/>
            <a:r>
              <a:t>“Making Of” Documentation</a:t>
            </a:r>
          </a:p>
        </p:txBody>
      </p:sp>
      <p:sp>
        <p:nvSpPr>
          <p:cNvPr id="72" name="Text 5"/>
          <p:cNvSpPr txBox="1"/>
          <p:nvPr/>
        </p:nvSpPr>
        <p:spPr>
          <a:xfrm>
            <a:off x="960119" y="1658619"/>
            <a:ext cx="7223761" cy="294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300">
                <a:solidFill>
                  <a:srgbClr val="6E8D9A"/>
                </a:solidFill>
                <a:latin typeface="Outfit"/>
                <a:ea typeface="Outfit"/>
                <a:cs typeface="Outfit"/>
                <a:sym typeface="Outfit"/>
              </a:defRPr>
            </a:lvl1pPr>
          </a:lstStyle>
          <a:p>
            <a:pPr/>
            <a:r>
              <a:t>Students write “Making Of” documentation for their 3 strongest artifacts. Template for each: What did you build? How...</a:t>
            </a:r>
          </a:p>
        </p:txBody>
      </p:sp>
      <p:sp>
        <p:nvSpPr>
          <p:cNvPr id="73" name="Shape 6"/>
          <p:cNvSpPr/>
          <p:nvPr/>
        </p:nvSpPr>
        <p:spPr>
          <a:xfrm>
            <a:off x="640080" y="2423160"/>
            <a:ext cx="292609" cy="292609"/>
          </a:xfrm>
          <a:prstGeom prst="ellipse">
            <a:avLst/>
          </a:prstGeom>
          <a:solidFill>
            <a:srgbClr val="367875"/>
          </a:solidFill>
          <a:ln w="12700">
            <a:miter lim="400000"/>
          </a:ln>
        </p:spPr>
        <p:txBody>
          <a:bodyPr lIns="45719" rIns="45719"/>
          <a:lstStyle/>
          <a:p>
            <a:pPr/>
          </a:p>
        </p:txBody>
      </p:sp>
      <p:sp>
        <p:nvSpPr>
          <p:cNvPr id="74" name="Text 7"/>
          <p:cNvSpPr txBox="1"/>
          <p:nvPr/>
        </p:nvSpPr>
        <p:spPr>
          <a:xfrm>
            <a:off x="685800" y="2441194"/>
            <a:ext cx="201169" cy="2565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100">
                <a:solidFill>
                  <a:srgbClr val="FFFFFF"/>
                </a:solidFill>
                <a:latin typeface="Outfit"/>
                <a:ea typeface="Outfit"/>
                <a:cs typeface="Outfit"/>
                <a:sym typeface="Outfit"/>
              </a:defRPr>
            </a:lvl1pPr>
          </a:lstStyle>
          <a:p>
            <a:pPr/>
            <a:r>
              <a:t>1</a:t>
            </a:r>
          </a:p>
        </p:txBody>
      </p:sp>
      <p:sp>
        <p:nvSpPr>
          <p:cNvPr id="75" name="Text 8"/>
          <p:cNvSpPr txBox="1"/>
          <p:nvPr/>
        </p:nvSpPr>
        <p:spPr>
          <a:xfrm>
            <a:off x="1143000" y="2449575"/>
            <a:ext cx="7223760" cy="294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300">
                <a:solidFill>
                  <a:srgbClr val="2F2F2F"/>
                </a:solidFill>
                <a:latin typeface="Outfit"/>
                <a:ea typeface="Outfit"/>
                <a:cs typeface="Outfit"/>
                <a:sym typeface="Outfit"/>
              </a:defRPr>
            </a:lvl1pPr>
          </a:lstStyle>
          <a:p>
            <a:pPr/>
            <a:r>
              <a:t>Students write “Making Of” documentation for their 3 strongest artifacts.</a:t>
            </a:r>
          </a:p>
        </p:txBody>
      </p:sp>
      <p:sp>
        <p:nvSpPr>
          <p:cNvPr id="76" name="Shape 9"/>
          <p:cNvSpPr/>
          <p:nvPr/>
        </p:nvSpPr>
        <p:spPr>
          <a:xfrm>
            <a:off x="640080" y="2898648"/>
            <a:ext cx="292609" cy="292609"/>
          </a:xfrm>
          <a:prstGeom prst="ellipse">
            <a:avLst/>
          </a:prstGeom>
          <a:solidFill>
            <a:srgbClr val="367875"/>
          </a:solidFill>
          <a:ln w="12700">
            <a:miter lim="400000"/>
          </a:ln>
        </p:spPr>
        <p:txBody>
          <a:bodyPr lIns="45719" rIns="45719"/>
          <a:lstStyle/>
          <a:p>
            <a:pPr/>
          </a:p>
        </p:txBody>
      </p:sp>
      <p:sp>
        <p:nvSpPr>
          <p:cNvPr id="77" name="Text 10"/>
          <p:cNvSpPr txBox="1"/>
          <p:nvPr/>
        </p:nvSpPr>
        <p:spPr>
          <a:xfrm>
            <a:off x="685800" y="2916682"/>
            <a:ext cx="201169" cy="2565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100">
                <a:solidFill>
                  <a:srgbClr val="FFFFFF"/>
                </a:solidFill>
                <a:latin typeface="Outfit"/>
                <a:ea typeface="Outfit"/>
                <a:cs typeface="Outfit"/>
                <a:sym typeface="Outfit"/>
              </a:defRPr>
            </a:lvl1pPr>
          </a:lstStyle>
          <a:p>
            <a:pPr/>
            <a:r>
              <a:t>2</a:t>
            </a:r>
          </a:p>
        </p:txBody>
      </p:sp>
      <p:sp>
        <p:nvSpPr>
          <p:cNvPr id="78" name="Text 11"/>
          <p:cNvSpPr txBox="1"/>
          <p:nvPr/>
        </p:nvSpPr>
        <p:spPr>
          <a:xfrm>
            <a:off x="1143000" y="2925063"/>
            <a:ext cx="7223760" cy="294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300">
                <a:solidFill>
                  <a:srgbClr val="2F2F2F"/>
                </a:solidFill>
                <a:latin typeface="Outfit"/>
                <a:ea typeface="Outfit"/>
                <a:cs typeface="Outfit"/>
                <a:sym typeface="Outfit"/>
              </a:defRPr>
            </a:lvl1pPr>
          </a:lstStyle>
          <a:p>
            <a:pPr/>
            <a:r>
              <a:t>Template for each: What did you build? How was AI involved (which tools, which prompts, how many iterations)? What did AI do well? What did you have to fix or override? What would you do differently? For remaining artifacts, write a single sentence each: “This artifact demonstrates [skill] using [tool].”</a:t>
            </a:r>
          </a:p>
        </p:txBody>
      </p:sp>
      <p:sp>
        <p:nvSpPr>
          <p:cNvPr id="79" name="Shape 12"/>
          <p:cNvSpPr/>
          <p:nvPr/>
        </p:nvSpPr>
        <p:spPr>
          <a:xfrm>
            <a:off x="640080" y="3374135"/>
            <a:ext cx="292609" cy="292609"/>
          </a:xfrm>
          <a:prstGeom prst="ellipse">
            <a:avLst/>
          </a:prstGeom>
          <a:solidFill>
            <a:srgbClr val="367875"/>
          </a:solidFill>
          <a:ln w="12700">
            <a:miter lim="400000"/>
          </a:ln>
        </p:spPr>
        <p:txBody>
          <a:bodyPr lIns="45719" rIns="45719"/>
          <a:lstStyle/>
          <a:p>
            <a:pPr/>
          </a:p>
        </p:txBody>
      </p:sp>
      <p:sp>
        <p:nvSpPr>
          <p:cNvPr id="80" name="Text 13"/>
          <p:cNvSpPr txBox="1"/>
          <p:nvPr/>
        </p:nvSpPr>
        <p:spPr>
          <a:xfrm>
            <a:off x="685800" y="3392169"/>
            <a:ext cx="201169" cy="2565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100">
                <a:solidFill>
                  <a:srgbClr val="FFFFFF"/>
                </a:solidFill>
                <a:latin typeface="Outfit"/>
                <a:ea typeface="Outfit"/>
                <a:cs typeface="Outfit"/>
                <a:sym typeface="Outfit"/>
              </a:defRPr>
            </a:lvl1pPr>
          </a:lstStyle>
          <a:p>
            <a:pPr/>
            <a:r>
              <a:t>3</a:t>
            </a:r>
          </a:p>
        </p:txBody>
      </p:sp>
      <p:sp>
        <p:nvSpPr>
          <p:cNvPr id="81" name="Text 14"/>
          <p:cNvSpPr txBox="1"/>
          <p:nvPr/>
        </p:nvSpPr>
        <p:spPr>
          <a:xfrm>
            <a:off x="1143000" y="3400551"/>
            <a:ext cx="7223760" cy="294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300">
                <a:solidFill>
                  <a:srgbClr val="2F2F2F"/>
                </a:solidFill>
                <a:latin typeface="Outfit"/>
                <a:ea typeface="Outfit"/>
                <a:cs typeface="Outfit"/>
                <a:sym typeface="Outfit"/>
              </a:defRPr>
            </a:lvl1pPr>
          </a:lstStyle>
          <a:p>
            <a:pPr/>
            <a:r>
              <a:t/>
            </a:r>
          </a:p>
        </p:txBody>
      </p:sp>
      <p:sp>
        <p:nvSpPr>
          <p:cNvPr id="82" name="Shape 15"/>
          <p:cNvSpPr/>
          <p:nvPr/>
        </p:nvSpPr>
        <p:spPr>
          <a:xfrm>
            <a:off x="640080" y="3849623"/>
            <a:ext cx="292609" cy="292609"/>
          </a:xfrm>
          <a:prstGeom prst="ellipse">
            <a:avLst/>
          </a:prstGeom>
          <a:solidFill>
            <a:srgbClr val="367875"/>
          </a:solidFill>
          <a:ln w="12700">
            <a:miter lim="400000"/>
          </a:ln>
        </p:spPr>
        <p:txBody>
          <a:bodyPr lIns="45719" rIns="45719"/>
          <a:lstStyle/>
          <a:p>
            <a:pPr/>
          </a:p>
        </p:txBody>
      </p:sp>
      <p:sp>
        <p:nvSpPr>
          <p:cNvPr id="83" name="Text 16"/>
          <p:cNvSpPr txBox="1"/>
          <p:nvPr/>
        </p:nvSpPr>
        <p:spPr>
          <a:xfrm>
            <a:off x="685800" y="3867657"/>
            <a:ext cx="201169" cy="2565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100">
                <a:solidFill>
                  <a:srgbClr val="FFFFFF"/>
                </a:solidFill>
                <a:latin typeface="Outfit"/>
                <a:ea typeface="Outfit"/>
                <a:cs typeface="Outfit"/>
                <a:sym typeface="Outfit"/>
              </a:defRPr>
            </a:lvl1pPr>
          </a:lstStyle>
          <a:p>
            <a:pPr/>
            <a:r>
              <a:t>4</a:t>
            </a:r>
          </a:p>
        </p:txBody>
      </p:sp>
      <p:sp>
        <p:nvSpPr>
          <p:cNvPr id="84" name="Text 17"/>
          <p:cNvSpPr txBox="1"/>
          <p:nvPr/>
        </p:nvSpPr>
        <p:spPr>
          <a:xfrm>
            <a:off x="1143000" y="3876039"/>
            <a:ext cx="7223760" cy="294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300">
                <a:solidFill>
                  <a:srgbClr val="2F2F2F"/>
                </a:solidFill>
                <a:latin typeface="Outfit"/>
                <a:ea typeface="Outfit"/>
                <a:cs typeface="Outfit"/>
                <a:sym typeface="Outfit"/>
              </a:defRPr>
            </a:lvl1pPr>
          </a:lstStyle>
          <a:p>
            <a:pPr/>
            <a:r>
              <a:t/>
            </a:r>
          </a:p>
        </p:txBody>
      </p:sp>
      <p:sp>
        <p:nvSpPr>
          <p:cNvPr id="85" name="Shape 18"/>
          <p:cNvSpPr/>
          <p:nvPr/>
        </p:nvSpPr>
        <p:spPr>
          <a:xfrm>
            <a:off x="640079" y="4434840"/>
            <a:ext cx="7863842" cy="365761"/>
          </a:xfrm>
          <a:prstGeom prst="rect">
            <a:avLst/>
          </a:prstGeom>
          <a:solidFill>
            <a:srgbClr val="F0F4F5"/>
          </a:solidFill>
          <a:ln w="12700">
            <a:miter lim="400000"/>
          </a:ln>
        </p:spPr>
        <p:txBody>
          <a:bodyPr lIns="45719" rIns="45719"/>
          <a:lstStyle/>
          <a:p>
            <a:r>
              <a:t>💡 Teacher tip: Choose 3 key artifacts = 3 min. Write full “Making Of” for artifact 1 = 12 min. Artifact 2 = 10 min. Artifact 3 = 10 min. One-sentence descriptions fo</a:t>
            </a:r>
          </a:p>
        </p:txBody>
      </p:sp>
      <p:sp>
        <p:nvSpPr>
          <p:cNvPr id="86" name="Text 19"/>
          <p:cNvSpPr txBox="1"/>
          <p:nvPr/>
        </p:nvSpPr>
        <p:spPr>
          <a:xfrm>
            <a:off x="960119" y="4464050"/>
            <a:ext cx="7223761" cy="3073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i="1" sz="1000">
                <a:solidFill>
                  <a:srgbClr val="6E8D9A"/>
                </a:solidFill>
                <a:latin typeface="Outfit"/>
                <a:ea typeface="Outfit"/>
                <a:cs typeface="Outfit"/>
                <a:sym typeface="Outfit"/>
              </a:defRPr>
            </a:lvl1pPr>
          </a:lstStyle>
          <a:p>
            <a:pPr/>
            <a:r>
              <a:t>💡 Teacher tip: Choose 3 key artifacts = 3 min. Write full “Making Of” for artifact 1 = 12 min. Artifact 2 = 10 min. Artifact 3 = 10 min. One-sentence descriptions fo</a:t>
            </a:r>
          </a:p>
        </p:txBody>
      </p:sp>
      <p:sp>
        <p:nvSpPr>
          <p:cNvPr id="87" name="Shape 20"/>
          <p:cNvSpPr/>
          <p:nvPr/>
        </p:nvSpPr>
        <p:spPr>
          <a:xfrm>
            <a:off x="0" y="4892040"/>
            <a:ext cx="9144000" cy="251460"/>
          </a:xfrm>
          <a:prstGeom prst="rect">
            <a:avLst/>
          </a:prstGeom>
          <a:solidFill>
            <a:srgbClr val="367875"/>
          </a:solidFill>
          <a:ln w="12700">
            <a:miter lim="400000"/>
          </a:ln>
        </p:spPr>
        <p:txBody>
          <a:bodyPr lIns="45719" rIns="45719"/>
          <a:lstStyle/>
          <a:p>
            <a:r>
              <a:t>Session 4: “Ship It &amp; Own It”</a:t>
            </a:r>
          </a:p>
        </p:txBody>
      </p:sp>
      <p:sp>
        <p:nvSpPr>
          <p:cNvPr id="88" name="Text 21"/>
          <p:cNvSpPr txBox="1"/>
          <p:nvPr/>
        </p:nvSpPr>
        <p:spPr>
          <a:xfrm>
            <a:off x="685800" y="4902199"/>
            <a:ext cx="5394960" cy="2311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900">
                <a:solidFill>
                  <a:srgbClr val="FFFFFF"/>
                </a:solidFill>
                <a:latin typeface="Outfit"/>
                <a:ea typeface="Outfit"/>
                <a:cs typeface="Outfit"/>
                <a:sym typeface="Outfit"/>
              </a:defRPr>
            </a:lvl1pPr>
          </a:lstStyle>
          <a:p>
            <a:pPr/>
            <a:r>
              <a:t>Session 4: “Ship It &amp; Own It”</a:t>
            </a:r>
          </a:p>
        </p:txBody>
      </p:sp>
      <p:sp>
        <p:nvSpPr>
          <p:cNvPr id="89" name="Text 22"/>
          <p:cNvSpPr txBox="1"/>
          <p:nvPr/>
        </p:nvSpPr>
        <p:spPr>
          <a:xfrm>
            <a:off x="7360919" y="4902199"/>
            <a:ext cx="1280161" cy="2311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r">
              <a:defRPr b="1" sz="900">
                <a:solidFill>
                  <a:srgbClr val="FFFFFF"/>
                </a:solidFill>
                <a:latin typeface="Outfit"/>
                <a:ea typeface="Outfit"/>
                <a:cs typeface="Outfit"/>
                <a:sym typeface="Outfit"/>
              </a:defRPr>
            </a:lvl1pPr>
          </a:lstStyle>
          <a:p>
            <a:pPr/>
            <a:r>
              <a:t>ALC</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67" name="Shape 0"/>
          <p:cNvSpPr/>
          <p:nvPr/>
        </p:nvSpPr>
        <p:spPr>
          <a:xfrm>
            <a:off x="0" y="-1"/>
            <a:ext cx="9144000" cy="822962"/>
          </a:xfrm>
          <a:prstGeom prst="rect">
            <a:avLst/>
          </a:prstGeom>
          <a:solidFill>
            <a:srgbClr val="243554"/>
          </a:solidFill>
          <a:ln w="12700">
            <a:miter lim="400000"/>
          </a:ln>
        </p:spPr>
        <p:txBody>
          <a:bodyPr lIns="45719" rIns="45719"/>
          <a:lstStyle/>
          <a:p>
            <a:pPr/>
          </a:p>
        </p:txBody>
      </p:sp>
      <p:sp>
        <p:nvSpPr>
          <p:cNvPr id="68" name="Text 1"/>
          <p:cNvSpPr txBox="1"/>
          <p:nvPr/>
        </p:nvSpPr>
        <p:spPr>
          <a:xfrm>
            <a:off x="685800" y="226060"/>
            <a:ext cx="3566160" cy="3708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200">
                <a:solidFill>
                  <a:srgbClr val="FFFFFF"/>
                </a:solidFill>
                <a:latin typeface="Outfit"/>
                <a:ea typeface="Outfit"/>
                <a:cs typeface="Outfit"/>
                <a:sym typeface="Outfit"/>
              </a:defRPr>
            </a:lvl1pPr>
          </a:lstStyle>
          <a:p>
            <a:pPr/>
            <a:r>
              <a:t>ACTIVITY</a:t>
            </a:r>
          </a:p>
        </p:txBody>
      </p:sp>
      <p:sp>
        <p:nvSpPr>
          <p:cNvPr id="69" name="Text 2"/>
          <p:cNvSpPr txBox="1"/>
          <p:nvPr/>
        </p:nvSpPr>
        <p:spPr>
          <a:xfrm>
            <a:off x="4617720" y="264160"/>
            <a:ext cx="4023360" cy="294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r">
              <a:defRPr sz="1300">
                <a:solidFill>
                  <a:srgbClr val="6E8D9A"/>
                </a:solidFill>
                <a:latin typeface="Outfit"/>
                <a:ea typeface="Outfit"/>
                <a:cs typeface="Outfit"/>
                <a:sym typeface="Outfit"/>
              </a:defRPr>
            </a:lvl1pPr>
          </a:lstStyle>
          <a:p>
            <a:pPr/>
            <a:r>
              <a:t>Presentations + Q&amp;A  •  90 min</a:t>
            </a:r>
          </a:p>
        </p:txBody>
      </p:sp>
      <p:sp>
        <p:nvSpPr>
          <p:cNvPr id="70" name="Shape 3"/>
          <p:cNvSpPr/>
          <p:nvPr/>
        </p:nvSpPr>
        <p:spPr>
          <a:xfrm>
            <a:off x="640079" y="1097280"/>
            <a:ext cx="7863842" cy="1005840"/>
          </a:xfrm>
          <a:prstGeom prst="rect">
            <a:avLst/>
          </a:prstGeom>
          <a:solidFill>
            <a:srgbClr val="243554"/>
          </a:solidFill>
          <a:ln w="12700">
            <a:miter lim="400000"/>
          </a:ln>
        </p:spPr>
        <p:txBody>
          <a:bodyPr lIns="45719" rIns="45719"/>
          <a:lstStyle/>
          <a:p>
            <a:pPr/>
          </a:p>
        </p:txBody>
      </p:sp>
      <p:sp>
        <p:nvSpPr>
          <p:cNvPr id="71" name="Text 4"/>
          <p:cNvSpPr txBox="1"/>
          <p:nvPr/>
        </p:nvSpPr>
        <p:spPr>
          <a:xfrm>
            <a:off x="960119" y="1160779"/>
            <a:ext cx="7223761" cy="421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2200">
                <a:solidFill>
                  <a:srgbClr val="FFFFFF"/>
                </a:solidFill>
                <a:latin typeface="Outfit"/>
                <a:ea typeface="Outfit"/>
                <a:cs typeface="Outfit"/>
                <a:sym typeface="Outfit"/>
              </a:defRPr>
            </a:lvl1pPr>
          </a:lstStyle>
          <a:p>
            <a:pPr/>
            <a:r>
              <a:t>Capstone Showcase</a:t>
            </a:r>
          </a:p>
        </p:txBody>
      </p:sp>
      <p:sp>
        <p:nvSpPr>
          <p:cNvPr id="72" name="Text 5"/>
          <p:cNvSpPr txBox="1"/>
          <p:nvPr/>
        </p:nvSpPr>
        <p:spPr>
          <a:xfrm>
            <a:off x="960119" y="1658619"/>
            <a:ext cx="7223761" cy="294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300">
                <a:solidFill>
                  <a:srgbClr val="6E8D9A"/>
                </a:solidFill>
                <a:latin typeface="Outfit"/>
                <a:ea typeface="Outfit"/>
                <a:cs typeface="Outfit"/>
                <a:sym typeface="Outfit"/>
              </a:defRPr>
            </a:lvl1pPr>
          </a:lstStyle>
          <a:p>
            <a:pPr/>
            <a:r>
              <a:t>Each team presents their capstone (5 min presentation + 2–3 min Q&amp;A). With teams of 2–3, expect 7–10 presentations. At...</a:t>
            </a:r>
          </a:p>
        </p:txBody>
      </p:sp>
      <p:sp>
        <p:nvSpPr>
          <p:cNvPr id="73" name="Shape 6"/>
          <p:cNvSpPr/>
          <p:nvPr/>
        </p:nvSpPr>
        <p:spPr>
          <a:xfrm>
            <a:off x="640080" y="2423160"/>
            <a:ext cx="292609" cy="292609"/>
          </a:xfrm>
          <a:prstGeom prst="ellipse">
            <a:avLst/>
          </a:prstGeom>
          <a:solidFill>
            <a:srgbClr val="367875"/>
          </a:solidFill>
          <a:ln w="12700">
            <a:miter lim="400000"/>
          </a:ln>
        </p:spPr>
        <p:txBody>
          <a:bodyPr lIns="45719" rIns="45719"/>
          <a:lstStyle/>
          <a:p>
            <a:pPr/>
          </a:p>
        </p:txBody>
      </p:sp>
      <p:sp>
        <p:nvSpPr>
          <p:cNvPr id="74" name="Text 7"/>
          <p:cNvSpPr txBox="1"/>
          <p:nvPr/>
        </p:nvSpPr>
        <p:spPr>
          <a:xfrm>
            <a:off x="685800" y="2441194"/>
            <a:ext cx="201169" cy="2565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100">
                <a:solidFill>
                  <a:srgbClr val="FFFFFF"/>
                </a:solidFill>
                <a:latin typeface="Outfit"/>
                <a:ea typeface="Outfit"/>
                <a:cs typeface="Outfit"/>
                <a:sym typeface="Outfit"/>
              </a:defRPr>
            </a:lvl1pPr>
          </a:lstStyle>
          <a:p>
            <a:pPr/>
            <a:r>
              <a:t>1</a:t>
            </a:r>
          </a:p>
        </p:txBody>
      </p:sp>
      <p:sp>
        <p:nvSpPr>
          <p:cNvPr id="75" name="Text 8"/>
          <p:cNvSpPr txBox="1"/>
          <p:nvPr/>
        </p:nvSpPr>
        <p:spPr>
          <a:xfrm>
            <a:off x="1143000" y="2449575"/>
            <a:ext cx="7223760" cy="294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300">
                <a:solidFill>
                  <a:srgbClr val="2F2F2F"/>
                </a:solidFill>
                <a:latin typeface="Outfit"/>
                <a:ea typeface="Outfit"/>
                <a:cs typeface="Outfit"/>
                <a:sym typeface="Outfit"/>
              </a:defRPr>
            </a:lvl1pPr>
          </a:lstStyle>
          <a:p>
            <a:pPr/>
            <a:r>
              <a:t>Each team presents their capstone (5 min presentation + 2–3 min Q&amp;A).</a:t>
            </a:r>
          </a:p>
        </p:txBody>
      </p:sp>
      <p:sp>
        <p:nvSpPr>
          <p:cNvPr id="76" name="Shape 9"/>
          <p:cNvSpPr/>
          <p:nvPr/>
        </p:nvSpPr>
        <p:spPr>
          <a:xfrm>
            <a:off x="640080" y="2898648"/>
            <a:ext cx="292609" cy="292609"/>
          </a:xfrm>
          <a:prstGeom prst="ellipse">
            <a:avLst/>
          </a:prstGeom>
          <a:solidFill>
            <a:srgbClr val="367875"/>
          </a:solidFill>
          <a:ln w="12700">
            <a:miter lim="400000"/>
          </a:ln>
        </p:spPr>
        <p:txBody>
          <a:bodyPr lIns="45719" rIns="45719"/>
          <a:lstStyle/>
          <a:p>
            <a:pPr/>
          </a:p>
        </p:txBody>
      </p:sp>
      <p:sp>
        <p:nvSpPr>
          <p:cNvPr id="77" name="Text 10"/>
          <p:cNvSpPr txBox="1"/>
          <p:nvPr/>
        </p:nvSpPr>
        <p:spPr>
          <a:xfrm>
            <a:off x="685800" y="2916682"/>
            <a:ext cx="201169" cy="2565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100">
                <a:solidFill>
                  <a:srgbClr val="FFFFFF"/>
                </a:solidFill>
                <a:latin typeface="Outfit"/>
                <a:ea typeface="Outfit"/>
                <a:cs typeface="Outfit"/>
                <a:sym typeface="Outfit"/>
              </a:defRPr>
            </a:lvl1pPr>
          </a:lstStyle>
          <a:p>
            <a:pPr/>
            <a:r>
              <a:t>2</a:t>
            </a:r>
          </a:p>
        </p:txBody>
      </p:sp>
      <p:sp>
        <p:nvSpPr>
          <p:cNvPr id="78" name="Text 11"/>
          <p:cNvSpPr txBox="1"/>
          <p:nvPr/>
        </p:nvSpPr>
        <p:spPr>
          <a:xfrm>
            <a:off x="1143000" y="2925063"/>
            <a:ext cx="7223760" cy="294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300">
                <a:solidFill>
                  <a:srgbClr val="2F2F2F"/>
                </a:solidFill>
                <a:latin typeface="Outfit"/>
                <a:ea typeface="Outfit"/>
                <a:cs typeface="Outfit"/>
                <a:sym typeface="Outfit"/>
              </a:defRPr>
            </a:lvl1pPr>
          </a:lstStyle>
          <a:p>
            <a:pPr/>
            <a:r>
              <a:t>With teams of 2–3, expect 7–10 presentations.</a:t>
            </a:r>
          </a:p>
        </p:txBody>
      </p:sp>
      <p:sp>
        <p:nvSpPr>
          <p:cNvPr id="79" name="Shape 12"/>
          <p:cNvSpPr/>
          <p:nvPr/>
        </p:nvSpPr>
        <p:spPr>
          <a:xfrm>
            <a:off x="640080" y="3374135"/>
            <a:ext cx="292609" cy="292609"/>
          </a:xfrm>
          <a:prstGeom prst="ellipse">
            <a:avLst/>
          </a:prstGeom>
          <a:solidFill>
            <a:srgbClr val="367875"/>
          </a:solidFill>
          <a:ln w="12700">
            <a:miter lim="400000"/>
          </a:ln>
        </p:spPr>
        <p:txBody>
          <a:bodyPr lIns="45719" rIns="45719"/>
          <a:lstStyle/>
          <a:p>
            <a:pPr/>
          </a:p>
        </p:txBody>
      </p:sp>
      <p:sp>
        <p:nvSpPr>
          <p:cNvPr id="80" name="Text 13"/>
          <p:cNvSpPr txBox="1"/>
          <p:nvPr/>
        </p:nvSpPr>
        <p:spPr>
          <a:xfrm>
            <a:off x="685800" y="3392169"/>
            <a:ext cx="201169" cy="2565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100">
                <a:solidFill>
                  <a:srgbClr val="FFFFFF"/>
                </a:solidFill>
                <a:latin typeface="Outfit"/>
                <a:ea typeface="Outfit"/>
                <a:cs typeface="Outfit"/>
                <a:sym typeface="Outfit"/>
              </a:defRPr>
            </a:lvl1pPr>
          </a:lstStyle>
          <a:p>
            <a:pPr/>
            <a:r>
              <a:t>3</a:t>
            </a:r>
          </a:p>
        </p:txBody>
      </p:sp>
      <p:sp>
        <p:nvSpPr>
          <p:cNvPr id="81" name="Text 14"/>
          <p:cNvSpPr txBox="1"/>
          <p:nvPr/>
        </p:nvSpPr>
        <p:spPr>
          <a:xfrm>
            <a:off x="1143000" y="3400551"/>
            <a:ext cx="7223760" cy="294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300">
                <a:solidFill>
                  <a:srgbClr val="2F2F2F"/>
                </a:solidFill>
                <a:latin typeface="Outfit"/>
                <a:ea typeface="Outfit"/>
                <a:cs typeface="Outfit"/>
                <a:sym typeface="Outfit"/>
              </a:defRPr>
            </a:lvl1pPr>
          </a:lstStyle>
          <a:p>
            <a:pPr/>
            <a:r>
              <a:t>At 8 minutes each, that’s 56–80 minutes.</a:t>
            </a:r>
          </a:p>
        </p:txBody>
      </p:sp>
      <p:sp>
        <p:nvSpPr>
          <p:cNvPr id="82" name="Shape 15"/>
          <p:cNvSpPr/>
          <p:nvPr/>
        </p:nvSpPr>
        <p:spPr>
          <a:xfrm>
            <a:off x="640080" y="3849623"/>
            <a:ext cx="292609" cy="292609"/>
          </a:xfrm>
          <a:prstGeom prst="ellipse">
            <a:avLst/>
          </a:prstGeom>
          <a:solidFill>
            <a:srgbClr val="367875"/>
          </a:solidFill>
          <a:ln w="12700">
            <a:miter lim="400000"/>
          </a:ln>
        </p:spPr>
        <p:txBody>
          <a:bodyPr lIns="45719" rIns="45719"/>
          <a:lstStyle/>
          <a:p>
            <a:pPr/>
          </a:p>
        </p:txBody>
      </p:sp>
      <p:sp>
        <p:nvSpPr>
          <p:cNvPr id="83" name="Text 16"/>
          <p:cNvSpPr txBox="1"/>
          <p:nvPr/>
        </p:nvSpPr>
        <p:spPr>
          <a:xfrm>
            <a:off x="685800" y="3867657"/>
            <a:ext cx="201169" cy="2565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100">
                <a:solidFill>
                  <a:srgbClr val="FFFFFF"/>
                </a:solidFill>
                <a:latin typeface="Outfit"/>
                <a:ea typeface="Outfit"/>
                <a:cs typeface="Outfit"/>
                <a:sym typeface="Outfit"/>
              </a:defRPr>
            </a:lvl1pPr>
          </a:lstStyle>
          <a:p>
            <a:pPr/>
            <a:r>
              <a:t>4</a:t>
            </a:r>
          </a:p>
        </p:txBody>
      </p:sp>
      <p:sp>
        <p:nvSpPr>
          <p:cNvPr id="84" name="Text 17"/>
          <p:cNvSpPr txBox="1"/>
          <p:nvPr/>
        </p:nvSpPr>
        <p:spPr>
          <a:xfrm>
            <a:off x="1143000" y="3876039"/>
            <a:ext cx="7223760" cy="294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300">
                <a:solidFill>
                  <a:srgbClr val="2F2F2F"/>
                </a:solidFill>
                <a:latin typeface="Outfit"/>
                <a:ea typeface="Outfit"/>
                <a:cs typeface="Outfit"/>
                <a:sym typeface="Outfit"/>
              </a:defRPr>
            </a:lvl1pPr>
          </a:lstStyle>
          <a:p>
            <a:pPr/>
            <a:r>
              <a:t/>
            </a:r>
          </a:p>
        </p:txBody>
      </p:sp>
      <p:sp>
        <p:nvSpPr>
          <p:cNvPr id="85" name="Shape 18"/>
          <p:cNvSpPr/>
          <p:nvPr/>
        </p:nvSpPr>
        <p:spPr>
          <a:xfrm>
            <a:off x="640079" y="4434840"/>
            <a:ext cx="7863842" cy="365761"/>
          </a:xfrm>
          <a:prstGeom prst="rect">
            <a:avLst/>
          </a:prstGeom>
          <a:solidFill>
            <a:srgbClr val="F0F4F5"/>
          </a:solidFill>
          <a:ln w="12700">
            <a:miter lim="400000"/>
          </a:ln>
        </p:spPr>
        <p:txBody>
          <a:bodyPr lIns="45719" rIns="45719"/>
          <a:lstStyle/>
          <a:p>
            <a:r>
              <a:t>💡 Teacher tip: Assign a timekeeper. Use a visible timer. The 5-minute mark is firm—students will always try to go longer. Cutting presentations short feels harsh but respects everyone’s time and teaches a profession</a:t>
            </a:r>
          </a:p>
        </p:txBody>
      </p:sp>
      <p:sp>
        <p:nvSpPr>
          <p:cNvPr id="86" name="Text 19"/>
          <p:cNvSpPr txBox="1"/>
          <p:nvPr/>
        </p:nvSpPr>
        <p:spPr>
          <a:xfrm>
            <a:off x="960119" y="4464050"/>
            <a:ext cx="7223761" cy="3073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i="1" sz="1000">
                <a:solidFill>
                  <a:srgbClr val="6E8D9A"/>
                </a:solidFill>
                <a:latin typeface="Outfit"/>
                <a:ea typeface="Outfit"/>
                <a:cs typeface="Outfit"/>
                <a:sym typeface="Outfit"/>
              </a:defRPr>
            </a:lvl1pPr>
          </a:lstStyle>
          <a:p>
            <a:pPr/>
            <a:r>
              <a:t>💡 Teacher tip: Assign a timekeeper. Use a visible timer. The 5-minute mark is firm—students will always try to go longer. Cutting presentations short feels harsh but respects everyone’s time and teaches a profession</a:t>
            </a:r>
          </a:p>
        </p:txBody>
      </p:sp>
      <p:sp>
        <p:nvSpPr>
          <p:cNvPr id="87" name="Shape 20"/>
          <p:cNvSpPr/>
          <p:nvPr/>
        </p:nvSpPr>
        <p:spPr>
          <a:xfrm>
            <a:off x="0" y="4892040"/>
            <a:ext cx="9144000" cy="251460"/>
          </a:xfrm>
          <a:prstGeom prst="rect">
            <a:avLst/>
          </a:prstGeom>
          <a:solidFill>
            <a:srgbClr val="367875"/>
          </a:solidFill>
          <a:ln w="12700">
            <a:miter lim="400000"/>
          </a:ln>
        </p:spPr>
        <p:txBody>
          <a:bodyPr lIns="45719" rIns="45719"/>
          <a:lstStyle/>
          <a:p>
            <a:r>
              <a:t>Session 4: “Ship It &amp; Own It”</a:t>
            </a:r>
          </a:p>
        </p:txBody>
      </p:sp>
      <p:sp>
        <p:nvSpPr>
          <p:cNvPr id="88" name="Text 21"/>
          <p:cNvSpPr txBox="1"/>
          <p:nvPr/>
        </p:nvSpPr>
        <p:spPr>
          <a:xfrm>
            <a:off x="685800" y="4902199"/>
            <a:ext cx="5394960" cy="2311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900">
                <a:solidFill>
                  <a:srgbClr val="FFFFFF"/>
                </a:solidFill>
                <a:latin typeface="Outfit"/>
                <a:ea typeface="Outfit"/>
                <a:cs typeface="Outfit"/>
                <a:sym typeface="Outfit"/>
              </a:defRPr>
            </a:lvl1pPr>
          </a:lstStyle>
          <a:p>
            <a:pPr/>
            <a:r>
              <a:t>Session 4: “Ship It &amp; Own It”</a:t>
            </a:r>
          </a:p>
        </p:txBody>
      </p:sp>
      <p:sp>
        <p:nvSpPr>
          <p:cNvPr id="89" name="Text 22"/>
          <p:cNvSpPr txBox="1"/>
          <p:nvPr/>
        </p:nvSpPr>
        <p:spPr>
          <a:xfrm>
            <a:off x="7360919" y="4902199"/>
            <a:ext cx="1280161" cy="2311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r">
              <a:defRPr b="1" sz="900">
                <a:solidFill>
                  <a:srgbClr val="FFFFFF"/>
                </a:solidFill>
                <a:latin typeface="Outfit"/>
                <a:ea typeface="Outfit"/>
                <a:cs typeface="Outfit"/>
                <a:sym typeface="Outfit"/>
              </a:defRPr>
            </a:lvl1pPr>
          </a:lstStyle>
          <a:p>
            <a:pPr/>
            <a:r>
              <a:t>ALC</a:t>
            </a: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Calibri"/>
        <a:ea typeface="Calibri"/>
        <a:cs typeface="Calibri"/>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Calibri"/>
        <a:ea typeface="Calibri"/>
        <a:cs typeface="Calibri"/>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