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-787400" y="1891980"/>
            <a:ext cx="9890760" cy="3297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55" fill="norm" stroke="1" extrusionOk="0">
                <a:moveTo>
                  <a:pt x="0" y="21335"/>
                </a:moveTo>
                <a:lnTo>
                  <a:pt x="4588" y="21355"/>
                </a:lnTo>
                <a:cubicBezTo>
                  <a:pt x="6886" y="16099"/>
                  <a:pt x="9456" y="11518"/>
                  <a:pt x="12239" y="7716"/>
                </a:cubicBezTo>
                <a:cubicBezTo>
                  <a:pt x="13679" y="5748"/>
                  <a:pt x="15173" y="3997"/>
                  <a:pt x="16753" y="2773"/>
                </a:cubicBezTo>
                <a:cubicBezTo>
                  <a:pt x="18315" y="1563"/>
                  <a:pt x="19948" y="881"/>
                  <a:pt x="21600" y="752"/>
                </a:cubicBezTo>
                <a:cubicBezTo>
                  <a:pt x="19679" y="-172"/>
                  <a:pt x="17699" y="-245"/>
                  <a:pt x="15766" y="536"/>
                </a:cubicBezTo>
                <a:cubicBezTo>
                  <a:pt x="12681" y="1782"/>
                  <a:pt x="9885" y="5061"/>
                  <a:pt x="7276" y="8797"/>
                </a:cubicBezTo>
                <a:cubicBezTo>
                  <a:pt x="4722" y="12456"/>
                  <a:pt x="2286" y="16641"/>
                  <a:pt x="0" y="21335"/>
                </a:cubicBezTo>
                <a:close/>
              </a:path>
            </a:pathLst>
          </a:custGeom>
          <a:solidFill>
            <a:srgbClr val="9222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254000" y="2385060"/>
            <a:ext cx="5074599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Business English</a:t>
            </a:r>
          </a:p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for Tech Professionals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54000" y="3831589"/>
            <a:ext cx="72237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B1 Intermediate  |  40 Contact Hours  |  20 Sessions</a:t>
            </a:r>
          </a:p>
        </p:txBody>
      </p:sp>
      <p:sp>
        <p:nvSpPr>
          <p:cNvPr id="23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25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-107129" y="385925"/>
            <a:ext cx="3913429" cy="26089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85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73100" y="621030"/>
            <a:ext cx="44805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400"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01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673100" y="3136900"/>
            <a:ext cx="44805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Sessions 1–2  |  4 Hours</a:t>
            </a:r>
          </a:p>
        </p:txBody>
      </p:sp>
      <p:grpSp>
        <p:nvGrpSpPr>
          <p:cNvPr id="32" name="Group"/>
          <p:cNvGrpSpPr/>
          <p:nvPr/>
        </p:nvGrpSpPr>
        <p:grpSpPr>
          <a:xfrm>
            <a:off x="4318000" y="517388"/>
            <a:ext cx="4893608" cy="4108724"/>
            <a:chOff x="0" y="0"/>
            <a:chExt cx="4893607" cy="4108722"/>
          </a:xfrm>
        </p:grpSpPr>
        <p:sp>
          <p:nvSpPr>
            <p:cNvPr id="29" name="Shape"/>
            <p:cNvSpPr/>
            <p:nvPr/>
          </p:nvSpPr>
          <p:spPr>
            <a:xfrm>
              <a:off x="2917162" y="2278530"/>
              <a:ext cx="1681224" cy="1830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152"/>
                  </a:moveTo>
                  <a:lnTo>
                    <a:pt x="8118" y="21600"/>
                  </a:lnTo>
                  <a:lnTo>
                    <a:pt x="21600" y="21354"/>
                  </a:lnTo>
                  <a:lnTo>
                    <a:pt x="10990" y="0"/>
                  </a:lnTo>
                  <a:cubicBezTo>
                    <a:pt x="9106" y="161"/>
                    <a:pt x="7257" y="563"/>
                    <a:pt x="5495" y="1195"/>
                  </a:cubicBezTo>
                  <a:cubicBezTo>
                    <a:pt x="3505" y="1908"/>
                    <a:pt x="1650" y="2907"/>
                    <a:pt x="0" y="4152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0" name="Shape"/>
            <p:cNvSpPr/>
            <p:nvPr/>
          </p:nvSpPr>
          <p:spPr>
            <a:xfrm>
              <a:off x="125900" y="0"/>
              <a:ext cx="3480352" cy="3800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458" y="20419"/>
                    <a:pt x="2979" y="19305"/>
                    <a:pt x="4557" y="18262"/>
                  </a:cubicBezTo>
                  <a:cubicBezTo>
                    <a:pt x="6038" y="17283"/>
                    <a:pt x="7568" y="16368"/>
                    <a:pt x="9142" y="15519"/>
                  </a:cubicBezTo>
                  <a:lnTo>
                    <a:pt x="13288" y="6462"/>
                  </a:lnTo>
                  <a:lnTo>
                    <a:pt x="16064" y="12325"/>
                  </a:lnTo>
                  <a:cubicBezTo>
                    <a:pt x="16934" y="11896"/>
                    <a:pt x="17852" y="11555"/>
                    <a:pt x="18803" y="11308"/>
                  </a:cubicBezTo>
                  <a:cubicBezTo>
                    <a:pt x="19716" y="11072"/>
                    <a:pt x="20653" y="10923"/>
                    <a:pt x="21600" y="10865"/>
                  </a:cubicBezTo>
                  <a:lnTo>
                    <a:pt x="16471" y="154"/>
                  </a:lnTo>
                  <a:lnTo>
                    <a:pt x="102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1" name="Shape"/>
            <p:cNvSpPr/>
            <p:nvPr/>
          </p:nvSpPr>
          <p:spPr>
            <a:xfrm>
              <a:off x="0" y="2001950"/>
              <a:ext cx="4893608" cy="2092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5" fill="norm" stroke="1" extrusionOk="0">
                  <a:moveTo>
                    <a:pt x="0" y="21335"/>
                  </a:moveTo>
                  <a:lnTo>
                    <a:pt x="4588" y="21355"/>
                  </a:lnTo>
                  <a:cubicBezTo>
                    <a:pt x="6886" y="16099"/>
                    <a:pt x="9456" y="11518"/>
                    <a:pt x="12239" y="7716"/>
                  </a:cubicBezTo>
                  <a:cubicBezTo>
                    <a:pt x="13679" y="5748"/>
                    <a:pt x="15173" y="3997"/>
                    <a:pt x="16753" y="2773"/>
                  </a:cubicBezTo>
                  <a:cubicBezTo>
                    <a:pt x="18315" y="1563"/>
                    <a:pt x="19948" y="881"/>
                    <a:pt x="21600" y="752"/>
                  </a:cubicBezTo>
                  <a:cubicBezTo>
                    <a:pt x="19679" y="-172"/>
                    <a:pt x="17699" y="-245"/>
                    <a:pt x="15766" y="536"/>
                  </a:cubicBezTo>
                  <a:cubicBezTo>
                    <a:pt x="12681" y="1782"/>
                    <a:pt x="9885" y="5061"/>
                    <a:pt x="7276" y="8797"/>
                  </a:cubicBezTo>
                  <a:cubicBezTo>
                    <a:pt x="4722" y="12456"/>
                    <a:pt x="2286" y="16641"/>
                    <a:pt x="0" y="21335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33" name="Text 1"/>
          <p:cNvSpPr txBox="1"/>
          <p:nvPr/>
        </p:nvSpPr>
        <p:spPr>
          <a:xfrm>
            <a:off x="673100" y="1160144"/>
            <a:ext cx="5394960" cy="151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90000"/>
              </a:lnSpc>
              <a:defRPr b="1" sz="4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FUTURE SKILLS &amp; INNOVATION</a:t>
            </a:r>
          </a:p>
        </p:txBody>
      </p:sp>
      <p:sp>
        <p:nvSpPr>
          <p:cNvPr id="34" name="Rectangle"/>
          <p:cNvSpPr/>
          <p:nvPr/>
        </p:nvSpPr>
        <p:spPr>
          <a:xfrm>
            <a:off x="698500" y="2831018"/>
            <a:ext cx="3653929" cy="150119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LEARNING OBJECTIVES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640080" y="118871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1097280" y="118871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Report completed, in-progress, and blocked tasks using appropriate tenses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640080" y="2057400"/>
            <a:ext cx="365761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1" name="Text 5"/>
          <p:cNvSpPr txBox="1"/>
          <p:nvPr/>
        </p:nvSpPr>
        <p:spPr>
          <a:xfrm>
            <a:off x="1097280" y="2057400"/>
            <a:ext cx="722376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Use hedging language to communicate uncertainty professionally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640080" y="292607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1097280" y="292607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Structure a 60-second status update for daily stand-ups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640080" y="379475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5" name="Text 9"/>
          <p:cNvSpPr txBox="1"/>
          <p:nvPr/>
        </p:nvSpPr>
        <p:spPr>
          <a:xfrm>
            <a:off x="1097280" y="379475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Ask clarifying questions without disrupting meeting flow</a:t>
            </a:r>
          </a:p>
        </p:txBody>
      </p:sp>
      <p:sp>
        <p:nvSpPr>
          <p:cNvPr id="46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01: The Tech Stand-Up</a:t>
            </a:r>
          </a:p>
        </p:txBody>
      </p:sp>
      <p:sp>
        <p:nvSpPr>
          <p:cNvPr id="48" name="Text 1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KEY VOCABULARY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68580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TERMS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685800" y="146303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blocker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An obstacle preventing task completion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685800" y="224027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dependency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 task that must finish before yours can start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685800" y="3017520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on track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Progressing as planned toward the deadline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685800" y="379475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scope creep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Uncontrolled expansion of project requirements</a:t>
            </a:r>
          </a:p>
        </p:txBody>
      </p:sp>
      <p:sp>
        <p:nvSpPr>
          <p:cNvPr id="57" name="Shape 7"/>
          <p:cNvSpPr/>
          <p:nvPr/>
        </p:nvSpPr>
        <p:spPr>
          <a:xfrm flipH="1">
            <a:off x="4663440" y="1051560"/>
            <a:ext cx="1" cy="3474721"/>
          </a:xfrm>
          <a:prstGeom prst="line">
            <a:avLst/>
          </a:prstGeom>
          <a:ln w="12700">
            <a:solidFill>
              <a:srgbClr val="6E8D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8"/>
          <p:cNvSpPr txBox="1"/>
          <p:nvPr/>
        </p:nvSpPr>
        <p:spPr>
          <a:xfrm>
            <a:off x="507492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 CONTEXT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5074920" y="146303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"I have a blocker on the API integration — waiting on DevOps."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5074920" y="224027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"The design review is a dependency for my sprint task."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5074920" y="3017520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"We're on track for the Thursday release."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5074920" y="379475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"Let's flag this as scope creep and discuss in the retro."</a:t>
            </a:r>
          </a:p>
        </p:txBody>
      </p:sp>
      <p:sp>
        <p:nvSpPr>
          <p:cNvPr id="63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4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01: The Tech Stand-Up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Pair Work  •  15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Stand-Up Simulation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Practice delivering a 60-second status update to your team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Choose a scenario card from the stack on your table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Prepare a 60-second update covering: done, in progress, blocked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Deliver to your partner — they will ask one follow-up question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Switch roles and repeat with a new scenario card</a:t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Monitor for correct tense usage — present perfect for completed, present continuous for in-progress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01: The Tech Stand-Up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ASSESSMENT CRITERIA</a:t>
            </a:r>
          </a:p>
        </p:txBody>
      </p:sp>
      <p:graphicFrame>
        <p:nvGraphicFramePr>
          <p:cNvPr id="93" name="Table 0"/>
          <p:cNvGraphicFramePr/>
          <p:nvPr/>
        </p:nvGraphicFramePr>
        <p:xfrm>
          <a:off x="640080" y="1097280"/>
          <a:ext cx="7863841" cy="27889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Criterion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Developing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Competent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Proficient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Tense accuracy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Frequent errors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Mostly correct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Consistently accurate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Vocabulary range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Basic words only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Uses key terms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Natural, varied usage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Fluency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Long pauses, hesitation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Some hesitation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Smooth delivery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Structure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 clear structure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Basic structure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Clear, logical flow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9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01: The Tech Stand-Up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1"/>
          <p:cNvSpPr txBox="1"/>
          <p:nvPr/>
        </p:nvSpPr>
        <p:spPr>
          <a:xfrm>
            <a:off x="960119" y="1912620"/>
            <a:ext cx="722376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1038279" y="3022183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Module 02: Writing Slack Messages That Get Answers</a:t>
            </a:r>
          </a:p>
        </p:txBody>
      </p:sp>
      <p:sp>
        <p:nvSpPr>
          <p:cNvPr id="100" name="Shape 3"/>
          <p:cNvSpPr/>
          <p:nvPr/>
        </p:nvSpPr>
        <p:spPr>
          <a:xfrm>
            <a:off x="-38150" y="3859113"/>
            <a:ext cx="9182150" cy="12843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439" y="16394"/>
                </a:lnTo>
                <a:lnTo>
                  <a:pt x="21600" y="21600"/>
                </a:lnTo>
                <a:lnTo>
                  <a:pt x="9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102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2615285" y="-116359"/>
            <a:ext cx="3913430" cy="260895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3"/>
          <p:cNvSpPr/>
          <p:nvPr/>
        </p:nvSpPr>
        <p:spPr>
          <a:xfrm flipH="1">
            <a:off x="137244" y="3859113"/>
            <a:ext cx="9025831" cy="1546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3516" y="3918"/>
                  <a:pt x="7044" y="7467"/>
                  <a:pt x="10583" y="10644"/>
                </a:cubicBezTo>
                <a:cubicBezTo>
                  <a:pt x="14217" y="13907"/>
                  <a:pt x="17862" y="16778"/>
                  <a:pt x="21515" y="19255"/>
                </a:cubicBezTo>
                <a:lnTo>
                  <a:pt x="21600" y="21600"/>
                </a:lnTo>
                <a:lnTo>
                  <a:pt x="91" y="17936"/>
                </a:lnTo>
                <a:lnTo>
                  <a:pt x="0" y="0"/>
                </a:lnTo>
                <a:close/>
              </a:path>
            </a:pathLst>
          </a:custGeom>
          <a:solidFill>
            <a:srgbClr val="852B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